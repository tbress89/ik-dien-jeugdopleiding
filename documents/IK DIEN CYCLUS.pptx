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261" r:id="rId3"/>
    <p:sldId id="470" r:id="rId4"/>
    <p:sldId id="471" r:id="rId5"/>
    <p:sldId id="398" r:id="rId6"/>
    <p:sldId id="288" r:id="rId7"/>
    <p:sldId id="329" r:id="rId8"/>
    <p:sldId id="289" r:id="rId9"/>
    <p:sldId id="340" r:id="rId10"/>
    <p:sldId id="394" r:id="rId11"/>
    <p:sldId id="335" r:id="rId12"/>
    <p:sldId id="395" r:id="rId13"/>
    <p:sldId id="396" r:id="rId14"/>
    <p:sldId id="397" r:id="rId15"/>
    <p:sldId id="399" r:id="rId16"/>
    <p:sldId id="400" r:id="rId17"/>
    <p:sldId id="401" r:id="rId18"/>
    <p:sldId id="402" r:id="rId19"/>
    <p:sldId id="472" r:id="rId20"/>
    <p:sldId id="403" r:id="rId21"/>
    <p:sldId id="404" r:id="rId22"/>
    <p:sldId id="405" r:id="rId23"/>
    <p:sldId id="406" r:id="rId24"/>
    <p:sldId id="407" r:id="rId25"/>
    <p:sldId id="408" r:id="rId26"/>
    <p:sldId id="409" r:id="rId27"/>
    <p:sldId id="308" r:id="rId28"/>
    <p:sldId id="309" r:id="rId29"/>
    <p:sldId id="310" r:id="rId30"/>
    <p:sldId id="275" r:id="rId31"/>
    <p:sldId id="410" r:id="rId32"/>
    <p:sldId id="411" r:id="rId33"/>
    <p:sldId id="331" r:id="rId34"/>
    <p:sldId id="412" r:id="rId35"/>
    <p:sldId id="413" r:id="rId36"/>
    <p:sldId id="414" r:id="rId37"/>
    <p:sldId id="415" r:id="rId38"/>
    <p:sldId id="294" r:id="rId39"/>
    <p:sldId id="417" r:id="rId40"/>
    <p:sldId id="418" r:id="rId41"/>
    <p:sldId id="419" r:id="rId42"/>
    <p:sldId id="312" r:id="rId43"/>
    <p:sldId id="386" r:id="rId44"/>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7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1250" autoAdjust="0"/>
    <p:restoredTop sz="93089"/>
  </p:normalViewPr>
  <p:slideViewPr>
    <p:cSldViewPr snapToGrid="0" snapToObjects="1">
      <p:cViewPr varScale="1">
        <p:scale>
          <a:sx n="60" d="100"/>
          <a:sy n="60" d="100"/>
        </p:scale>
        <p:origin x="90" y="222"/>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7FD4DE-B9FC-2E4E-9315-CE94FEBC0F88}" type="datetimeFigureOut">
              <a:rPr lang="nl-BE" smtClean="0"/>
              <a:t>20/03/2021</a:t>
            </a:fld>
            <a:endParaRPr lang="nl-BE"/>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lang="nl-NL"/>
              <a:t>Tekststijl van het model bewerken
Tweede niveau
Derde niveau
Vierde niveau
Vijfde niveau</a:t>
            </a:r>
            <a:endParaRPr lang="nl-BE"/>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8CEE7D-1442-2743-8CF5-CDCB52106674}" type="slidenum">
              <a:rPr lang="nl-BE" smtClean="0"/>
              <a:t>‹nr.›</a:t>
            </a:fld>
            <a:endParaRPr lang="nl-BE"/>
          </a:p>
        </p:txBody>
      </p:sp>
    </p:spTree>
    <p:extLst>
      <p:ext uri="{BB962C8B-B14F-4D97-AF65-F5344CB8AC3E}">
        <p14:creationId xmlns:p14="http://schemas.microsoft.com/office/powerpoint/2010/main" val="17597468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29472204-9713-9346-AA26-9606B0EAC52C}" type="slidenum">
              <a:rPr lang="nl-BE" smtClean="0"/>
              <a:t>6</a:t>
            </a:fld>
            <a:endParaRPr lang="nl-BE"/>
          </a:p>
        </p:txBody>
      </p:sp>
    </p:spTree>
    <p:extLst>
      <p:ext uri="{BB962C8B-B14F-4D97-AF65-F5344CB8AC3E}">
        <p14:creationId xmlns:p14="http://schemas.microsoft.com/office/powerpoint/2010/main" val="19812875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3475A85-DDE6-4B62-8D3B-C320B5930093}" type="slidenum">
              <a:rPr lang="nl-BE" smtClean="0"/>
              <a:t>7</a:t>
            </a:fld>
            <a:endParaRPr lang="nl-BE"/>
          </a:p>
        </p:txBody>
      </p:sp>
    </p:spTree>
    <p:extLst>
      <p:ext uri="{BB962C8B-B14F-4D97-AF65-F5344CB8AC3E}">
        <p14:creationId xmlns:p14="http://schemas.microsoft.com/office/powerpoint/2010/main" val="2694662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29472204-9713-9346-AA26-9606B0EAC52C}" type="slidenum">
              <a:rPr lang="nl-BE" smtClean="0"/>
              <a:t>8</a:t>
            </a:fld>
            <a:endParaRPr lang="nl-BE"/>
          </a:p>
        </p:txBody>
      </p:sp>
    </p:spTree>
    <p:extLst>
      <p:ext uri="{BB962C8B-B14F-4D97-AF65-F5344CB8AC3E}">
        <p14:creationId xmlns:p14="http://schemas.microsoft.com/office/powerpoint/2010/main" val="30743009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29472204-9713-9346-AA26-9606B0EAC52C}" type="slidenum">
              <a:rPr lang="nl-BE" smtClean="0"/>
              <a:t>9</a:t>
            </a:fld>
            <a:endParaRPr lang="nl-BE"/>
          </a:p>
        </p:txBody>
      </p:sp>
    </p:spTree>
    <p:extLst>
      <p:ext uri="{BB962C8B-B14F-4D97-AF65-F5344CB8AC3E}">
        <p14:creationId xmlns:p14="http://schemas.microsoft.com/office/powerpoint/2010/main" val="9551112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3475A85-DDE6-4B62-8D3B-C320B5930093}" type="slidenum">
              <a:rPr lang="nl-BE" smtClean="0"/>
              <a:t>10</a:t>
            </a:fld>
            <a:endParaRPr lang="nl-BE"/>
          </a:p>
        </p:txBody>
      </p:sp>
    </p:spTree>
    <p:extLst>
      <p:ext uri="{BB962C8B-B14F-4D97-AF65-F5344CB8AC3E}">
        <p14:creationId xmlns:p14="http://schemas.microsoft.com/office/powerpoint/2010/main" val="28676902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3475A85-DDE6-4B62-8D3B-C320B5930093}" type="slidenum">
              <a:rPr lang="nl-BE" smtClean="0"/>
              <a:t>11</a:t>
            </a:fld>
            <a:endParaRPr lang="nl-BE"/>
          </a:p>
        </p:txBody>
      </p:sp>
    </p:spTree>
    <p:extLst>
      <p:ext uri="{BB962C8B-B14F-4D97-AF65-F5344CB8AC3E}">
        <p14:creationId xmlns:p14="http://schemas.microsoft.com/office/powerpoint/2010/main" val="27794263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3475A85-DDE6-4B62-8D3B-C320B5930093}" type="slidenum">
              <a:rPr lang="nl-BE" smtClean="0"/>
              <a:t>12</a:t>
            </a:fld>
            <a:endParaRPr lang="nl-BE"/>
          </a:p>
        </p:txBody>
      </p:sp>
    </p:spTree>
    <p:extLst>
      <p:ext uri="{BB962C8B-B14F-4D97-AF65-F5344CB8AC3E}">
        <p14:creationId xmlns:p14="http://schemas.microsoft.com/office/powerpoint/2010/main" val="19541691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3475A85-DDE6-4B62-8D3B-C320B5930093}" type="slidenum">
              <a:rPr lang="nl-BE" smtClean="0"/>
              <a:t>13</a:t>
            </a:fld>
            <a:endParaRPr lang="nl-BE"/>
          </a:p>
        </p:txBody>
      </p:sp>
    </p:spTree>
    <p:extLst>
      <p:ext uri="{BB962C8B-B14F-4D97-AF65-F5344CB8AC3E}">
        <p14:creationId xmlns:p14="http://schemas.microsoft.com/office/powerpoint/2010/main" val="4294413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29472204-9713-9346-AA26-9606B0EAC52C}" type="slidenum">
              <a:rPr lang="nl-BE" smtClean="0"/>
              <a:t>14</a:t>
            </a:fld>
            <a:endParaRPr lang="nl-BE"/>
          </a:p>
        </p:txBody>
      </p:sp>
    </p:spTree>
    <p:extLst>
      <p:ext uri="{BB962C8B-B14F-4D97-AF65-F5344CB8AC3E}">
        <p14:creationId xmlns:p14="http://schemas.microsoft.com/office/powerpoint/2010/main" val="28819720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29472204-9713-9346-AA26-9606B0EAC52C}" type="slidenum">
              <a:rPr lang="nl-BE" smtClean="0"/>
              <a:t>15</a:t>
            </a:fld>
            <a:endParaRPr lang="nl-BE"/>
          </a:p>
        </p:txBody>
      </p:sp>
    </p:spTree>
    <p:extLst>
      <p:ext uri="{BB962C8B-B14F-4D97-AF65-F5344CB8AC3E}">
        <p14:creationId xmlns:p14="http://schemas.microsoft.com/office/powerpoint/2010/main" val="6913747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29472204-9713-9346-AA26-9606B0EAC52C}" type="slidenum">
              <a:rPr lang="nl-BE" smtClean="0"/>
              <a:t>16</a:t>
            </a:fld>
            <a:endParaRPr lang="nl-BE"/>
          </a:p>
        </p:txBody>
      </p:sp>
    </p:spTree>
    <p:extLst>
      <p:ext uri="{BB962C8B-B14F-4D97-AF65-F5344CB8AC3E}">
        <p14:creationId xmlns:p14="http://schemas.microsoft.com/office/powerpoint/2010/main" val="42252292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29472204-9713-9346-AA26-9606B0EAC52C}" type="slidenum">
              <a:rPr lang="nl-BE" smtClean="0"/>
              <a:t>17</a:t>
            </a:fld>
            <a:endParaRPr lang="nl-BE"/>
          </a:p>
        </p:txBody>
      </p:sp>
    </p:spTree>
    <p:extLst>
      <p:ext uri="{BB962C8B-B14F-4D97-AF65-F5344CB8AC3E}">
        <p14:creationId xmlns:p14="http://schemas.microsoft.com/office/powerpoint/2010/main" val="28723812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29472204-9713-9346-AA26-9606B0EAC52C}" type="slidenum">
              <a:rPr lang="nl-BE" smtClean="0"/>
              <a:t>18</a:t>
            </a:fld>
            <a:endParaRPr lang="nl-BE"/>
          </a:p>
        </p:txBody>
      </p:sp>
    </p:spTree>
    <p:extLst>
      <p:ext uri="{BB962C8B-B14F-4D97-AF65-F5344CB8AC3E}">
        <p14:creationId xmlns:p14="http://schemas.microsoft.com/office/powerpoint/2010/main" val="33492791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29472204-9713-9346-AA26-9606B0EAC52C}" type="slidenum">
              <a:rPr lang="nl-BE" smtClean="0"/>
              <a:t>19</a:t>
            </a:fld>
            <a:endParaRPr lang="nl-BE"/>
          </a:p>
        </p:txBody>
      </p:sp>
    </p:spTree>
    <p:extLst>
      <p:ext uri="{BB962C8B-B14F-4D97-AF65-F5344CB8AC3E}">
        <p14:creationId xmlns:p14="http://schemas.microsoft.com/office/powerpoint/2010/main" val="9110312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29472204-9713-9346-AA26-9606B0EAC52C}" type="slidenum">
              <a:rPr lang="nl-BE" smtClean="0"/>
              <a:t>20</a:t>
            </a:fld>
            <a:endParaRPr lang="nl-BE"/>
          </a:p>
        </p:txBody>
      </p:sp>
    </p:spTree>
    <p:extLst>
      <p:ext uri="{BB962C8B-B14F-4D97-AF65-F5344CB8AC3E}">
        <p14:creationId xmlns:p14="http://schemas.microsoft.com/office/powerpoint/2010/main" val="20160703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29472204-9713-9346-AA26-9606B0EAC52C}" type="slidenum">
              <a:rPr lang="nl-BE" smtClean="0"/>
              <a:t>21</a:t>
            </a:fld>
            <a:endParaRPr lang="nl-BE"/>
          </a:p>
        </p:txBody>
      </p:sp>
    </p:spTree>
    <p:extLst>
      <p:ext uri="{BB962C8B-B14F-4D97-AF65-F5344CB8AC3E}">
        <p14:creationId xmlns:p14="http://schemas.microsoft.com/office/powerpoint/2010/main" val="40643278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29472204-9713-9346-AA26-9606B0EAC52C}" type="slidenum">
              <a:rPr lang="nl-BE" smtClean="0"/>
              <a:t>22</a:t>
            </a:fld>
            <a:endParaRPr lang="nl-BE"/>
          </a:p>
        </p:txBody>
      </p:sp>
    </p:spTree>
    <p:extLst>
      <p:ext uri="{BB962C8B-B14F-4D97-AF65-F5344CB8AC3E}">
        <p14:creationId xmlns:p14="http://schemas.microsoft.com/office/powerpoint/2010/main" val="32607741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29472204-9713-9346-AA26-9606B0EAC52C}" type="slidenum">
              <a:rPr lang="nl-BE" smtClean="0"/>
              <a:t>23</a:t>
            </a:fld>
            <a:endParaRPr lang="nl-BE"/>
          </a:p>
        </p:txBody>
      </p:sp>
    </p:spTree>
    <p:extLst>
      <p:ext uri="{BB962C8B-B14F-4D97-AF65-F5344CB8AC3E}">
        <p14:creationId xmlns:p14="http://schemas.microsoft.com/office/powerpoint/2010/main" val="4558727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29472204-9713-9346-AA26-9606B0EAC52C}" type="slidenum">
              <a:rPr lang="nl-BE" smtClean="0"/>
              <a:t>24</a:t>
            </a:fld>
            <a:endParaRPr lang="nl-BE"/>
          </a:p>
        </p:txBody>
      </p:sp>
    </p:spTree>
    <p:extLst>
      <p:ext uri="{BB962C8B-B14F-4D97-AF65-F5344CB8AC3E}">
        <p14:creationId xmlns:p14="http://schemas.microsoft.com/office/powerpoint/2010/main" val="38719175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29472204-9713-9346-AA26-9606B0EAC52C}" type="slidenum">
              <a:rPr lang="nl-BE" smtClean="0"/>
              <a:t>25</a:t>
            </a:fld>
            <a:endParaRPr lang="nl-BE"/>
          </a:p>
        </p:txBody>
      </p:sp>
    </p:spTree>
    <p:extLst>
      <p:ext uri="{BB962C8B-B14F-4D97-AF65-F5344CB8AC3E}">
        <p14:creationId xmlns:p14="http://schemas.microsoft.com/office/powerpoint/2010/main" val="33497452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29472204-9713-9346-AA26-9606B0EAC52C}" type="slidenum">
              <a:rPr lang="nl-BE" smtClean="0"/>
              <a:t>26</a:t>
            </a:fld>
            <a:endParaRPr lang="nl-BE"/>
          </a:p>
        </p:txBody>
      </p:sp>
    </p:spTree>
    <p:extLst>
      <p:ext uri="{BB962C8B-B14F-4D97-AF65-F5344CB8AC3E}">
        <p14:creationId xmlns:p14="http://schemas.microsoft.com/office/powerpoint/2010/main" val="8115129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3475A85-DDE6-4B62-8D3B-C320B5930093}" type="slidenum">
              <a:rPr lang="nl-BE" smtClean="0"/>
              <a:t>27</a:t>
            </a:fld>
            <a:endParaRPr lang="nl-BE"/>
          </a:p>
        </p:txBody>
      </p:sp>
    </p:spTree>
    <p:extLst>
      <p:ext uri="{BB962C8B-B14F-4D97-AF65-F5344CB8AC3E}">
        <p14:creationId xmlns:p14="http://schemas.microsoft.com/office/powerpoint/2010/main" val="15028254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3475A85-DDE6-4B62-8D3B-C320B5930093}" type="slidenum">
              <a:rPr lang="nl-BE" smtClean="0"/>
              <a:t>28</a:t>
            </a:fld>
            <a:endParaRPr lang="nl-BE"/>
          </a:p>
        </p:txBody>
      </p:sp>
    </p:spTree>
    <p:extLst>
      <p:ext uri="{BB962C8B-B14F-4D97-AF65-F5344CB8AC3E}">
        <p14:creationId xmlns:p14="http://schemas.microsoft.com/office/powerpoint/2010/main" val="25147135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3475A85-DDE6-4B62-8D3B-C320B5930093}" type="slidenum">
              <a:rPr lang="nl-BE" smtClean="0"/>
              <a:t>29</a:t>
            </a:fld>
            <a:endParaRPr lang="nl-BE"/>
          </a:p>
        </p:txBody>
      </p:sp>
    </p:spTree>
    <p:extLst>
      <p:ext uri="{BB962C8B-B14F-4D97-AF65-F5344CB8AC3E}">
        <p14:creationId xmlns:p14="http://schemas.microsoft.com/office/powerpoint/2010/main" val="30661952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3475A85-DDE6-4B62-8D3B-C320B5930093}" type="slidenum">
              <a:rPr lang="nl-BE" smtClean="0"/>
              <a:t>32</a:t>
            </a:fld>
            <a:endParaRPr lang="nl-BE"/>
          </a:p>
        </p:txBody>
      </p:sp>
    </p:spTree>
    <p:extLst>
      <p:ext uri="{BB962C8B-B14F-4D97-AF65-F5344CB8AC3E}">
        <p14:creationId xmlns:p14="http://schemas.microsoft.com/office/powerpoint/2010/main" val="6869155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3475A85-DDE6-4B62-8D3B-C320B5930093}" type="slidenum">
              <a:rPr lang="nl-BE" smtClean="0"/>
              <a:t>33</a:t>
            </a:fld>
            <a:endParaRPr lang="nl-BE"/>
          </a:p>
        </p:txBody>
      </p:sp>
    </p:spTree>
    <p:extLst>
      <p:ext uri="{BB962C8B-B14F-4D97-AF65-F5344CB8AC3E}">
        <p14:creationId xmlns:p14="http://schemas.microsoft.com/office/powerpoint/2010/main" val="26164326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3475A85-DDE6-4B62-8D3B-C320B5930093}" type="slidenum">
              <a:rPr lang="nl-BE" smtClean="0"/>
              <a:t>34</a:t>
            </a:fld>
            <a:endParaRPr lang="nl-BE"/>
          </a:p>
        </p:txBody>
      </p:sp>
    </p:spTree>
    <p:extLst>
      <p:ext uri="{BB962C8B-B14F-4D97-AF65-F5344CB8AC3E}">
        <p14:creationId xmlns:p14="http://schemas.microsoft.com/office/powerpoint/2010/main" val="28757133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29472204-9713-9346-AA26-9606B0EAC52C}" type="slidenum">
              <a:rPr lang="nl-BE" smtClean="0"/>
              <a:t>35</a:t>
            </a:fld>
            <a:endParaRPr lang="nl-BE"/>
          </a:p>
        </p:txBody>
      </p:sp>
    </p:spTree>
    <p:extLst>
      <p:ext uri="{BB962C8B-B14F-4D97-AF65-F5344CB8AC3E}">
        <p14:creationId xmlns:p14="http://schemas.microsoft.com/office/powerpoint/2010/main" val="32490295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3475A85-DDE6-4B62-8D3B-C320B5930093}" type="slidenum">
              <a:rPr lang="nl-BE" smtClean="0"/>
              <a:t>36</a:t>
            </a:fld>
            <a:endParaRPr lang="nl-BE"/>
          </a:p>
        </p:txBody>
      </p:sp>
    </p:spTree>
    <p:extLst>
      <p:ext uri="{BB962C8B-B14F-4D97-AF65-F5344CB8AC3E}">
        <p14:creationId xmlns:p14="http://schemas.microsoft.com/office/powerpoint/2010/main" val="37905959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29472204-9713-9346-AA26-9606B0EAC52C}" type="slidenum">
              <a:rPr lang="nl-BE" smtClean="0"/>
              <a:t>37</a:t>
            </a:fld>
            <a:endParaRPr lang="nl-BE"/>
          </a:p>
        </p:txBody>
      </p:sp>
    </p:spTree>
    <p:extLst>
      <p:ext uri="{BB962C8B-B14F-4D97-AF65-F5344CB8AC3E}">
        <p14:creationId xmlns:p14="http://schemas.microsoft.com/office/powerpoint/2010/main" val="28052867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29472204-9713-9346-AA26-9606B0EAC52C}" type="slidenum">
              <a:rPr lang="nl-BE" smtClean="0"/>
              <a:t>38</a:t>
            </a:fld>
            <a:endParaRPr lang="nl-BE"/>
          </a:p>
        </p:txBody>
      </p:sp>
    </p:spTree>
    <p:extLst>
      <p:ext uri="{BB962C8B-B14F-4D97-AF65-F5344CB8AC3E}">
        <p14:creationId xmlns:p14="http://schemas.microsoft.com/office/powerpoint/2010/main" val="30637019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29472204-9713-9346-AA26-9606B0EAC52C}" type="slidenum">
              <a:rPr lang="nl-BE" smtClean="0"/>
              <a:t>39</a:t>
            </a:fld>
            <a:endParaRPr lang="nl-BE"/>
          </a:p>
        </p:txBody>
      </p:sp>
    </p:spTree>
    <p:extLst>
      <p:ext uri="{BB962C8B-B14F-4D97-AF65-F5344CB8AC3E}">
        <p14:creationId xmlns:p14="http://schemas.microsoft.com/office/powerpoint/2010/main" val="22335437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29472204-9713-9346-AA26-9606B0EAC52C}" type="slidenum">
              <a:rPr lang="nl-BE" smtClean="0"/>
              <a:t>40</a:t>
            </a:fld>
            <a:endParaRPr lang="nl-BE"/>
          </a:p>
        </p:txBody>
      </p:sp>
    </p:spTree>
    <p:extLst>
      <p:ext uri="{BB962C8B-B14F-4D97-AF65-F5344CB8AC3E}">
        <p14:creationId xmlns:p14="http://schemas.microsoft.com/office/powerpoint/2010/main" val="277759031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29472204-9713-9346-AA26-9606B0EAC52C}" type="slidenum">
              <a:rPr lang="nl-BE" smtClean="0"/>
              <a:t>41</a:t>
            </a:fld>
            <a:endParaRPr lang="nl-BE"/>
          </a:p>
        </p:txBody>
      </p:sp>
    </p:spTree>
    <p:extLst>
      <p:ext uri="{BB962C8B-B14F-4D97-AF65-F5344CB8AC3E}">
        <p14:creationId xmlns:p14="http://schemas.microsoft.com/office/powerpoint/2010/main" val="21370892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3475A85-DDE6-4B62-8D3B-C320B5930093}" type="slidenum">
              <a:rPr lang="nl-BE" smtClean="0"/>
              <a:t>42</a:t>
            </a:fld>
            <a:endParaRPr lang="nl-BE"/>
          </a:p>
        </p:txBody>
      </p:sp>
    </p:spTree>
    <p:extLst>
      <p:ext uri="{BB962C8B-B14F-4D97-AF65-F5344CB8AC3E}">
        <p14:creationId xmlns:p14="http://schemas.microsoft.com/office/powerpoint/2010/main" val="1435648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66F4766-240A-CF49-9140-40411ABB69C4}"/>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endParaRPr lang="nl-BE"/>
          </a:p>
        </p:txBody>
      </p:sp>
      <p:sp>
        <p:nvSpPr>
          <p:cNvPr id="3" name="Ondertitel 2">
            <a:extLst>
              <a:ext uri="{FF2B5EF4-FFF2-40B4-BE49-F238E27FC236}">
                <a16:creationId xmlns:a16="http://schemas.microsoft.com/office/drawing/2014/main" id="{A00B4BED-E75D-5644-9F3F-10A64B264A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endParaRPr lang="nl-BE"/>
          </a:p>
        </p:txBody>
      </p:sp>
      <p:sp>
        <p:nvSpPr>
          <p:cNvPr id="4" name="Tijdelijke aanduiding voor datum 3">
            <a:extLst>
              <a:ext uri="{FF2B5EF4-FFF2-40B4-BE49-F238E27FC236}">
                <a16:creationId xmlns:a16="http://schemas.microsoft.com/office/drawing/2014/main" id="{442FC474-916F-4945-B5C8-E0E8911E4DAE}"/>
              </a:ext>
            </a:extLst>
          </p:cNvPr>
          <p:cNvSpPr>
            <a:spLocks noGrp="1"/>
          </p:cNvSpPr>
          <p:nvPr>
            <p:ph type="dt" sz="half" idx="10"/>
          </p:nvPr>
        </p:nvSpPr>
        <p:spPr/>
        <p:txBody>
          <a:bodyPr/>
          <a:lstStyle/>
          <a:p>
            <a:fld id="{29B8F137-4498-6546-A0F7-9C6144598169}" type="datetimeFigureOut">
              <a:rPr lang="nl-BE" smtClean="0"/>
              <a:t>20/03/2021</a:t>
            </a:fld>
            <a:endParaRPr lang="nl-BE"/>
          </a:p>
        </p:txBody>
      </p:sp>
      <p:sp>
        <p:nvSpPr>
          <p:cNvPr id="5" name="Tijdelijke aanduiding voor voettekst 4">
            <a:extLst>
              <a:ext uri="{FF2B5EF4-FFF2-40B4-BE49-F238E27FC236}">
                <a16:creationId xmlns:a16="http://schemas.microsoft.com/office/drawing/2014/main" id="{20D67E62-5B29-3943-8A4E-B43AAB0C683F}"/>
              </a:ext>
            </a:extLst>
          </p:cNvPr>
          <p:cNvSpPr>
            <a:spLocks noGrp="1"/>
          </p:cNvSpPr>
          <p:nvPr>
            <p:ph type="ftr" sz="quarter" idx="11"/>
          </p:nvPr>
        </p:nvSpPr>
        <p:spPr/>
        <p:txBody>
          <a:bodyPr/>
          <a:lstStyle/>
          <a:p>
            <a:endParaRPr lang="nl-BE"/>
          </a:p>
        </p:txBody>
      </p:sp>
      <p:sp>
        <p:nvSpPr>
          <p:cNvPr id="6" name="Tijdelijke aanduiding voor dianummer 5">
            <a:extLst>
              <a:ext uri="{FF2B5EF4-FFF2-40B4-BE49-F238E27FC236}">
                <a16:creationId xmlns:a16="http://schemas.microsoft.com/office/drawing/2014/main" id="{FC756BA7-9E65-BF43-9B78-4FE7322E1770}"/>
              </a:ext>
            </a:extLst>
          </p:cNvPr>
          <p:cNvSpPr>
            <a:spLocks noGrp="1"/>
          </p:cNvSpPr>
          <p:nvPr>
            <p:ph type="sldNum" sz="quarter" idx="12"/>
          </p:nvPr>
        </p:nvSpPr>
        <p:spPr/>
        <p:txBody>
          <a:bodyPr/>
          <a:lstStyle/>
          <a:p>
            <a:fld id="{A6CE4901-6337-5C40-87EF-AC841C55717C}" type="slidenum">
              <a:rPr lang="nl-BE" smtClean="0"/>
              <a:t>‹nr.›</a:t>
            </a:fld>
            <a:endParaRPr lang="nl-BE"/>
          </a:p>
        </p:txBody>
      </p:sp>
    </p:spTree>
    <p:extLst>
      <p:ext uri="{BB962C8B-B14F-4D97-AF65-F5344CB8AC3E}">
        <p14:creationId xmlns:p14="http://schemas.microsoft.com/office/powerpoint/2010/main" val="1462486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960117F-312B-6840-8633-A9BC318AD716}"/>
              </a:ext>
            </a:extLst>
          </p:cNvPr>
          <p:cNvSpPr>
            <a:spLocks noGrp="1"/>
          </p:cNvSpPr>
          <p:nvPr>
            <p:ph type="title"/>
          </p:nvPr>
        </p:nvSpPr>
        <p:spPr/>
        <p:txBody>
          <a:bodyPr/>
          <a:lstStyle/>
          <a:p>
            <a:r>
              <a:rPr lang="nl-NL"/>
              <a:t>Klik om stijl te bewerken</a:t>
            </a:r>
            <a:endParaRPr lang="nl-BE"/>
          </a:p>
        </p:txBody>
      </p:sp>
      <p:sp>
        <p:nvSpPr>
          <p:cNvPr id="3" name="Tijdelijke aanduiding voor inhoud 2">
            <a:extLst>
              <a:ext uri="{FF2B5EF4-FFF2-40B4-BE49-F238E27FC236}">
                <a16:creationId xmlns:a16="http://schemas.microsoft.com/office/drawing/2014/main" id="{A78CE995-223F-9E49-9E3E-D79D89839892}"/>
              </a:ext>
            </a:extLst>
          </p:cNvPr>
          <p:cNvSpPr>
            <a:spLocks noGrp="1"/>
          </p:cNvSpPr>
          <p:nvPr>
            <p:ph idx="1"/>
          </p:nvPr>
        </p:nvSpPr>
        <p:spPr/>
        <p:txBody>
          <a:bodyPr/>
          <a:lstStyle/>
          <a:p>
            <a:r>
              <a:rPr lang="nl-NL"/>
              <a:t>Tekststijl van het model bewerken
Tweede niveau
Derde niveau
Vierde niveau
Vijfde niveau</a:t>
            </a:r>
            <a:endParaRPr lang="nl-BE"/>
          </a:p>
        </p:txBody>
      </p:sp>
      <p:sp>
        <p:nvSpPr>
          <p:cNvPr id="4" name="Tijdelijke aanduiding voor datum 3">
            <a:extLst>
              <a:ext uri="{FF2B5EF4-FFF2-40B4-BE49-F238E27FC236}">
                <a16:creationId xmlns:a16="http://schemas.microsoft.com/office/drawing/2014/main" id="{7A7D4D8F-CB41-9244-A91F-7C7D2E69B323}"/>
              </a:ext>
            </a:extLst>
          </p:cNvPr>
          <p:cNvSpPr>
            <a:spLocks noGrp="1"/>
          </p:cNvSpPr>
          <p:nvPr>
            <p:ph type="dt" sz="half" idx="10"/>
          </p:nvPr>
        </p:nvSpPr>
        <p:spPr/>
        <p:txBody>
          <a:bodyPr/>
          <a:lstStyle/>
          <a:p>
            <a:fld id="{29B8F137-4498-6546-A0F7-9C6144598169}" type="datetimeFigureOut">
              <a:rPr lang="nl-BE" smtClean="0"/>
              <a:t>20/03/2021</a:t>
            </a:fld>
            <a:endParaRPr lang="nl-BE"/>
          </a:p>
        </p:txBody>
      </p:sp>
      <p:sp>
        <p:nvSpPr>
          <p:cNvPr id="5" name="Tijdelijke aanduiding voor voettekst 4">
            <a:extLst>
              <a:ext uri="{FF2B5EF4-FFF2-40B4-BE49-F238E27FC236}">
                <a16:creationId xmlns:a16="http://schemas.microsoft.com/office/drawing/2014/main" id="{888C8697-2A45-C24E-800A-F05D03893409}"/>
              </a:ext>
            </a:extLst>
          </p:cNvPr>
          <p:cNvSpPr>
            <a:spLocks noGrp="1"/>
          </p:cNvSpPr>
          <p:nvPr>
            <p:ph type="ftr" sz="quarter" idx="11"/>
          </p:nvPr>
        </p:nvSpPr>
        <p:spPr/>
        <p:txBody>
          <a:bodyPr/>
          <a:lstStyle/>
          <a:p>
            <a:endParaRPr lang="nl-BE"/>
          </a:p>
        </p:txBody>
      </p:sp>
      <p:sp>
        <p:nvSpPr>
          <p:cNvPr id="6" name="Tijdelijke aanduiding voor dianummer 5">
            <a:extLst>
              <a:ext uri="{FF2B5EF4-FFF2-40B4-BE49-F238E27FC236}">
                <a16:creationId xmlns:a16="http://schemas.microsoft.com/office/drawing/2014/main" id="{8513CB1D-822B-2D45-8693-B28573384F5D}"/>
              </a:ext>
            </a:extLst>
          </p:cNvPr>
          <p:cNvSpPr>
            <a:spLocks noGrp="1"/>
          </p:cNvSpPr>
          <p:nvPr>
            <p:ph type="sldNum" sz="quarter" idx="12"/>
          </p:nvPr>
        </p:nvSpPr>
        <p:spPr/>
        <p:txBody>
          <a:bodyPr/>
          <a:lstStyle/>
          <a:p>
            <a:fld id="{A6CE4901-6337-5C40-87EF-AC841C55717C}" type="slidenum">
              <a:rPr lang="nl-BE" smtClean="0"/>
              <a:t>‹nr.›</a:t>
            </a:fld>
            <a:endParaRPr lang="nl-BE"/>
          </a:p>
        </p:txBody>
      </p:sp>
    </p:spTree>
    <p:extLst>
      <p:ext uri="{BB962C8B-B14F-4D97-AF65-F5344CB8AC3E}">
        <p14:creationId xmlns:p14="http://schemas.microsoft.com/office/powerpoint/2010/main" val="28848677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82122D5-2F39-DC48-AB96-9775E11E592B}"/>
              </a:ext>
            </a:extLst>
          </p:cNvPr>
          <p:cNvSpPr>
            <a:spLocks noGrp="1"/>
          </p:cNvSpPr>
          <p:nvPr>
            <p:ph type="title"/>
          </p:nvPr>
        </p:nvSpPr>
        <p:spPr>
          <a:xfrm>
            <a:off x="831850" y="1709738"/>
            <a:ext cx="10515600" cy="2852737"/>
          </a:xfrm>
        </p:spPr>
        <p:txBody>
          <a:bodyPr anchor="b"/>
          <a:lstStyle>
            <a:lvl1pPr>
              <a:defRPr sz="6000"/>
            </a:lvl1pPr>
          </a:lstStyle>
          <a:p>
            <a:r>
              <a:rPr lang="nl-NL"/>
              <a:t>Klik om stijl te bewerken</a:t>
            </a:r>
            <a:endParaRPr lang="nl-BE"/>
          </a:p>
        </p:txBody>
      </p:sp>
      <p:sp>
        <p:nvSpPr>
          <p:cNvPr id="3" name="Tijdelijke aanduiding voor tekst 2">
            <a:extLst>
              <a:ext uri="{FF2B5EF4-FFF2-40B4-BE49-F238E27FC236}">
                <a16:creationId xmlns:a16="http://schemas.microsoft.com/office/drawing/2014/main" id="{4D5CF183-D884-4747-92BE-46CE8EE9BB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nl-NL"/>
              <a:t>Tekststijl van het model bewerken
Tweede niveau
Derde niveau
Vierde niveau
Vijfde niveau</a:t>
            </a:r>
            <a:endParaRPr lang="nl-BE"/>
          </a:p>
        </p:txBody>
      </p:sp>
      <p:sp>
        <p:nvSpPr>
          <p:cNvPr id="4" name="Tijdelijke aanduiding voor datum 3">
            <a:extLst>
              <a:ext uri="{FF2B5EF4-FFF2-40B4-BE49-F238E27FC236}">
                <a16:creationId xmlns:a16="http://schemas.microsoft.com/office/drawing/2014/main" id="{A821AECA-165B-8B4B-82CE-A79ECFE193E0}"/>
              </a:ext>
            </a:extLst>
          </p:cNvPr>
          <p:cNvSpPr>
            <a:spLocks noGrp="1"/>
          </p:cNvSpPr>
          <p:nvPr>
            <p:ph type="dt" sz="half" idx="10"/>
          </p:nvPr>
        </p:nvSpPr>
        <p:spPr/>
        <p:txBody>
          <a:bodyPr/>
          <a:lstStyle/>
          <a:p>
            <a:fld id="{29B8F137-4498-6546-A0F7-9C6144598169}" type="datetimeFigureOut">
              <a:rPr lang="nl-BE" smtClean="0"/>
              <a:t>20/03/2021</a:t>
            </a:fld>
            <a:endParaRPr lang="nl-BE"/>
          </a:p>
        </p:txBody>
      </p:sp>
      <p:sp>
        <p:nvSpPr>
          <p:cNvPr id="5" name="Tijdelijke aanduiding voor voettekst 4">
            <a:extLst>
              <a:ext uri="{FF2B5EF4-FFF2-40B4-BE49-F238E27FC236}">
                <a16:creationId xmlns:a16="http://schemas.microsoft.com/office/drawing/2014/main" id="{55436627-8718-B441-9692-02EF10565B86}"/>
              </a:ext>
            </a:extLst>
          </p:cNvPr>
          <p:cNvSpPr>
            <a:spLocks noGrp="1"/>
          </p:cNvSpPr>
          <p:nvPr>
            <p:ph type="ftr" sz="quarter" idx="11"/>
          </p:nvPr>
        </p:nvSpPr>
        <p:spPr/>
        <p:txBody>
          <a:bodyPr/>
          <a:lstStyle/>
          <a:p>
            <a:endParaRPr lang="nl-BE"/>
          </a:p>
        </p:txBody>
      </p:sp>
      <p:sp>
        <p:nvSpPr>
          <p:cNvPr id="6" name="Tijdelijke aanduiding voor dianummer 5">
            <a:extLst>
              <a:ext uri="{FF2B5EF4-FFF2-40B4-BE49-F238E27FC236}">
                <a16:creationId xmlns:a16="http://schemas.microsoft.com/office/drawing/2014/main" id="{84070718-3D31-8148-B5F6-D220E021FBD0}"/>
              </a:ext>
            </a:extLst>
          </p:cNvPr>
          <p:cNvSpPr>
            <a:spLocks noGrp="1"/>
          </p:cNvSpPr>
          <p:nvPr>
            <p:ph type="sldNum" sz="quarter" idx="12"/>
          </p:nvPr>
        </p:nvSpPr>
        <p:spPr/>
        <p:txBody>
          <a:bodyPr/>
          <a:lstStyle/>
          <a:p>
            <a:fld id="{A6CE4901-6337-5C40-87EF-AC841C55717C}" type="slidenum">
              <a:rPr lang="nl-BE" smtClean="0"/>
              <a:t>‹nr.›</a:t>
            </a:fld>
            <a:endParaRPr lang="nl-BE"/>
          </a:p>
        </p:txBody>
      </p:sp>
    </p:spTree>
    <p:extLst>
      <p:ext uri="{BB962C8B-B14F-4D97-AF65-F5344CB8AC3E}">
        <p14:creationId xmlns:p14="http://schemas.microsoft.com/office/powerpoint/2010/main" val="1263300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73F891C-B2B4-C94F-BD0E-A65A422A42FF}"/>
              </a:ext>
            </a:extLst>
          </p:cNvPr>
          <p:cNvSpPr>
            <a:spLocks noGrp="1"/>
          </p:cNvSpPr>
          <p:nvPr>
            <p:ph type="title"/>
          </p:nvPr>
        </p:nvSpPr>
        <p:spPr/>
        <p:txBody>
          <a:bodyPr/>
          <a:lstStyle/>
          <a:p>
            <a:r>
              <a:rPr lang="nl-NL"/>
              <a:t>Klik om stijl te bewerken</a:t>
            </a:r>
            <a:endParaRPr lang="nl-BE"/>
          </a:p>
        </p:txBody>
      </p:sp>
      <p:sp>
        <p:nvSpPr>
          <p:cNvPr id="3" name="Tijdelijke aanduiding voor inhoud 2">
            <a:extLst>
              <a:ext uri="{FF2B5EF4-FFF2-40B4-BE49-F238E27FC236}">
                <a16:creationId xmlns:a16="http://schemas.microsoft.com/office/drawing/2014/main" id="{B90EB333-F3CE-AD44-99ED-64FBF79A4A07}"/>
              </a:ext>
            </a:extLst>
          </p:cNvPr>
          <p:cNvSpPr>
            <a:spLocks noGrp="1"/>
          </p:cNvSpPr>
          <p:nvPr>
            <p:ph sz="half" idx="1"/>
          </p:nvPr>
        </p:nvSpPr>
        <p:spPr>
          <a:xfrm>
            <a:off x="838200" y="1825625"/>
            <a:ext cx="5181600" cy="4351338"/>
          </a:xfrm>
        </p:spPr>
        <p:txBody>
          <a:bodyPr/>
          <a:lstStyle/>
          <a:p>
            <a:r>
              <a:rPr lang="nl-NL"/>
              <a:t>Tekststijl van het model bewerken
Tweede niveau
Derde niveau
Vierde niveau
Vijfde niveau</a:t>
            </a:r>
            <a:endParaRPr lang="nl-BE"/>
          </a:p>
        </p:txBody>
      </p:sp>
      <p:sp>
        <p:nvSpPr>
          <p:cNvPr id="4" name="Tijdelijke aanduiding voor inhoud 3">
            <a:extLst>
              <a:ext uri="{FF2B5EF4-FFF2-40B4-BE49-F238E27FC236}">
                <a16:creationId xmlns:a16="http://schemas.microsoft.com/office/drawing/2014/main" id="{28317EAA-1A68-8A40-A129-41E62D5A9F37}"/>
              </a:ext>
            </a:extLst>
          </p:cNvPr>
          <p:cNvSpPr>
            <a:spLocks noGrp="1"/>
          </p:cNvSpPr>
          <p:nvPr>
            <p:ph sz="half" idx="2"/>
          </p:nvPr>
        </p:nvSpPr>
        <p:spPr>
          <a:xfrm>
            <a:off x="6172200" y="1825625"/>
            <a:ext cx="5181600" cy="4351338"/>
          </a:xfrm>
        </p:spPr>
        <p:txBody>
          <a:bodyPr/>
          <a:lstStyle/>
          <a:p>
            <a:r>
              <a:rPr lang="nl-NL"/>
              <a:t>Tekststijl van het model bewerken
Tweede niveau
Derde niveau
Vierde niveau
Vijfde niveau</a:t>
            </a:r>
            <a:endParaRPr lang="nl-BE"/>
          </a:p>
        </p:txBody>
      </p:sp>
      <p:sp>
        <p:nvSpPr>
          <p:cNvPr id="5" name="Tijdelijke aanduiding voor datum 4">
            <a:extLst>
              <a:ext uri="{FF2B5EF4-FFF2-40B4-BE49-F238E27FC236}">
                <a16:creationId xmlns:a16="http://schemas.microsoft.com/office/drawing/2014/main" id="{66BCEA29-BFC2-4D44-ACC3-B5D6B0DE5DD3}"/>
              </a:ext>
            </a:extLst>
          </p:cNvPr>
          <p:cNvSpPr>
            <a:spLocks noGrp="1"/>
          </p:cNvSpPr>
          <p:nvPr>
            <p:ph type="dt" sz="half" idx="10"/>
          </p:nvPr>
        </p:nvSpPr>
        <p:spPr/>
        <p:txBody>
          <a:bodyPr/>
          <a:lstStyle/>
          <a:p>
            <a:fld id="{29B8F137-4498-6546-A0F7-9C6144598169}" type="datetimeFigureOut">
              <a:rPr lang="nl-BE" smtClean="0"/>
              <a:t>20/03/2021</a:t>
            </a:fld>
            <a:endParaRPr lang="nl-BE"/>
          </a:p>
        </p:txBody>
      </p:sp>
      <p:sp>
        <p:nvSpPr>
          <p:cNvPr id="6" name="Tijdelijke aanduiding voor voettekst 5">
            <a:extLst>
              <a:ext uri="{FF2B5EF4-FFF2-40B4-BE49-F238E27FC236}">
                <a16:creationId xmlns:a16="http://schemas.microsoft.com/office/drawing/2014/main" id="{CE20243C-E254-0340-A95C-A6AF9B037EE3}"/>
              </a:ext>
            </a:extLst>
          </p:cNvPr>
          <p:cNvSpPr>
            <a:spLocks noGrp="1"/>
          </p:cNvSpPr>
          <p:nvPr>
            <p:ph type="ftr" sz="quarter" idx="11"/>
          </p:nvPr>
        </p:nvSpPr>
        <p:spPr/>
        <p:txBody>
          <a:bodyPr/>
          <a:lstStyle/>
          <a:p>
            <a:endParaRPr lang="nl-BE"/>
          </a:p>
        </p:txBody>
      </p:sp>
      <p:sp>
        <p:nvSpPr>
          <p:cNvPr id="7" name="Tijdelijke aanduiding voor dianummer 6">
            <a:extLst>
              <a:ext uri="{FF2B5EF4-FFF2-40B4-BE49-F238E27FC236}">
                <a16:creationId xmlns:a16="http://schemas.microsoft.com/office/drawing/2014/main" id="{9E3DB690-9D67-074E-8AC3-9C83442D77AF}"/>
              </a:ext>
            </a:extLst>
          </p:cNvPr>
          <p:cNvSpPr>
            <a:spLocks noGrp="1"/>
          </p:cNvSpPr>
          <p:nvPr>
            <p:ph type="sldNum" sz="quarter" idx="12"/>
          </p:nvPr>
        </p:nvSpPr>
        <p:spPr/>
        <p:txBody>
          <a:bodyPr/>
          <a:lstStyle/>
          <a:p>
            <a:fld id="{A6CE4901-6337-5C40-87EF-AC841C55717C}" type="slidenum">
              <a:rPr lang="nl-BE" smtClean="0"/>
              <a:t>‹nr.›</a:t>
            </a:fld>
            <a:endParaRPr lang="nl-BE"/>
          </a:p>
        </p:txBody>
      </p:sp>
    </p:spTree>
    <p:extLst>
      <p:ext uri="{BB962C8B-B14F-4D97-AF65-F5344CB8AC3E}">
        <p14:creationId xmlns:p14="http://schemas.microsoft.com/office/powerpoint/2010/main" val="5760805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94BA74A-76D2-AE43-B480-C176B4E99FDA}"/>
              </a:ext>
            </a:extLst>
          </p:cNvPr>
          <p:cNvSpPr>
            <a:spLocks noGrp="1"/>
          </p:cNvSpPr>
          <p:nvPr>
            <p:ph type="title"/>
          </p:nvPr>
        </p:nvSpPr>
        <p:spPr>
          <a:xfrm>
            <a:off x="839788" y="365125"/>
            <a:ext cx="10515600" cy="1325563"/>
          </a:xfrm>
        </p:spPr>
        <p:txBody>
          <a:bodyPr/>
          <a:lstStyle/>
          <a:p>
            <a:r>
              <a:rPr lang="nl-NL"/>
              <a:t>Klik om stijl te bewerken</a:t>
            </a:r>
            <a:endParaRPr lang="nl-BE"/>
          </a:p>
        </p:txBody>
      </p:sp>
      <p:sp>
        <p:nvSpPr>
          <p:cNvPr id="3" name="Tijdelijke aanduiding voor tekst 2">
            <a:extLst>
              <a:ext uri="{FF2B5EF4-FFF2-40B4-BE49-F238E27FC236}">
                <a16:creationId xmlns:a16="http://schemas.microsoft.com/office/drawing/2014/main" id="{7E3276B8-07E6-2F45-809C-A36D24319C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nl-NL"/>
              <a:t>Tekststijl van het model bewerken
Tweede niveau
Derde niveau
Vierde niveau
Vijfde niveau</a:t>
            </a:r>
            <a:endParaRPr lang="nl-BE"/>
          </a:p>
        </p:txBody>
      </p:sp>
      <p:sp>
        <p:nvSpPr>
          <p:cNvPr id="4" name="Tijdelijke aanduiding voor inhoud 3">
            <a:extLst>
              <a:ext uri="{FF2B5EF4-FFF2-40B4-BE49-F238E27FC236}">
                <a16:creationId xmlns:a16="http://schemas.microsoft.com/office/drawing/2014/main" id="{E582453D-534C-C643-8D72-1782DC7BB8E4}"/>
              </a:ext>
            </a:extLst>
          </p:cNvPr>
          <p:cNvSpPr>
            <a:spLocks noGrp="1"/>
          </p:cNvSpPr>
          <p:nvPr>
            <p:ph sz="half" idx="2"/>
          </p:nvPr>
        </p:nvSpPr>
        <p:spPr>
          <a:xfrm>
            <a:off x="839788" y="2505075"/>
            <a:ext cx="5157787" cy="3684588"/>
          </a:xfrm>
        </p:spPr>
        <p:txBody>
          <a:bodyPr/>
          <a:lstStyle/>
          <a:p>
            <a:r>
              <a:rPr lang="nl-NL"/>
              <a:t>Tekststijl van het model bewerken
Tweede niveau
Derde niveau
Vierde niveau
Vijfde niveau</a:t>
            </a:r>
            <a:endParaRPr lang="nl-BE"/>
          </a:p>
        </p:txBody>
      </p:sp>
      <p:sp>
        <p:nvSpPr>
          <p:cNvPr id="5" name="Tijdelijke aanduiding voor tekst 4">
            <a:extLst>
              <a:ext uri="{FF2B5EF4-FFF2-40B4-BE49-F238E27FC236}">
                <a16:creationId xmlns:a16="http://schemas.microsoft.com/office/drawing/2014/main" id="{BC14D676-6854-874D-AA10-BD5A971C33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nl-NL"/>
              <a:t>Tekststijl van het model bewerken
Tweede niveau
Derde niveau
Vierde niveau
Vijfde niveau</a:t>
            </a:r>
            <a:endParaRPr lang="nl-BE"/>
          </a:p>
        </p:txBody>
      </p:sp>
      <p:sp>
        <p:nvSpPr>
          <p:cNvPr id="6" name="Tijdelijke aanduiding voor inhoud 5">
            <a:extLst>
              <a:ext uri="{FF2B5EF4-FFF2-40B4-BE49-F238E27FC236}">
                <a16:creationId xmlns:a16="http://schemas.microsoft.com/office/drawing/2014/main" id="{B4E5BF69-44EC-BD41-B28D-C4942276DDE8}"/>
              </a:ext>
            </a:extLst>
          </p:cNvPr>
          <p:cNvSpPr>
            <a:spLocks noGrp="1"/>
          </p:cNvSpPr>
          <p:nvPr>
            <p:ph sz="quarter" idx="4"/>
          </p:nvPr>
        </p:nvSpPr>
        <p:spPr>
          <a:xfrm>
            <a:off x="6172200" y="2505075"/>
            <a:ext cx="5183188" cy="3684588"/>
          </a:xfrm>
        </p:spPr>
        <p:txBody>
          <a:bodyPr/>
          <a:lstStyle/>
          <a:p>
            <a:r>
              <a:rPr lang="nl-NL"/>
              <a:t>Tekststijl van het model bewerken
Tweede niveau
Derde niveau
Vierde niveau
Vijfde niveau</a:t>
            </a:r>
            <a:endParaRPr lang="nl-BE"/>
          </a:p>
        </p:txBody>
      </p:sp>
      <p:sp>
        <p:nvSpPr>
          <p:cNvPr id="7" name="Tijdelijke aanduiding voor datum 6">
            <a:extLst>
              <a:ext uri="{FF2B5EF4-FFF2-40B4-BE49-F238E27FC236}">
                <a16:creationId xmlns:a16="http://schemas.microsoft.com/office/drawing/2014/main" id="{CF33D164-2E61-034E-ACD0-77E7B541D36E}"/>
              </a:ext>
            </a:extLst>
          </p:cNvPr>
          <p:cNvSpPr>
            <a:spLocks noGrp="1"/>
          </p:cNvSpPr>
          <p:nvPr>
            <p:ph type="dt" sz="half" idx="10"/>
          </p:nvPr>
        </p:nvSpPr>
        <p:spPr/>
        <p:txBody>
          <a:bodyPr/>
          <a:lstStyle/>
          <a:p>
            <a:fld id="{29B8F137-4498-6546-A0F7-9C6144598169}" type="datetimeFigureOut">
              <a:rPr lang="nl-BE" smtClean="0"/>
              <a:t>20/03/2021</a:t>
            </a:fld>
            <a:endParaRPr lang="nl-BE"/>
          </a:p>
        </p:txBody>
      </p:sp>
      <p:sp>
        <p:nvSpPr>
          <p:cNvPr id="8" name="Tijdelijke aanduiding voor voettekst 7">
            <a:extLst>
              <a:ext uri="{FF2B5EF4-FFF2-40B4-BE49-F238E27FC236}">
                <a16:creationId xmlns:a16="http://schemas.microsoft.com/office/drawing/2014/main" id="{19F01C71-64E8-334D-BB15-55C65C674AE6}"/>
              </a:ext>
            </a:extLst>
          </p:cNvPr>
          <p:cNvSpPr>
            <a:spLocks noGrp="1"/>
          </p:cNvSpPr>
          <p:nvPr>
            <p:ph type="ftr" sz="quarter" idx="11"/>
          </p:nvPr>
        </p:nvSpPr>
        <p:spPr/>
        <p:txBody>
          <a:bodyPr/>
          <a:lstStyle/>
          <a:p>
            <a:endParaRPr lang="nl-BE"/>
          </a:p>
        </p:txBody>
      </p:sp>
      <p:sp>
        <p:nvSpPr>
          <p:cNvPr id="9" name="Tijdelijke aanduiding voor dianummer 8">
            <a:extLst>
              <a:ext uri="{FF2B5EF4-FFF2-40B4-BE49-F238E27FC236}">
                <a16:creationId xmlns:a16="http://schemas.microsoft.com/office/drawing/2014/main" id="{722D0DAF-DB30-264C-BFD3-6B2EB57D505E}"/>
              </a:ext>
            </a:extLst>
          </p:cNvPr>
          <p:cNvSpPr>
            <a:spLocks noGrp="1"/>
          </p:cNvSpPr>
          <p:nvPr>
            <p:ph type="sldNum" sz="quarter" idx="12"/>
          </p:nvPr>
        </p:nvSpPr>
        <p:spPr/>
        <p:txBody>
          <a:bodyPr/>
          <a:lstStyle/>
          <a:p>
            <a:fld id="{A6CE4901-6337-5C40-87EF-AC841C55717C}" type="slidenum">
              <a:rPr lang="nl-BE" smtClean="0"/>
              <a:t>‹nr.›</a:t>
            </a:fld>
            <a:endParaRPr lang="nl-BE"/>
          </a:p>
        </p:txBody>
      </p:sp>
    </p:spTree>
    <p:extLst>
      <p:ext uri="{BB962C8B-B14F-4D97-AF65-F5344CB8AC3E}">
        <p14:creationId xmlns:p14="http://schemas.microsoft.com/office/powerpoint/2010/main" val="235038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98A261E-05CE-6F40-AF96-76C3358446E4}"/>
              </a:ext>
            </a:extLst>
          </p:cNvPr>
          <p:cNvSpPr>
            <a:spLocks noGrp="1"/>
          </p:cNvSpPr>
          <p:nvPr>
            <p:ph type="title"/>
          </p:nvPr>
        </p:nvSpPr>
        <p:spPr/>
        <p:txBody>
          <a:bodyPr/>
          <a:lstStyle/>
          <a:p>
            <a:r>
              <a:rPr lang="nl-NL"/>
              <a:t>Klik om stijl te bewerken</a:t>
            </a:r>
            <a:endParaRPr lang="nl-BE"/>
          </a:p>
        </p:txBody>
      </p:sp>
      <p:sp>
        <p:nvSpPr>
          <p:cNvPr id="3" name="Tijdelijke aanduiding voor datum 2">
            <a:extLst>
              <a:ext uri="{FF2B5EF4-FFF2-40B4-BE49-F238E27FC236}">
                <a16:creationId xmlns:a16="http://schemas.microsoft.com/office/drawing/2014/main" id="{353EB884-4D25-EC4D-A395-743E92C1ADDE}"/>
              </a:ext>
            </a:extLst>
          </p:cNvPr>
          <p:cNvSpPr>
            <a:spLocks noGrp="1"/>
          </p:cNvSpPr>
          <p:nvPr>
            <p:ph type="dt" sz="half" idx="10"/>
          </p:nvPr>
        </p:nvSpPr>
        <p:spPr/>
        <p:txBody>
          <a:bodyPr/>
          <a:lstStyle/>
          <a:p>
            <a:fld id="{29B8F137-4498-6546-A0F7-9C6144598169}" type="datetimeFigureOut">
              <a:rPr lang="nl-BE" smtClean="0"/>
              <a:t>20/03/2021</a:t>
            </a:fld>
            <a:endParaRPr lang="nl-BE"/>
          </a:p>
        </p:txBody>
      </p:sp>
      <p:sp>
        <p:nvSpPr>
          <p:cNvPr id="4" name="Tijdelijke aanduiding voor voettekst 3">
            <a:extLst>
              <a:ext uri="{FF2B5EF4-FFF2-40B4-BE49-F238E27FC236}">
                <a16:creationId xmlns:a16="http://schemas.microsoft.com/office/drawing/2014/main" id="{8CBE319F-BAAA-B645-8BB9-8EB476E6C90B}"/>
              </a:ext>
            </a:extLst>
          </p:cNvPr>
          <p:cNvSpPr>
            <a:spLocks noGrp="1"/>
          </p:cNvSpPr>
          <p:nvPr>
            <p:ph type="ftr" sz="quarter" idx="11"/>
          </p:nvPr>
        </p:nvSpPr>
        <p:spPr/>
        <p:txBody>
          <a:bodyPr/>
          <a:lstStyle/>
          <a:p>
            <a:endParaRPr lang="nl-BE"/>
          </a:p>
        </p:txBody>
      </p:sp>
      <p:sp>
        <p:nvSpPr>
          <p:cNvPr id="5" name="Tijdelijke aanduiding voor dianummer 4">
            <a:extLst>
              <a:ext uri="{FF2B5EF4-FFF2-40B4-BE49-F238E27FC236}">
                <a16:creationId xmlns:a16="http://schemas.microsoft.com/office/drawing/2014/main" id="{D66F1609-512E-5342-A37A-A9C5A73F7A0D}"/>
              </a:ext>
            </a:extLst>
          </p:cNvPr>
          <p:cNvSpPr>
            <a:spLocks noGrp="1"/>
          </p:cNvSpPr>
          <p:nvPr>
            <p:ph type="sldNum" sz="quarter" idx="12"/>
          </p:nvPr>
        </p:nvSpPr>
        <p:spPr/>
        <p:txBody>
          <a:bodyPr/>
          <a:lstStyle/>
          <a:p>
            <a:fld id="{A6CE4901-6337-5C40-87EF-AC841C55717C}" type="slidenum">
              <a:rPr lang="nl-BE" smtClean="0"/>
              <a:t>‹nr.›</a:t>
            </a:fld>
            <a:endParaRPr lang="nl-BE"/>
          </a:p>
        </p:txBody>
      </p:sp>
    </p:spTree>
    <p:extLst>
      <p:ext uri="{BB962C8B-B14F-4D97-AF65-F5344CB8AC3E}">
        <p14:creationId xmlns:p14="http://schemas.microsoft.com/office/powerpoint/2010/main" val="4109274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E41695F2-8F40-E043-8D82-628AC9A651F0}"/>
              </a:ext>
            </a:extLst>
          </p:cNvPr>
          <p:cNvSpPr>
            <a:spLocks noGrp="1"/>
          </p:cNvSpPr>
          <p:nvPr>
            <p:ph type="dt" sz="half" idx="10"/>
          </p:nvPr>
        </p:nvSpPr>
        <p:spPr/>
        <p:txBody>
          <a:bodyPr/>
          <a:lstStyle/>
          <a:p>
            <a:fld id="{29B8F137-4498-6546-A0F7-9C6144598169}" type="datetimeFigureOut">
              <a:rPr lang="nl-BE" smtClean="0"/>
              <a:t>20/03/2021</a:t>
            </a:fld>
            <a:endParaRPr lang="nl-BE"/>
          </a:p>
        </p:txBody>
      </p:sp>
      <p:sp>
        <p:nvSpPr>
          <p:cNvPr id="3" name="Tijdelijke aanduiding voor voettekst 2">
            <a:extLst>
              <a:ext uri="{FF2B5EF4-FFF2-40B4-BE49-F238E27FC236}">
                <a16:creationId xmlns:a16="http://schemas.microsoft.com/office/drawing/2014/main" id="{9BCC8AAE-867B-8846-A554-D161D658C6DC}"/>
              </a:ext>
            </a:extLst>
          </p:cNvPr>
          <p:cNvSpPr>
            <a:spLocks noGrp="1"/>
          </p:cNvSpPr>
          <p:nvPr>
            <p:ph type="ftr" sz="quarter" idx="11"/>
          </p:nvPr>
        </p:nvSpPr>
        <p:spPr/>
        <p:txBody>
          <a:bodyPr/>
          <a:lstStyle/>
          <a:p>
            <a:endParaRPr lang="nl-BE"/>
          </a:p>
        </p:txBody>
      </p:sp>
      <p:sp>
        <p:nvSpPr>
          <p:cNvPr id="4" name="Tijdelijke aanduiding voor dianummer 3">
            <a:extLst>
              <a:ext uri="{FF2B5EF4-FFF2-40B4-BE49-F238E27FC236}">
                <a16:creationId xmlns:a16="http://schemas.microsoft.com/office/drawing/2014/main" id="{5BF8A3F8-A213-304D-B726-1516B82A9ACE}"/>
              </a:ext>
            </a:extLst>
          </p:cNvPr>
          <p:cNvSpPr>
            <a:spLocks noGrp="1"/>
          </p:cNvSpPr>
          <p:nvPr>
            <p:ph type="sldNum" sz="quarter" idx="12"/>
          </p:nvPr>
        </p:nvSpPr>
        <p:spPr/>
        <p:txBody>
          <a:bodyPr/>
          <a:lstStyle/>
          <a:p>
            <a:fld id="{A6CE4901-6337-5C40-87EF-AC841C55717C}" type="slidenum">
              <a:rPr lang="nl-BE" smtClean="0"/>
              <a:t>‹nr.›</a:t>
            </a:fld>
            <a:endParaRPr lang="nl-BE"/>
          </a:p>
        </p:txBody>
      </p:sp>
    </p:spTree>
    <p:extLst>
      <p:ext uri="{BB962C8B-B14F-4D97-AF65-F5344CB8AC3E}">
        <p14:creationId xmlns:p14="http://schemas.microsoft.com/office/powerpoint/2010/main" val="27418069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F261A0-98B4-414D-85DE-3720832B71EB}"/>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endParaRPr lang="nl-BE"/>
          </a:p>
        </p:txBody>
      </p:sp>
      <p:sp>
        <p:nvSpPr>
          <p:cNvPr id="3" name="Tijdelijke aanduiding voor inhoud 2">
            <a:extLst>
              <a:ext uri="{FF2B5EF4-FFF2-40B4-BE49-F238E27FC236}">
                <a16:creationId xmlns:a16="http://schemas.microsoft.com/office/drawing/2014/main" id="{EEDFAD26-43AE-CA4B-BAF6-D852EED9E2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nl-NL"/>
              <a:t>Tekststijl van het model bewerken
Tweede niveau
Derde niveau
Vierde niveau
Vijfde niveau</a:t>
            </a:r>
            <a:endParaRPr lang="nl-BE"/>
          </a:p>
        </p:txBody>
      </p:sp>
      <p:sp>
        <p:nvSpPr>
          <p:cNvPr id="4" name="Tijdelijke aanduiding voor tekst 3">
            <a:extLst>
              <a:ext uri="{FF2B5EF4-FFF2-40B4-BE49-F238E27FC236}">
                <a16:creationId xmlns:a16="http://schemas.microsoft.com/office/drawing/2014/main" id="{30E1B331-F44F-6949-A567-8896BDC706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nl-NL"/>
              <a:t>Tekststijl van het model bewerken
Tweede niveau
Derde niveau
Vierde niveau
Vijfde niveau</a:t>
            </a:r>
            <a:endParaRPr lang="nl-BE"/>
          </a:p>
        </p:txBody>
      </p:sp>
      <p:sp>
        <p:nvSpPr>
          <p:cNvPr id="5" name="Tijdelijke aanduiding voor datum 4">
            <a:extLst>
              <a:ext uri="{FF2B5EF4-FFF2-40B4-BE49-F238E27FC236}">
                <a16:creationId xmlns:a16="http://schemas.microsoft.com/office/drawing/2014/main" id="{087F5A3C-C971-8345-B17F-7224D310A9E2}"/>
              </a:ext>
            </a:extLst>
          </p:cNvPr>
          <p:cNvSpPr>
            <a:spLocks noGrp="1"/>
          </p:cNvSpPr>
          <p:nvPr>
            <p:ph type="dt" sz="half" idx="10"/>
          </p:nvPr>
        </p:nvSpPr>
        <p:spPr/>
        <p:txBody>
          <a:bodyPr/>
          <a:lstStyle/>
          <a:p>
            <a:fld id="{29B8F137-4498-6546-A0F7-9C6144598169}" type="datetimeFigureOut">
              <a:rPr lang="nl-BE" smtClean="0"/>
              <a:t>20/03/2021</a:t>
            </a:fld>
            <a:endParaRPr lang="nl-BE"/>
          </a:p>
        </p:txBody>
      </p:sp>
      <p:sp>
        <p:nvSpPr>
          <p:cNvPr id="6" name="Tijdelijke aanduiding voor voettekst 5">
            <a:extLst>
              <a:ext uri="{FF2B5EF4-FFF2-40B4-BE49-F238E27FC236}">
                <a16:creationId xmlns:a16="http://schemas.microsoft.com/office/drawing/2014/main" id="{8ED7EA11-520B-364F-A45C-0E55C1C81B32}"/>
              </a:ext>
            </a:extLst>
          </p:cNvPr>
          <p:cNvSpPr>
            <a:spLocks noGrp="1"/>
          </p:cNvSpPr>
          <p:nvPr>
            <p:ph type="ftr" sz="quarter" idx="11"/>
          </p:nvPr>
        </p:nvSpPr>
        <p:spPr/>
        <p:txBody>
          <a:bodyPr/>
          <a:lstStyle/>
          <a:p>
            <a:endParaRPr lang="nl-BE"/>
          </a:p>
        </p:txBody>
      </p:sp>
      <p:sp>
        <p:nvSpPr>
          <p:cNvPr id="7" name="Tijdelijke aanduiding voor dianummer 6">
            <a:extLst>
              <a:ext uri="{FF2B5EF4-FFF2-40B4-BE49-F238E27FC236}">
                <a16:creationId xmlns:a16="http://schemas.microsoft.com/office/drawing/2014/main" id="{C95EE6EC-2F69-B341-8A4B-BB5AE6962223}"/>
              </a:ext>
            </a:extLst>
          </p:cNvPr>
          <p:cNvSpPr>
            <a:spLocks noGrp="1"/>
          </p:cNvSpPr>
          <p:nvPr>
            <p:ph type="sldNum" sz="quarter" idx="12"/>
          </p:nvPr>
        </p:nvSpPr>
        <p:spPr/>
        <p:txBody>
          <a:bodyPr/>
          <a:lstStyle/>
          <a:p>
            <a:fld id="{A6CE4901-6337-5C40-87EF-AC841C55717C}" type="slidenum">
              <a:rPr lang="nl-BE" smtClean="0"/>
              <a:t>‹nr.›</a:t>
            </a:fld>
            <a:endParaRPr lang="nl-BE"/>
          </a:p>
        </p:txBody>
      </p:sp>
    </p:spTree>
    <p:extLst>
      <p:ext uri="{BB962C8B-B14F-4D97-AF65-F5344CB8AC3E}">
        <p14:creationId xmlns:p14="http://schemas.microsoft.com/office/powerpoint/2010/main" val="4247375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8C057A2-C458-0C4A-8244-95AF82EA3191}"/>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endParaRPr lang="nl-BE"/>
          </a:p>
        </p:txBody>
      </p:sp>
      <p:sp>
        <p:nvSpPr>
          <p:cNvPr id="3" name="Tijdelijke aanduiding voor afbeelding 2">
            <a:extLst>
              <a:ext uri="{FF2B5EF4-FFF2-40B4-BE49-F238E27FC236}">
                <a16:creationId xmlns:a16="http://schemas.microsoft.com/office/drawing/2014/main" id="{9614DD92-E6C8-A242-9D79-3DBDD65C0D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BE"/>
          </a:p>
        </p:txBody>
      </p:sp>
      <p:sp>
        <p:nvSpPr>
          <p:cNvPr id="4" name="Tijdelijke aanduiding voor tekst 3">
            <a:extLst>
              <a:ext uri="{FF2B5EF4-FFF2-40B4-BE49-F238E27FC236}">
                <a16:creationId xmlns:a16="http://schemas.microsoft.com/office/drawing/2014/main" id="{7BB5BCA9-69F9-A746-B12E-DF4EB9282D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nl-NL"/>
              <a:t>Tekststijl van het model bewerken
Tweede niveau
Derde niveau
Vierde niveau
Vijfde niveau</a:t>
            </a:r>
            <a:endParaRPr lang="nl-BE"/>
          </a:p>
        </p:txBody>
      </p:sp>
      <p:sp>
        <p:nvSpPr>
          <p:cNvPr id="5" name="Tijdelijke aanduiding voor datum 4">
            <a:extLst>
              <a:ext uri="{FF2B5EF4-FFF2-40B4-BE49-F238E27FC236}">
                <a16:creationId xmlns:a16="http://schemas.microsoft.com/office/drawing/2014/main" id="{02A87EE0-2A94-CA46-BF83-60F4965FA2B6}"/>
              </a:ext>
            </a:extLst>
          </p:cNvPr>
          <p:cNvSpPr>
            <a:spLocks noGrp="1"/>
          </p:cNvSpPr>
          <p:nvPr>
            <p:ph type="dt" sz="half" idx="10"/>
          </p:nvPr>
        </p:nvSpPr>
        <p:spPr/>
        <p:txBody>
          <a:bodyPr/>
          <a:lstStyle/>
          <a:p>
            <a:fld id="{29B8F137-4498-6546-A0F7-9C6144598169}" type="datetimeFigureOut">
              <a:rPr lang="nl-BE" smtClean="0"/>
              <a:t>20/03/2021</a:t>
            </a:fld>
            <a:endParaRPr lang="nl-BE"/>
          </a:p>
        </p:txBody>
      </p:sp>
      <p:sp>
        <p:nvSpPr>
          <p:cNvPr id="6" name="Tijdelijke aanduiding voor voettekst 5">
            <a:extLst>
              <a:ext uri="{FF2B5EF4-FFF2-40B4-BE49-F238E27FC236}">
                <a16:creationId xmlns:a16="http://schemas.microsoft.com/office/drawing/2014/main" id="{B067F39F-C093-F742-81F6-FE85E37A6D72}"/>
              </a:ext>
            </a:extLst>
          </p:cNvPr>
          <p:cNvSpPr>
            <a:spLocks noGrp="1"/>
          </p:cNvSpPr>
          <p:nvPr>
            <p:ph type="ftr" sz="quarter" idx="11"/>
          </p:nvPr>
        </p:nvSpPr>
        <p:spPr/>
        <p:txBody>
          <a:bodyPr/>
          <a:lstStyle/>
          <a:p>
            <a:endParaRPr lang="nl-BE"/>
          </a:p>
        </p:txBody>
      </p:sp>
      <p:sp>
        <p:nvSpPr>
          <p:cNvPr id="7" name="Tijdelijke aanduiding voor dianummer 6">
            <a:extLst>
              <a:ext uri="{FF2B5EF4-FFF2-40B4-BE49-F238E27FC236}">
                <a16:creationId xmlns:a16="http://schemas.microsoft.com/office/drawing/2014/main" id="{F80AD88B-81B1-3A40-9F02-D4A3303DBD9B}"/>
              </a:ext>
            </a:extLst>
          </p:cNvPr>
          <p:cNvSpPr>
            <a:spLocks noGrp="1"/>
          </p:cNvSpPr>
          <p:nvPr>
            <p:ph type="sldNum" sz="quarter" idx="12"/>
          </p:nvPr>
        </p:nvSpPr>
        <p:spPr/>
        <p:txBody>
          <a:bodyPr/>
          <a:lstStyle/>
          <a:p>
            <a:fld id="{A6CE4901-6337-5C40-87EF-AC841C55717C}" type="slidenum">
              <a:rPr lang="nl-BE" smtClean="0"/>
              <a:t>‹nr.›</a:t>
            </a:fld>
            <a:endParaRPr lang="nl-BE"/>
          </a:p>
        </p:txBody>
      </p:sp>
    </p:spTree>
    <p:extLst>
      <p:ext uri="{BB962C8B-B14F-4D97-AF65-F5344CB8AC3E}">
        <p14:creationId xmlns:p14="http://schemas.microsoft.com/office/powerpoint/2010/main" val="19193734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651953-5709-C346-9830-4DACF9BEC893}"/>
              </a:ext>
            </a:extLst>
          </p:cNvPr>
          <p:cNvSpPr>
            <a:spLocks noGrp="1"/>
          </p:cNvSpPr>
          <p:nvPr>
            <p:ph type="title"/>
          </p:nvPr>
        </p:nvSpPr>
        <p:spPr/>
        <p:txBody>
          <a:bodyPr/>
          <a:lstStyle/>
          <a:p>
            <a:r>
              <a:rPr lang="nl-NL"/>
              <a:t>Klik om stijl te bewerken</a:t>
            </a:r>
            <a:endParaRPr lang="nl-BE"/>
          </a:p>
        </p:txBody>
      </p:sp>
      <p:sp>
        <p:nvSpPr>
          <p:cNvPr id="3" name="Tijdelijke aanduiding voor verticale tekst 2">
            <a:extLst>
              <a:ext uri="{FF2B5EF4-FFF2-40B4-BE49-F238E27FC236}">
                <a16:creationId xmlns:a16="http://schemas.microsoft.com/office/drawing/2014/main" id="{92AB7D06-0B41-464A-81D8-4E4265A08357}"/>
              </a:ext>
            </a:extLst>
          </p:cNvPr>
          <p:cNvSpPr>
            <a:spLocks noGrp="1"/>
          </p:cNvSpPr>
          <p:nvPr>
            <p:ph type="body" orient="vert" idx="1"/>
          </p:nvPr>
        </p:nvSpPr>
        <p:spPr/>
        <p:txBody>
          <a:bodyPr vert="eaVert"/>
          <a:lstStyle/>
          <a:p>
            <a:r>
              <a:rPr lang="nl-NL"/>
              <a:t>Tekststijl van het model bewerken
Tweede niveau
Derde niveau
Vierde niveau
Vijfde niveau</a:t>
            </a:r>
            <a:endParaRPr lang="nl-BE"/>
          </a:p>
        </p:txBody>
      </p:sp>
      <p:sp>
        <p:nvSpPr>
          <p:cNvPr id="4" name="Tijdelijke aanduiding voor datum 3">
            <a:extLst>
              <a:ext uri="{FF2B5EF4-FFF2-40B4-BE49-F238E27FC236}">
                <a16:creationId xmlns:a16="http://schemas.microsoft.com/office/drawing/2014/main" id="{D34C3ED1-5C37-D044-9DA7-7B37858E7B03}"/>
              </a:ext>
            </a:extLst>
          </p:cNvPr>
          <p:cNvSpPr>
            <a:spLocks noGrp="1"/>
          </p:cNvSpPr>
          <p:nvPr>
            <p:ph type="dt" sz="half" idx="10"/>
          </p:nvPr>
        </p:nvSpPr>
        <p:spPr/>
        <p:txBody>
          <a:bodyPr/>
          <a:lstStyle/>
          <a:p>
            <a:fld id="{29B8F137-4498-6546-A0F7-9C6144598169}" type="datetimeFigureOut">
              <a:rPr lang="nl-BE" smtClean="0"/>
              <a:t>20/03/2021</a:t>
            </a:fld>
            <a:endParaRPr lang="nl-BE"/>
          </a:p>
        </p:txBody>
      </p:sp>
      <p:sp>
        <p:nvSpPr>
          <p:cNvPr id="5" name="Tijdelijke aanduiding voor voettekst 4">
            <a:extLst>
              <a:ext uri="{FF2B5EF4-FFF2-40B4-BE49-F238E27FC236}">
                <a16:creationId xmlns:a16="http://schemas.microsoft.com/office/drawing/2014/main" id="{7E0A449E-5690-5840-AE87-B9D46EB2F431}"/>
              </a:ext>
            </a:extLst>
          </p:cNvPr>
          <p:cNvSpPr>
            <a:spLocks noGrp="1"/>
          </p:cNvSpPr>
          <p:nvPr>
            <p:ph type="ftr" sz="quarter" idx="11"/>
          </p:nvPr>
        </p:nvSpPr>
        <p:spPr/>
        <p:txBody>
          <a:bodyPr/>
          <a:lstStyle/>
          <a:p>
            <a:endParaRPr lang="nl-BE"/>
          </a:p>
        </p:txBody>
      </p:sp>
      <p:sp>
        <p:nvSpPr>
          <p:cNvPr id="6" name="Tijdelijke aanduiding voor dianummer 5">
            <a:extLst>
              <a:ext uri="{FF2B5EF4-FFF2-40B4-BE49-F238E27FC236}">
                <a16:creationId xmlns:a16="http://schemas.microsoft.com/office/drawing/2014/main" id="{E9EC814F-0462-3E48-96B3-C559F5F4B914}"/>
              </a:ext>
            </a:extLst>
          </p:cNvPr>
          <p:cNvSpPr>
            <a:spLocks noGrp="1"/>
          </p:cNvSpPr>
          <p:nvPr>
            <p:ph type="sldNum" sz="quarter" idx="12"/>
          </p:nvPr>
        </p:nvSpPr>
        <p:spPr/>
        <p:txBody>
          <a:bodyPr/>
          <a:lstStyle/>
          <a:p>
            <a:fld id="{A6CE4901-6337-5C40-87EF-AC841C55717C}" type="slidenum">
              <a:rPr lang="nl-BE" smtClean="0"/>
              <a:t>‹nr.›</a:t>
            </a:fld>
            <a:endParaRPr lang="nl-BE"/>
          </a:p>
        </p:txBody>
      </p:sp>
    </p:spTree>
    <p:extLst>
      <p:ext uri="{BB962C8B-B14F-4D97-AF65-F5344CB8AC3E}">
        <p14:creationId xmlns:p14="http://schemas.microsoft.com/office/powerpoint/2010/main" val="28932296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4126C97F-DD48-B041-8502-23AD9A61B1FD}"/>
              </a:ext>
            </a:extLst>
          </p:cNvPr>
          <p:cNvSpPr>
            <a:spLocks noGrp="1"/>
          </p:cNvSpPr>
          <p:nvPr>
            <p:ph type="title" orient="vert"/>
          </p:nvPr>
        </p:nvSpPr>
        <p:spPr>
          <a:xfrm>
            <a:off x="8724900" y="365125"/>
            <a:ext cx="2628900" cy="5811838"/>
          </a:xfrm>
        </p:spPr>
        <p:txBody>
          <a:bodyPr vert="eaVert"/>
          <a:lstStyle/>
          <a:p>
            <a:r>
              <a:rPr lang="nl-NL"/>
              <a:t>Klik om stijl te bewerken</a:t>
            </a:r>
            <a:endParaRPr lang="nl-BE"/>
          </a:p>
        </p:txBody>
      </p:sp>
      <p:sp>
        <p:nvSpPr>
          <p:cNvPr id="3" name="Tijdelijke aanduiding voor verticale tekst 2">
            <a:extLst>
              <a:ext uri="{FF2B5EF4-FFF2-40B4-BE49-F238E27FC236}">
                <a16:creationId xmlns:a16="http://schemas.microsoft.com/office/drawing/2014/main" id="{D55AB6EC-CACB-5746-8335-B140C8603378}"/>
              </a:ext>
            </a:extLst>
          </p:cNvPr>
          <p:cNvSpPr>
            <a:spLocks noGrp="1"/>
          </p:cNvSpPr>
          <p:nvPr>
            <p:ph type="body" orient="vert" idx="1"/>
          </p:nvPr>
        </p:nvSpPr>
        <p:spPr>
          <a:xfrm>
            <a:off x="838200" y="365125"/>
            <a:ext cx="7734300" cy="5811838"/>
          </a:xfrm>
        </p:spPr>
        <p:txBody>
          <a:bodyPr vert="eaVert"/>
          <a:lstStyle/>
          <a:p>
            <a:r>
              <a:rPr lang="nl-NL"/>
              <a:t>Tekststijl van het model bewerken
Tweede niveau
Derde niveau
Vierde niveau
Vijfde niveau</a:t>
            </a:r>
            <a:endParaRPr lang="nl-BE"/>
          </a:p>
        </p:txBody>
      </p:sp>
      <p:sp>
        <p:nvSpPr>
          <p:cNvPr id="4" name="Tijdelijke aanduiding voor datum 3">
            <a:extLst>
              <a:ext uri="{FF2B5EF4-FFF2-40B4-BE49-F238E27FC236}">
                <a16:creationId xmlns:a16="http://schemas.microsoft.com/office/drawing/2014/main" id="{A75605DA-9BCD-8C4F-B303-093FAEBBF922}"/>
              </a:ext>
            </a:extLst>
          </p:cNvPr>
          <p:cNvSpPr>
            <a:spLocks noGrp="1"/>
          </p:cNvSpPr>
          <p:nvPr>
            <p:ph type="dt" sz="half" idx="10"/>
          </p:nvPr>
        </p:nvSpPr>
        <p:spPr/>
        <p:txBody>
          <a:bodyPr/>
          <a:lstStyle/>
          <a:p>
            <a:fld id="{29B8F137-4498-6546-A0F7-9C6144598169}" type="datetimeFigureOut">
              <a:rPr lang="nl-BE" smtClean="0"/>
              <a:t>20/03/2021</a:t>
            </a:fld>
            <a:endParaRPr lang="nl-BE"/>
          </a:p>
        </p:txBody>
      </p:sp>
      <p:sp>
        <p:nvSpPr>
          <p:cNvPr id="5" name="Tijdelijke aanduiding voor voettekst 4">
            <a:extLst>
              <a:ext uri="{FF2B5EF4-FFF2-40B4-BE49-F238E27FC236}">
                <a16:creationId xmlns:a16="http://schemas.microsoft.com/office/drawing/2014/main" id="{27EAEDD7-BD0E-7742-9973-5C19061A89A4}"/>
              </a:ext>
            </a:extLst>
          </p:cNvPr>
          <p:cNvSpPr>
            <a:spLocks noGrp="1"/>
          </p:cNvSpPr>
          <p:nvPr>
            <p:ph type="ftr" sz="quarter" idx="11"/>
          </p:nvPr>
        </p:nvSpPr>
        <p:spPr/>
        <p:txBody>
          <a:bodyPr/>
          <a:lstStyle/>
          <a:p>
            <a:endParaRPr lang="nl-BE"/>
          </a:p>
        </p:txBody>
      </p:sp>
      <p:sp>
        <p:nvSpPr>
          <p:cNvPr id="6" name="Tijdelijke aanduiding voor dianummer 5">
            <a:extLst>
              <a:ext uri="{FF2B5EF4-FFF2-40B4-BE49-F238E27FC236}">
                <a16:creationId xmlns:a16="http://schemas.microsoft.com/office/drawing/2014/main" id="{0909047D-B4A8-2C4D-AD50-7735EAD2950B}"/>
              </a:ext>
            </a:extLst>
          </p:cNvPr>
          <p:cNvSpPr>
            <a:spLocks noGrp="1"/>
          </p:cNvSpPr>
          <p:nvPr>
            <p:ph type="sldNum" sz="quarter" idx="12"/>
          </p:nvPr>
        </p:nvSpPr>
        <p:spPr/>
        <p:txBody>
          <a:bodyPr/>
          <a:lstStyle/>
          <a:p>
            <a:fld id="{A6CE4901-6337-5C40-87EF-AC841C55717C}" type="slidenum">
              <a:rPr lang="nl-BE" smtClean="0"/>
              <a:t>‹nr.›</a:t>
            </a:fld>
            <a:endParaRPr lang="nl-BE"/>
          </a:p>
        </p:txBody>
      </p:sp>
    </p:spTree>
    <p:extLst>
      <p:ext uri="{BB962C8B-B14F-4D97-AF65-F5344CB8AC3E}">
        <p14:creationId xmlns:p14="http://schemas.microsoft.com/office/powerpoint/2010/main" val="3533316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1D25E4F1-75DE-8844-B999-10095AC350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endParaRPr lang="nl-BE"/>
          </a:p>
        </p:txBody>
      </p:sp>
      <p:sp>
        <p:nvSpPr>
          <p:cNvPr id="3" name="Tijdelijke aanduiding voor tekst 2">
            <a:extLst>
              <a:ext uri="{FF2B5EF4-FFF2-40B4-BE49-F238E27FC236}">
                <a16:creationId xmlns:a16="http://schemas.microsoft.com/office/drawing/2014/main" id="{35D7BEED-E866-A941-95E1-91B93FF915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r>
              <a:rPr lang="nl-NL"/>
              <a:t>Tekststijl van het model bewerken
Tweede niveau
Derde niveau
Vierde niveau
Vijfde niveau</a:t>
            </a:r>
            <a:endParaRPr lang="nl-BE"/>
          </a:p>
        </p:txBody>
      </p:sp>
      <p:sp>
        <p:nvSpPr>
          <p:cNvPr id="4" name="Tijdelijke aanduiding voor datum 3">
            <a:extLst>
              <a:ext uri="{FF2B5EF4-FFF2-40B4-BE49-F238E27FC236}">
                <a16:creationId xmlns:a16="http://schemas.microsoft.com/office/drawing/2014/main" id="{BE7000C2-EC6D-3142-99F3-69402F12EF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B8F137-4498-6546-A0F7-9C6144598169}" type="datetimeFigureOut">
              <a:rPr lang="nl-BE" smtClean="0"/>
              <a:t>20/03/2021</a:t>
            </a:fld>
            <a:endParaRPr lang="nl-BE"/>
          </a:p>
        </p:txBody>
      </p:sp>
      <p:sp>
        <p:nvSpPr>
          <p:cNvPr id="5" name="Tijdelijke aanduiding voor voettekst 4">
            <a:extLst>
              <a:ext uri="{FF2B5EF4-FFF2-40B4-BE49-F238E27FC236}">
                <a16:creationId xmlns:a16="http://schemas.microsoft.com/office/drawing/2014/main" id="{F52033F1-E0C6-384E-98FA-46EF865052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BE"/>
          </a:p>
        </p:txBody>
      </p:sp>
      <p:sp>
        <p:nvSpPr>
          <p:cNvPr id="6" name="Tijdelijke aanduiding voor dianummer 5">
            <a:extLst>
              <a:ext uri="{FF2B5EF4-FFF2-40B4-BE49-F238E27FC236}">
                <a16:creationId xmlns:a16="http://schemas.microsoft.com/office/drawing/2014/main" id="{95604257-E78A-F14E-B81E-18DB0139C2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CE4901-6337-5C40-87EF-AC841C55717C}" type="slidenum">
              <a:rPr lang="nl-BE" smtClean="0"/>
              <a:t>‹nr.›</a:t>
            </a:fld>
            <a:endParaRPr lang="nl-BE"/>
          </a:p>
        </p:txBody>
      </p:sp>
    </p:spTree>
    <p:extLst>
      <p:ext uri="{BB962C8B-B14F-4D97-AF65-F5344CB8AC3E}">
        <p14:creationId xmlns:p14="http://schemas.microsoft.com/office/powerpoint/2010/main" val="39118345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liersejeugd.be/jeugdopleiding/6-cycli/cyclus1/"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hyperlink" Target="http://liersejeugd.be/jeugdopleiding/6-cycli/cyclus2/"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liersejeugd.be/jeugdopleiding/6-cycli/cyclus3/"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hyperlink" Target="http://liersejeugd.be/jeugdopleiding/6-cycli/cyclus4/"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hyperlink" Target="http://liersejeugd.be/jeugdopleiding/6-cycli/cyclus5/"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945536" y="278562"/>
            <a:ext cx="8363414" cy="525988"/>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chemeClr val="bg1"/>
              </a:solidFill>
            </a:endParaRPr>
          </a:p>
        </p:txBody>
      </p:sp>
      <p:sp>
        <p:nvSpPr>
          <p:cNvPr id="9" name="TextBox 8"/>
          <p:cNvSpPr txBox="1"/>
          <p:nvPr/>
        </p:nvSpPr>
        <p:spPr>
          <a:xfrm>
            <a:off x="1945536" y="278562"/>
            <a:ext cx="8363413" cy="584775"/>
          </a:xfrm>
          <a:prstGeom prst="rect">
            <a:avLst/>
          </a:prstGeom>
          <a:noFill/>
        </p:spPr>
        <p:txBody>
          <a:bodyPr wrap="square" rtlCol="0">
            <a:spAutoFit/>
          </a:bodyPr>
          <a:lstStyle/>
          <a:p>
            <a:pPr algn="ctr"/>
            <a:r>
              <a:rPr lang="nl-BE" sz="3200" dirty="0">
                <a:solidFill>
                  <a:schemeClr val="bg1"/>
                </a:solidFill>
                <a:latin typeface="+mj-lt"/>
              </a:rPr>
              <a:t>De Ik Dien training</a:t>
            </a:r>
          </a:p>
        </p:txBody>
      </p:sp>
      <p:pic>
        <p:nvPicPr>
          <p:cNvPr id="6" name="Afbeelding 5">
            <a:extLst>
              <a:ext uri="{FF2B5EF4-FFF2-40B4-BE49-F238E27FC236}">
                <a16:creationId xmlns:a16="http://schemas.microsoft.com/office/drawing/2014/main" id="{BC8168FC-BD6E-8042-A823-FB3A53F7EDD4}"/>
              </a:ext>
            </a:extLst>
          </p:cNvPr>
          <p:cNvPicPr>
            <a:picLocks/>
          </p:cNvPicPr>
          <p:nvPr/>
        </p:nvPicPr>
        <p:blipFill>
          <a:blip r:embed="rId2">
            <a:extLst>
              <a:ext uri="{BEBA8EAE-BF5A-486C-A8C5-ECC9F3942E4B}">
                <a14:imgProps xmlns:a14="http://schemas.microsoft.com/office/drawing/2010/main">
                  <a14:imgLayer>
                    <a14:imgEffect>
                      <a14:saturation sat="114000"/>
                    </a14:imgEffect>
                  </a14:imgLayer>
                </a14:imgProps>
              </a:ext>
            </a:extLst>
          </a:blip>
          <a:stretch>
            <a:fillRect/>
          </a:stretch>
        </p:blipFill>
        <p:spPr>
          <a:xfrm>
            <a:off x="78059" y="12270"/>
            <a:ext cx="936000" cy="1117360"/>
          </a:xfrm>
          <a:prstGeom prst="rect">
            <a:avLst/>
          </a:prstGeom>
          <a:noFill/>
        </p:spPr>
      </p:pic>
      <p:pic>
        <p:nvPicPr>
          <p:cNvPr id="8" name="Afbeelding 7">
            <a:extLst>
              <a:ext uri="{FF2B5EF4-FFF2-40B4-BE49-F238E27FC236}">
                <a16:creationId xmlns:a16="http://schemas.microsoft.com/office/drawing/2014/main" id="{AF3B3B37-79CB-8748-BF7D-E4342C9C5482}"/>
              </a:ext>
            </a:extLst>
          </p:cNvPr>
          <p:cNvPicPr>
            <a:picLocks/>
          </p:cNvPicPr>
          <p:nvPr/>
        </p:nvPicPr>
        <p:blipFill>
          <a:blip r:embed="rId2">
            <a:extLst>
              <a:ext uri="{BEBA8EAE-BF5A-486C-A8C5-ECC9F3942E4B}">
                <a14:imgProps xmlns:a14="http://schemas.microsoft.com/office/drawing/2010/main">
                  <a14:imgLayer>
                    <a14:imgEffect>
                      <a14:saturation sat="114000"/>
                    </a14:imgEffect>
                  </a14:imgLayer>
                </a14:imgProps>
              </a:ext>
            </a:extLst>
          </a:blip>
          <a:stretch>
            <a:fillRect/>
          </a:stretch>
        </p:blipFill>
        <p:spPr>
          <a:xfrm>
            <a:off x="11240428" y="0"/>
            <a:ext cx="936000" cy="1117360"/>
          </a:xfrm>
          <a:prstGeom prst="rect">
            <a:avLst/>
          </a:prstGeom>
          <a:noFill/>
        </p:spPr>
      </p:pic>
      <p:pic>
        <p:nvPicPr>
          <p:cNvPr id="3" name="Afbeelding 2">
            <a:extLst>
              <a:ext uri="{FF2B5EF4-FFF2-40B4-BE49-F238E27FC236}">
                <a16:creationId xmlns:a16="http://schemas.microsoft.com/office/drawing/2014/main" id="{BF8988F5-0ECA-5544-ADDD-2F7CE4DF5125}"/>
              </a:ext>
            </a:extLst>
          </p:cNvPr>
          <p:cNvPicPr>
            <a:picLocks noChangeAspect="1"/>
          </p:cNvPicPr>
          <p:nvPr/>
        </p:nvPicPr>
        <p:blipFill>
          <a:blip r:embed="rId3"/>
          <a:stretch>
            <a:fillRect/>
          </a:stretch>
        </p:blipFill>
        <p:spPr>
          <a:xfrm>
            <a:off x="1945536" y="891076"/>
            <a:ext cx="8363413" cy="5966924"/>
          </a:xfrm>
          <a:prstGeom prst="rect">
            <a:avLst/>
          </a:prstGeom>
        </p:spPr>
      </p:pic>
      <p:pic>
        <p:nvPicPr>
          <p:cNvPr id="10" name="Afbeelding 9">
            <a:extLst>
              <a:ext uri="{FF2B5EF4-FFF2-40B4-BE49-F238E27FC236}">
                <a16:creationId xmlns:a16="http://schemas.microsoft.com/office/drawing/2014/main" id="{7B03ABB9-35AB-8347-91D2-738F7B8EBEF4}"/>
              </a:ext>
            </a:extLst>
          </p:cNvPr>
          <p:cNvPicPr/>
          <p:nvPr/>
        </p:nvPicPr>
        <p:blipFill>
          <a:blip r:embed="rId4">
            <a:extLst>
              <a:ext uri="{28A0092B-C50C-407E-A947-70E740481C1C}">
                <a14:useLocalDpi xmlns:a14="http://schemas.microsoft.com/office/drawing/2010/main" val="0"/>
              </a:ext>
            </a:extLst>
          </a:blip>
          <a:stretch>
            <a:fillRect/>
          </a:stretch>
        </p:blipFill>
        <p:spPr>
          <a:xfrm>
            <a:off x="156807" y="3099838"/>
            <a:ext cx="1714500" cy="1549400"/>
          </a:xfrm>
          <a:prstGeom prst="rect">
            <a:avLst/>
          </a:prstGeom>
        </p:spPr>
      </p:pic>
      <p:pic>
        <p:nvPicPr>
          <p:cNvPr id="11" name="Afbeelding 10">
            <a:extLst>
              <a:ext uri="{FF2B5EF4-FFF2-40B4-BE49-F238E27FC236}">
                <a16:creationId xmlns:a16="http://schemas.microsoft.com/office/drawing/2014/main" id="{F700A7CC-F581-3E4B-B876-C4ADD40EACA6}"/>
              </a:ext>
            </a:extLst>
          </p:cNvPr>
          <p:cNvPicPr/>
          <p:nvPr/>
        </p:nvPicPr>
        <p:blipFill>
          <a:blip r:embed="rId5">
            <a:extLst>
              <a:ext uri="{28A0092B-C50C-407E-A947-70E740481C1C}">
                <a14:useLocalDpi xmlns:a14="http://schemas.microsoft.com/office/drawing/2010/main" val="0"/>
              </a:ext>
            </a:extLst>
          </a:blip>
          <a:stretch>
            <a:fillRect/>
          </a:stretch>
        </p:blipFill>
        <p:spPr>
          <a:xfrm>
            <a:off x="10530569" y="3271288"/>
            <a:ext cx="1511300" cy="1206500"/>
          </a:xfrm>
          <a:prstGeom prst="rect">
            <a:avLst/>
          </a:prstGeom>
        </p:spPr>
      </p:pic>
    </p:spTree>
    <p:extLst>
      <p:ext uri="{BB962C8B-B14F-4D97-AF65-F5344CB8AC3E}">
        <p14:creationId xmlns:p14="http://schemas.microsoft.com/office/powerpoint/2010/main" val="2523827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950719" y="295686"/>
            <a:ext cx="8307977" cy="525988"/>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9" name="TextBox 8"/>
          <p:cNvSpPr txBox="1"/>
          <p:nvPr/>
        </p:nvSpPr>
        <p:spPr>
          <a:xfrm>
            <a:off x="1950719" y="266292"/>
            <a:ext cx="8307977" cy="584775"/>
          </a:xfrm>
          <a:prstGeom prst="rect">
            <a:avLst/>
          </a:prstGeom>
          <a:noFill/>
        </p:spPr>
        <p:txBody>
          <a:bodyPr wrap="square" rtlCol="0">
            <a:spAutoFit/>
          </a:bodyPr>
          <a:lstStyle/>
          <a:p>
            <a:pPr algn="ctr"/>
            <a:r>
              <a:rPr lang="nl-BE" sz="3200" dirty="0">
                <a:solidFill>
                  <a:schemeClr val="bg1"/>
                </a:solidFill>
                <a:latin typeface="+mj-lt"/>
              </a:rPr>
              <a:t>JAARPERIODISERING</a:t>
            </a:r>
          </a:p>
        </p:txBody>
      </p:sp>
      <p:pic>
        <p:nvPicPr>
          <p:cNvPr id="6" name="Afbeelding 5">
            <a:extLst>
              <a:ext uri="{FF2B5EF4-FFF2-40B4-BE49-F238E27FC236}">
                <a16:creationId xmlns:a16="http://schemas.microsoft.com/office/drawing/2014/main" id="{56012C13-3AC9-FB45-A83A-DF457EF3EF51}"/>
              </a:ext>
            </a:extLst>
          </p:cNvPr>
          <p:cNvPicPr>
            <a:picLocks/>
          </p:cNvPicPr>
          <p:nvPr/>
        </p:nvPicPr>
        <p:blipFill>
          <a:blip r:embed="rId2">
            <a:extLst>
              <a:ext uri="{BEBA8EAE-BF5A-486C-A8C5-ECC9F3942E4B}">
                <a14:imgProps xmlns:a14="http://schemas.microsoft.com/office/drawing/2010/main">
                  <a14:imgLayer>
                    <a14:imgEffect>
                      <a14:saturation sat="114000"/>
                    </a14:imgEffect>
                  </a14:imgLayer>
                </a14:imgProps>
              </a:ext>
            </a:extLst>
          </a:blip>
          <a:stretch>
            <a:fillRect/>
          </a:stretch>
        </p:blipFill>
        <p:spPr>
          <a:xfrm>
            <a:off x="0" y="0"/>
            <a:ext cx="936000" cy="1117360"/>
          </a:xfrm>
          <a:prstGeom prst="rect">
            <a:avLst/>
          </a:prstGeom>
          <a:noFill/>
        </p:spPr>
      </p:pic>
      <p:pic>
        <p:nvPicPr>
          <p:cNvPr id="8" name="Afbeelding 7">
            <a:extLst>
              <a:ext uri="{FF2B5EF4-FFF2-40B4-BE49-F238E27FC236}">
                <a16:creationId xmlns:a16="http://schemas.microsoft.com/office/drawing/2014/main" id="{04C57A49-0AFB-4E48-BDF0-6DDF557927F5}"/>
              </a:ext>
            </a:extLst>
          </p:cNvPr>
          <p:cNvPicPr>
            <a:picLocks/>
          </p:cNvPicPr>
          <p:nvPr/>
        </p:nvPicPr>
        <p:blipFill>
          <a:blip r:embed="rId2">
            <a:extLst>
              <a:ext uri="{BEBA8EAE-BF5A-486C-A8C5-ECC9F3942E4B}">
                <a14:imgProps xmlns:a14="http://schemas.microsoft.com/office/drawing/2010/main">
                  <a14:imgLayer>
                    <a14:imgEffect>
                      <a14:saturation sat="114000"/>
                    </a14:imgEffect>
                  </a14:imgLayer>
                </a14:imgProps>
              </a:ext>
            </a:extLst>
          </a:blip>
          <a:stretch>
            <a:fillRect/>
          </a:stretch>
        </p:blipFill>
        <p:spPr>
          <a:xfrm>
            <a:off x="11240428" y="0"/>
            <a:ext cx="936000" cy="1117360"/>
          </a:xfrm>
          <a:prstGeom prst="rect">
            <a:avLst/>
          </a:prstGeom>
          <a:noFill/>
        </p:spPr>
      </p:pic>
      <p:sp>
        <p:nvSpPr>
          <p:cNvPr id="3" name="Rechthoek 2">
            <a:extLst>
              <a:ext uri="{FF2B5EF4-FFF2-40B4-BE49-F238E27FC236}">
                <a16:creationId xmlns:a16="http://schemas.microsoft.com/office/drawing/2014/main" id="{2437459D-0ACA-9C49-9457-8AF2824ABD47}"/>
              </a:ext>
            </a:extLst>
          </p:cNvPr>
          <p:cNvSpPr/>
          <p:nvPr/>
        </p:nvSpPr>
        <p:spPr>
          <a:xfrm>
            <a:off x="1950718" y="1117360"/>
            <a:ext cx="8307977" cy="4696157"/>
          </a:xfrm>
          <a:prstGeom prst="rect">
            <a:avLst/>
          </a:prstGeom>
        </p:spPr>
        <p:txBody>
          <a:bodyPr wrap="square">
            <a:spAutoFit/>
          </a:bodyPr>
          <a:lstStyle/>
          <a:p>
            <a:pPr marL="457200">
              <a:spcAft>
                <a:spcPts val="1800"/>
              </a:spcAft>
            </a:pPr>
            <a:r>
              <a:rPr lang="nl-BE" sz="2000" dirty="0">
                <a:solidFill>
                  <a:srgbClr val="383E41"/>
                </a:solidFill>
                <a:effectLst/>
                <a:latin typeface="Nunito"/>
                <a:ea typeface="Times New Roman" panose="02020603050405020304" pitchFamily="18" charset="0"/>
                <a:cs typeface="Segoe UI" panose="020B0502040204020203" pitchFamily="34" charset="0"/>
              </a:rPr>
              <a:t>Bij IK DIEN werken we het ganse jaar in 6 trainingscycli. Elke cyclus heeft zijn specifieke thema’s. </a:t>
            </a:r>
            <a:br>
              <a:rPr lang="nl-BE" sz="2000" dirty="0">
                <a:solidFill>
                  <a:srgbClr val="383E41"/>
                </a:solidFill>
                <a:effectLst/>
                <a:latin typeface="Nunito"/>
                <a:ea typeface="Times New Roman" panose="02020603050405020304" pitchFamily="18" charset="0"/>
                <a:cs typeface="Segoe UI" panose="020B0502040204020203" pitchFamily="34" charset="0"/>
              </a:rPr>
            </a:br>
            <a:br>
              <a:rPr lang="nl-BE" sz="2000" dirty="0">
                <a:solidFill>
                  <a:srgbClr val="383E41"/>
                </a:solidFill>
                <a:effectLst/>
                <a:latin typeface="Nunito"/>
                <a:ea typeface="Times New Roman" panose="02020603050405020304" pitchFamily="18" charset="0"/>
                <a:cs typeface="Segoe UI" panose="020B0502040204020203" pitchFamily="34" charset="0"/>
              </a:rPr>
            </a:br>
            <a:r>
              <a:rPr lang="nl-BE" sz="2000" dirty="0">
                <a:solidFill>
                  <a:srgbClr val="383E41"/>
                </a:solidFill>
                <a:effectLst/>
                <a:latin typeface="Nunito"/>
                <a:ea typeface="Times New Roman" panose="02020603050405020304" pitchFamily="18" charset="0"/>
                <a:cs typeface="Segoe UI" panose="020B0502040204020203" pitchFamily="34" charset="0"/>
              </a:rPr>
              <a:t>Aan het begin van elke cyclus houden we een uitgebreide trainersvergadering en een praktische </a:t>
            </a:r>
            <a:r>
              <a:rPr lang="nl-BE" sz="2000" dirty="0" err="1">
                <a:solidFill>
                  <a:srgbClr val="383E41"/>
                </a:solidFill>
                <a:effectLst/>
                <a:latin typeface="Nunito"/>
                <a:ea typeface="Times New Roman" panose="02020603050405020304" pitchFamily="18" charset="0"/>
                <a:cs typeface="Segoe UI" panose="020B0502040204020203" pitchFamily="34" charset="0"/>
              </a:rPr>
              <a:t>clinic</a:t>
            </a:r>
            <a:r>
              <a:rPr lang="nl-BE" sz="2000" dirty="0">
                <a:solidFill>
                  <a:srgbClr val="383E41"/>
                </a:solidFill>
                <a:effectLst/>
                <a:latin typeface="Nunito"/>
                <a:ea typeface="Times New Roman" panose="02020603050405020304" pitchFamily="18" charset="0"/>
                <a:cs typeface="Segoe UI" panose="020B0502040204020203" pitchFamily="34" charset="0"/>
              </a:rPr>
              <a:t>, onder leiding van Leo Callens.</a:t>
            </a:r>
            <a:br>
              <a:rPr lang="nl-BE" sz="2000" dirty="0">
                <a:solidFill>
                  <a:srgbClr val="383E41"/>
                </a:solidFill>
                <a:effectLst/>
                <a:latin typeface="Nunito"/>
                <a:ea typeface="Times New Roman" panose="02020603050405020304" pitchFamily="18" charset="0"/>
                <a:cs typeface="Segoe UI" panose="020B0502040204020203" pitchFamily="34" charset="0"/>
              </a:rPr>
            </a:br>
            <a:r>
              <a:rPr lang="nl-BE" sz="2000" dirty="0">
                <a:solidFill>
                  <a:srgbClr val="383E41"/>
                </a:solidFill>
                <a:effectLst/>
                <a:latin typeface="Nunito"/>
                <a:ea typeface="Times New Roman" panose="02020603050405020304" pitchFamily="18" charset="0"/>
                <a:cs typeface="Segoe UI" panose="020B0502040204020203" pitchFamily="34" charset="0"/>
              </a:rPr>
              <a:t>De periode die daarop volgt werken we op beide sites rond die specifieke thema’s trainingen uit.</a:t>
            </a:r>
            <a:endParaRPr lang="nl-BE" sz="2000" dirty="0">
              <a:effectLst/>
              <a:latin typeface="Calibri" panose="020F0502020204030204" pitchFamily="34" charset="0"/>
              <a:ea typeface="Calibri" panose="020F0502020204030204" pitchFamily="34" charset="0"/>
              <a:cs typeface="Times New Roman" panose="02020603050405020304" pitchFamily="18" charset="0"/>
            </a:endParaRPr>
          </a:p>
          <a:p>
            <a:pPr marL="457200">
              <a:spcAft>
                <a:spcPts val="1800"/>
              </a:spcAft>
            </a:pPr>
            <a:r>
              <a:rPr lang="nl-BE" sz="2000" dirty="0">
                <a:solidFill>
                  <a:srgbClr val="383E41"/>
                </a:solidFill>
                <a:effectLst/>
                <a:latin typeface="Nunito"/>
                <a:ea typeface="Times New Roman" panose="02020603050405020304" pitchFamily="18" charset="0"/>
                <a:cs typeface="Segoe UI" panose="020B0502040204020203" pitchFamily="34" charset="0"/>
              </a:rPr>
              <a:t>Elke training wordt steeds opgebouwd rond 4 hoofdcomponenten:</a:t>
            </a:r>
            <a:endParaRPr lang="nl-BE"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000" dirty="0">
                <a:solidFill>
                  <a:srgbClr val="212529"/>
                </a:solidFill>
                <a:effectLst/>
                <a:latin typeface="Nunito"/>
                <a:ea typeface="Times New Roman" panose="02020603050405020304" pitchFamily="18" charset="0"/>
                <a:cs typeface="Segoe UI" panose="020B0502040204020203" pitchFamily="34" charset="0"/>
              </a:rPr>
              <a:t>techniek</a:t>
            </a:r>
            <a:endParaRPr lang="nl-BE" sz="20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000" dirty="0">
                <a:solidFill>
                  <a:srgbClr val="212529"/>
                </a:solidFill>
                <a:effectLst/>
                <a:latin typeface="Nunito"/>
                <a:ea typeface="Times New Roman" panose="02020603050405020304" pitchFamily="18" charset="0"/>
                <a:cs typeface="Segoe UI" panose="020B0502040204020203" pitchFamily="34" charset="0"/>
              </a:rPr>
              <a:t>positiespel</a:t>
            </a:r>
            <a:endParaRPr lang="nl-BE" sz="20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000" dirty="0">
                <a:solidFill>
                  <a:srgbClr val="212529"/>
                </a:solidFill>
                <a:effectLst/>
                <a:latin typeface="Nunito"/>
                <a:ea typeface="Times New Roman" panose="02020603050405020304" pitchFamily="18" charset="0"/>
                <a:cs typeface="Segoe UI" panose="020B0502040204020203" pitchFamily="34" charset="0"/>
              </a:rPr>
              <a:t>spelsituatie</a:t>
            </a:r>
            <a:endParaRPr lang="nl-BE" sz="20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000" dirty="0">
                <a:solidFill>
                  <a:srgbClr val="212529"/>
                </a:solidFill>
                <a:effectLst/>
                <a:latin typeface="Nunito"/>
                <a:ea typeface="Times New Roman" panose="02020603050405020304" pitchFamily="18" charset="0"/>
                <a:cs typeface="Segoe UI" panose="020B0502040204020203" pitchFamily="34" charset="0"/>
              </a:rPr>
              <a:t>wedstrijdvorm</a:t>
            </a:r>
            <a:endParaRPr lang="nl-BE" sz="20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74283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950719" y="295686"/>
            <a:ext cx="8307977" cy="525988"/>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9" name="TextBox 8"/>
          <p:cNvSpPr txBox="1"/>
          <p:nvPr/>
        </p:nvSpPr>
        <p:spPr>
          <a:xfrm>
            <a:off x="1950719" y="266292"/>
            <a:ext cx="8307977" cy="584775"/>
          </a:xfrm>
          <a:prstGeom prst="rect">
            <a:avLst/>
          </a:prstGeom>
          <a:noFill/>
        </p:spPr>
        <p:txBody>
          <a:bodyPr wrap="square" rtlCol="0">
            <a:spAutoFit/>
          </a:bodyPr>
          <a:lstStyle/>
          <a:p>
            <a:pPr algn="ctr"/>
            <a:r>
              <a:rPr lang="nl-BE" sz="3200" dirty="0">
                <a:solidFill>
                  <a:schemeClr val="bg1"/>
                </a:solidFill>
                <a:latin typeface="+mj-lt"/>
              </a:rPr>
              <a:t>JAARPERIODISERING</a:t>
            </a:r>
          </a:p>
        </p:txBody>
      </p:sp>
      <p:pic>
        <p:nvPicPr>
          <p:cNvPr id="6" name="Afbeelding 5">
            <a:extLst>
              <a:ext uri="{FF2B5EF4-FFF2-40B4-BE49-F238E27FC236}">
                <a16:creationId xmlns:a16="http://schemas.microsoft.com/office/drawing/2014/main" id="{56012C13-3AC9-FB45-A83A-DF457EF3EF51}"/>
              </a:ext>
            </a:extLst>
          </p:cNvPr>
          <p:cNvPicPr>
            <a:picLocks/>
          </p:cNvPicPr>
          <p:nvPr/>
        </p:nvPicPr>
        <p:blipFill>
          <a:blip r:embed="rId2">
            <a:extLst>
              <a:ext uri="{BEBA8EAE-BF5A-486C-A8C5-ECC9F3942E4B}">
                <a14:imgProps xmlns:a14="http://schemas.microsoft.com/office/drawing/2010/main">
                  <a14:imgLayer>
                    <a14:imgEffect>
                      <a14:saturation sat="114000"/>
                    </a14:imgEffect>
                  </a14:imgLayer>
                </a14:imgProps>
              </a:ext>
            </a:extLst>
          </a:blip>
          <a:stretch>
            <a:fillRect/>
          </a:stretch>
        </p:blipFill>
        <p:spPr>
          <a:xfrm>
            <a:off x="0" y="0"/>
            <a:ext cx="936000" cy="1117360"/>
          </a:xfrm>
          <a:prstGeom prst="rect">
            <a:avLst/>
          </a:prstGeom>
          <a:noFill/>
        </p:spPr>
      </p:pic>
      <p:pic>
        <p:nvPicPr>
          <p:cNvPr id="8" name="Afbeelding 7">
            <a:extLst>
              <a:ext uri="{FF2B5EF4-FFF2-40B4-BE49-F238E27FC236}">
                <a16:creationId xmlns:a16="http://schemas.microsoft.com/office/drawing/2014/main" id="{04C57A49-0AFB-4E48-BDF0-6DDF557927F5}"/>
              </a:ext>
            </a:extLst>
          </p:cNvPr>
          <p:cNvPicPr>
            <a:picLocks/>
          </p:cNvPicPr>
          <p:nvPr/>
        </p:nvPicPr>
        <p:blipFill>
          <a:blip r:embed="rId2">
            <a:extLst>
              <a:ext uri="{BEBA8EAE-BF5A-486C-A8C5-ECC9F3942E4B}">
                <a14:imgProps xmlns:a14="http://schemas.microsoft.com/office/drawing/2010/main">
                  <a14:imgLayer>
                    <a14:imgEffect>
                      <a14:saturation sat="114000"/>
                    </a14:imgEffect>
                  </a14:imgLayer>
                </a14:imgProps>
              </a:ext>
            </a:extLst>
          </a:blip>
          <a:stretch>
            <a:fillRect/>
          </a:stretch>
        </p:blipFill>
        <p:spPr>
          <a:xfrm>
            <a:off x="11240428" y="0"/>
            <a:ext cx="936000" cy="1117360"/>
          </a:xfrm>
          <a:prstGeom prst="rect">
            <a:avLst/>
          </a:prstGeom>
          <a:noFill/>
        </p:spPr>
      </p:pic>
      <p:sp>
        <p:nvSpPr>
          <p:cNvPr id="2" name="Rechthoek 1">
            <a:extLst>
              <a:ext uri="{FF2B5EF4-FFF2-40B4-BE49-F238E27FC236}">
                <a16:creationId xmlns:a16="http://schemas.microsoft.com/office/drawing/2014/main" id="{D47B0028-49CE-FB4F-9B42-B366B9C6E43A}"/>
              </a:ext>
            </a:extLst>
          </p:cNvPr>
          <p:cNvSpPr/>
          <p:nvPr/>
        </p:nvSpPr>
        <p:spPr>
          <a:xfrm>
            <a:off x="1950718" y="1249859"/>
            <a:ext cx="8307977" cy="3508653"/>
          </a:xfrm>
          <a:prstGeom prst="rect">
            <a:avLst/>
          </a:prstGeom>
        </p:spPr>
        <p:txBody>
          <a:bodyPr wrap="square">
            <a:spAutoFit/>
          </a:bodyPr>
          <a:lstStyle/>
          <a:p>
            <a:pPr marL="457200">
              <a:spcAft>
                <a:spcPts val="1800"/>
              </a:spcAft>
            </a:pPr>
            <a:r>
              <a:rPr lang="nl-BE" sz="2400" dirty="0">
                <a:solidFill>
                  <a:srgbClr val="212529"/>
                </a:solidFill>
                <a:effectLst/>
                <a:latin typeface="Nunito"/>
                <a:ea typeface="Times New Roman" panose="02020603050405020304" pitchFamily="18" charset="0"/>
                <a:cs typeface="Segoe UI" panose="020B0502040204020203" pitchFamily="34" charset="0"/>
              </a:rPr>
              <a:t>En elke training eindigt met een leuke </a:t>
            </a:r>
            <a:r>
              <a:rPr lang="nl-BE" sz="2400" dirty="0" err="1">
                <a:solidFill>
                  <a:srgbClr val="212529"/>
                </a:solidFill>
                <a:effectLst/>
                <a:latin typeface="Nunito"/>
                <a:ea typeface="Times New Roman" panose="02020603050405020304" pitchFamily="18" charset="0"/>
                <a:cs typeface="Segoe UI" panose="020B0502040204020203" pitchFamily="34" charset="0"/>
              </a:rPr>
              <a:t>cooling</a:t>
            </a:r>
            <a:r>
              <a:rPr lang="nl-BE" sz="2400" dirty="0">
                <a:solidFill>
                  <a:srgbClr val="212529"/>
                </a:solidFill>
                <a:effectLst/>
                <a:latin typeface="Nunito"/>
                <a:ea typeface="Times New Roman" panose="02020603050405020304" pitchFamily="18" charset="0"/>
                <a:cs typeface="Segoe UI" panose="020B0502040204020203" pitchFamily="34" charset="0"/>
              </a:rPr>
              <a:t> down.</a:t>
            </a:r>
            <a:endParaRPr lang="nl-BE" sz="2400" dirty="0">
              <a:effectLst/>
              <a:latin typeface="Calibri" panose="020F0502020204030204" pitchFamily="34" charset="0"/>
              <a:ea typeface="Calibri" panose="020F0502020204030204" pitchFamily="34" charset="0"/>
              <a:cs typeface="Times New Roman" panose="02020603050405020304" pitchFamily="18" charset="0"/>
            </a:endParaRPr>
          </a:p>
          <a:p>
            <a:pPr marL="190500">
              <a:spcAft>
                <a:spcPts val="1800"/>
              </a:spcAft>
            </a:pPr>
            <a:r>
              <a:rPr lang="nl-BE" sz="2400" i="1" dirty="0">
                <a:solidFill>
                  <a:srgbClr val="212529"/>
                </a:solidFill>
                <a:effectLst/>
                <a:latin typeface="Nunito"/>
                <a:ea typeface="Times New Roman" panose="02020603050405020304" pitchFamily="18" charset="0"/>
                <a:cs typeface="Segoe UI" panose="020B0502040204020203" pitchFamily="34" charset="0"/>
              </a:rPr>
              <a:t>De doelstellingen uit elke cyclus houden we aan en worden af en toe nog eens herhaald: de opbouw van achteruit en spelers prikkelen om na te denken. </a:t>
            </a:r>
            <a:endParaRPr lang="nl-BE" sz="2400" dirty="0">
              <a:effectLst/>
              <a:latin typeface="Calibri" panose="020F0502020204030204" pitchFamily="34" charset="0"/>
              <a:ea typeface="Calibri" panose="020F0502020204030204" pitchFamily="34" charset="0"/>
              <a:cs typeface="Times New Roman" panose="02020603050405020304" pitchFamily="18" charset="0"/>
            </a:endParaRPr>
          </a:p>
          <a:p>
            <a:pPr marL="190500">
              <a:spcAft>
                <a:spcPts val="3000"/>
              </a:spcAft>
            </a:pPr>
            <a:r>
              <a:rPr lang="nl-BE" sz="2400" i="1" dirty="0">
                <a:solidFill>
                  <a:srgbClr val="212529"/>
                </a:solidFill>
                <a:effectLst/>
                <a:latin typeface="Nunito"/>
                <a:ea typeface="Times New Roman" panose="02020603050405020304" pitchFamily="18" charset="0"/>
                <a:cs typeface="Segoe UI" panose="020B0502040204020203" pitchFamily="34" charset="0"/>
              </a:rPr>
              <a:t>Tijdens de cyclus worden de trainingen geobserveerd door de sportief coördinator. Op het einde van elke cyclus overleggen ploegtrainers, zorgtrainer en sportief coördinator met elkaar rond de individuele vorderingen van elke speler</a:t>
            </a:r>
            <a:endParaRPr lang="nl-BE"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05656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950719" y="295686"/>
            <a:ext cx="8307977" cy="525988"/>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9" name="TextBox 8"/>
          <p:cNvSpPr txBox="1"/>
          <p:nvPr/>
        </p:nvSpPr>
        <p:spPr>
          <a:xfrm>
            <a:off x="1950719" y="266292"/>
            <a:ext cx="8307977" cy="584775"/>
          </a:xfrm>
          <a:prstGeom prst="rect">
            <a:avLst/>
          </a:prstGeom>
          <a:noFill/>
        </p:spPr>
        <p:txBody>
          <a:bodyPr wrap="square" rtlCol="0">
            <a:spAutoFit/>
          </a:bodyPr>
          <a:lstStyle/>
          <a:p>
            <a:pPr algn="ctr"/>
            <a:r>
              <a:rPr lang="nl-BE" sz="3200" dirty="0">
                <a:solidFill>
                  <a:schemeClr val="bg1"/>
                </a:solidFill>
                <a:latin typeface="+mj-lt"/>
              </a:rPr>
              <a:t>6 CYCLUSSSEN</a:t>
            </a:r>
          </a:p>
        </p:txBody>
      </p:sp>
      <p:pic>
        <p:nvPicPr>
          <p:cNvPr id="6" name="Afbeelding 5">
            <a:extLst>
              <a:ext uri="{FF2B5EF4-FFF2-40B4-BE49-F238E27FC236}">
                <a16:creationId xmlns:a16="http://schemas.microsoft.com/office/drawing/2014/main" id="{56012C13-3AC9-FB45-A83A-DF457EF3EF51}"/>
              </a:ext>
            </a:extLst>
          </p:cNvPr>
          <p:cNvPicPr>
            <a:picLocks/>
          </p:cNvPicPr>
          <p:nvPr/>
        </p:nvPicPr>
        <p:blipFill>
          <a:blip r:embed="rId2">
            <a:extLst>
              <a:ext uri="{BEBA8EAE-BF5A-486C-A8C5-ECC9F3942E4B}">
                <a14:imgProps xmlns:a14="http://schemas.microsoft.com/office/drawing/2010/main">
                  <a14:imgLayer>
                    <a14:imgEffect>
                      <a14:saturation sat="114000"/>
                    </a14:imgEffect>
                  </a14:imgLayer>
                </a14:imgProps>
              </a:ext>
            </a:extLst>
          </a:blip>
          <a:stretch>
            <a:fillRect/>
          </a:stretch>
        </p:blipFill>
        <p:spPr>
          <a:xfrm>
            <a:off x="0" y="0"/>
            <a:ext cx="936000" cy="1117360"/>
          </a:xfrm>
          <a:prstGeom prst="rect">
            <a:avLst/>
          </a:prstGeom>
          <a:noFill/>
        </p:spPr>
      </p:pic>
      <p:pic>
        <p:nvPicPr>
          <p:cNvPr id="8" name="Afbeelding 7">
            <a:extLst>
              <a:ext uri="{FF2B5EF4-FFF2-40B4-BE49-F238E27FC236}">
                <a16:creationId xmlns:a16="http://schemas.microsoft.com/office/drawing/2014/main" id="{04C57A49-0AFB-4E48-BDF0-6DDF557927F5}"/>
              </a:ext>
            </a:extLst>
          </p:cNvPr>
          <p:cNvPicPr>
            <a:picLocks/>
          </p:cNvPicPr>
          <p:nvPr/>
        </p:nvPicPr>
        <p:blipFill>
          <a:blip r:embed="rId2">
            <a:extLst>
              <a:ext uri="{BEBA8EAE-BF5A-486C-A8C5-ECC9F3942E4B}">
                <a14:imgProps xmlns:a14="http://schemas.microsoft.com/office/drawing/2010/main">
                  <a14:imgLayer>
                    <a14:imgEffect>
                      <a14:saturation sat="114000"/>
                    </a14:imgEffect>
                  </a14:imgLayer>
                </a14:imgProps>
              </a:ext>
            </a:extLst>
          </a:blip>
          <a:stretch>
            <a:fillRect/>
          </a:stretch>
        </p:blipFill>
        <p:spPr>
          <a:xfrm>
            <a:off x="11240428" y="0"/>
            <a:ext cx="936000" cy="1117360"/>
          </a:xfrm>
          <a:prstGeom prst="rect">
            <a:avLst/>
          </a:prstGeom>
          <a:noFill/>
        </p:spPr>
      </p:pic>
      <p:sp>
        <p:nvSpPr>
          <p:cNvPr id="10" name="Tekstvak 9">
            <a:extLst>
              <a:ext uri="{FF2B5EF4-FFF2-40B4-BE49-F238E27FC236}">
                <a16:creationId xmlns:a16="http://schemas.microsoft.com/office/drawing/2014/main" id="{FDF399AB-2609-46B4-8A40-F6EF21E76F90}"/>
              </a:ext>
            </a:extLst>
          </p:cNvPr>
          <p:cNvSpPr txBox="1"/>
          <p:nvPr/>
        </p:nvSpPr>
        <p:spPr>
          <a:xfrm>
            <a:off x="3040214" y="1117360"/>
            <a:ext cx="6096000" cy="5473293"/>
          </a:xfrm>
          <a:prstGeom prst="rect">
            <a:avLst/>
          </a:prstGeom>
          <a:noFill/>
        </p:spPr>
        <p:txBody>
          <a:bodyPr wrap="square">
            <a:spAutoFit/>
          </a:bodyPr>
          <a:lstStyle/>
          <a:p>
            <a:pPr marL="457200" algn="ctr">
              <a:spcAft>
                <a:spcPts val="500"/>
              </a:spcAft>
            </a:pPr>
            <a:r>
              <a:rPr lang="nl-BE" sz="2800" b="1" dirty="0">
                <a:solidFill>
                  <a:srgbClr val="555555"/>
                </a:solidFill>
                <a:effectLst/>
                <a:highlight>
                  <a:srgbClr val="FFFF00"/>
                </a:highlight>
                <a:latin typeface="Nunito"/>
                <a:ea typeface="Times New Roman" panose="02020603050405020304" pitchFamily="18" charset="0"/>
                <a:cs typeface="Segoe UI" panose="020B0502040204020203" pitchFamily="34" charset="0"/>
              </a:rPr>
              <a:t>1 </a:t>
            </a:r>
            <a:r>
              <a:rPr lang="nl-BE" sz="2800" dirty="0">
                <a:solidFill>
                  <a:srgbClr val="555555"/>
                </a:solidFill>
                <a:effectLst/>
                <a:highlight>
                  <a:srgbClr val="FFFF00"/>
                </a:highlight>
                <a:latin typeface="Nunito"/>
                <a:ea typeface="Times New Roman" panose="02020603050405020304" pitchFamily="18" charset="0"/>
                <a:cs typeface="Segoe UI" panose="020B0502040204020203" pitchFamily="34" charset="0"/>
              </a:rPr>
              <a:t>aug-sep-okt</a:t>
            </a:r>
            <a:r>
              <a:rPr lang="nl-BE" sz="2800" b="1" dirty="0">
                <a:solidFill>
                  <a:srgbClr val="555555"/>
                </a:solidFill>
                <a:effectLst/>
                <a:highlight>
                  <a:srgbClr val="FFFF00"/>
                </a:highlight>
                <a:latin typeface="Nunito"/>
                <a:ea typeface="Times New Roman" panose="02020603050405020304" pitchFamily="18" charset="0"/>
                <a:cs typeface="Segoe UI" panose="020B0502040204020203" pitchFamily="34" charset="0"/>
              </a:rPr>
              <a:t> </a:t>
            </a:r>
          </a:p>
          <a:p>
            <a:pPr marL="457200" algn="ctr">
              <a:spcAft>
                <a:spcPts val="500"/>
              </a:spcAft>
            </a:pPr>
            <a:endParaRPr lang="nl-BE"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ctr">
              <a:spcAft>
                <a:spcPts val="500"/>
              </a:spcAft>
              <a:buSzPts val="1000"/>
              <a:buFont typeface="Wingdings" panose="05000000000000000000" pitchFamily="2" charset="2"/>
              <a:buChar char=""/>
              <a:tabLst>
                <a:tab pos="457200" algn="l"/>
              </a:tabLst>
            </a:pPr>
            <a:r>
              <a:rPr lang="nl-BE" sz="2800" dirty="0">
                <a:solidFill>
                  <a:srgbClr val="212529"/>
                </a:solidFill>
                <a:effectLst/>
                <a:latin typeface="Nunito"/>
                <a:ea typeface="Times New Roman" panose="02020603050405020304" pitchFamily="18" charset="0"/>
                <a:cs typeface="Segoe UI" panose="020B0502040204020203" pitchFamily="34" charset="0"/>
              </a:rPr>
              <a:t>Afschermen v.d. bal</a:t>
            </a:r>
          </a:p>
          <a:p>
            <a:pPr marL="342900" lvl="0" indent="-342900" algn="ctr">
              <a:spcAft>
                <a:spcPts val="500"/>
              </a:spcAft>
              <a:buSzPts val="1000"/>
              <a:buFont typeface="Wingdings" panose="05000000000000000000" pitchFamily="2" charset="2"/>
              <a:buChar char=""/>
              <a:tabLst>
                <a:tab pos="457200" algn="l"/>
              </a:tabLst>
            </a:pPr>
            <a:r>
              <a:rPr lang="nl-BE" sz="2800" dirty="0">
                <a:solidFill>
                  <a:srgbClr val="212529"/>
                </a:solidFill>
                <a:effectLst/>
                <a:latin typeface="Nunito"/>
                <a:ea typeface="Times New Roman" panose="02020603050405020304" pitchFamily="18" charset="0"/>
                <a:cs typeface="Segoe UI" panose="020B0502040204020203" pitchFamily="34" charset="0"/>
              </a:rPr>
              <a:t> </a:t>
            </a:r>
            <a:endParaRPr lang="nl-BE" sz="2800" dirty="0">
              <a:effectLst/>
              <a:latin typeface="Symbol" panose="05050102010706020507" pitchFamily="18" charset="2"/>
              <a:ea typeface="Calibri" panose="020F0502020204030204" pitchFamily="34" charset="0"/>
              <a:cs typeface="Times New Roman" panose="02020603050405020304" pitchFamily="18" charset="0"/>
            </a:endParaRPr>
          </a:p>
          <a:p>
            <a:pPr marL="342900" lvl="0" indent="-342900" algn="ctr">
              <a:spcAft>
                <a:spcPts val="500"/>
              </a:spcAft>
              <a:buSzPts val="1000"/>
              <a:buFont typeface="Wingdings" panose="05000000000000000000" pitchFamily="2" charset="2"/>
              <a:buChar char=""/>
              <a:tabLst>
                <a:tab pos="457200" algn="l"/>
              </a:tabLst>
            </a:pPr>
            <a:r>
              <a:rPr lang="nl-BE" sz="2800" dirty="0">
                <a:solidFill>
                  <a:srgbClr val="212529"/>
                </a:solidFill>
                <a:effectLst/>
                <a:latin typeface="Nunito"/>
                <a:ea typeface="Times New Roman" panose="02020603050405020304" pitchFamily="18" charset="0"/>
                <a:cs typeface="Segoe UI" panose="020B0502040204020203" pitchFamily="34" charset="0"/>
              </a:rPr>
              <a:t>Progressief balbezit</a:t>
            </a:r>
          </a:p>
          <a:p>
            <a:pPr marL="342900" lvl="0" indent="-342900" algn="ctr">
              <a:spcAft>
                <a:spcPts val="500"/>
              </a:spcAft>
              <a:buSzPts val="1000"/>
              <a:buFont typeface="Wingdings" panose="05000000000000000000" pitchFamily="2" charset="2"/>
              <a:buChar char=""/>
              <a:tabLst>
                <a:tab pos="457200" algn="l"/>
              </a:tabLst>
            </a:pPr>
            <a:r>
              <a:rPr lang="nl-BE" sz="2800" dirty="0">
                <a:solidFill>
                  <a:srgbClr val="212529"/>
                </a:solidFill>
                <a:effectLst/>
                <a:latin typeface="Nunito"/>
                <a:ea typeface="Times New Roman" panose="02020603050405020304" pitchFamily="18" charset="0"/>
                <a:cs typeface="Segoe UI" panose="020B0502040204020203" pitchFamily="34" charset="0"/>
              </a:rPr>
              <a:t> </a:t>
            </a:r>
            <a:endParaRPr lang="nl-BE" sz="2800" dirty="0">
              <a:effectLst/>
              <a:latin typeface="Symbol" panose="05050102010706020507" pitchFamily="18" charset="2"/>
              <a:ea typeface="Calibri" panose="020F0502020204030204" pitchFamily="34" charset="0"/>
              <a:cs typeface="Times New Roman" panose="02020603050405020304" pitchFamily="18" charset="0"/>
            </a:endParaRPr>
          </a:p>
          <a:p>
            <a:pPr marL="342900" lvl="0" indent="-342900" algn="ctr">
              <a:spcAft>
                <a:spcPts val="500"/>
              </a:spcAft>
              <a:buSzPts val="1000"/>
              <a:buFont typeface="Wingdings" panose="05000000000000000000" pitchFamily="2" charset="2"/>
              <a:buChar char=""/>
              <a:tabLst>
                <a:tab pos="457200" algn="l"/>
              </a:tabLst>
            </a:pPr>
            <a:r>
              <a:rPr lang="nl-BE" sz="2800" dirty="0">
                <a:solidFill>
                  <a:srgbClr val="212529"/>
                </a:solidFill>
                <a:effectLst/>
                <a:latin typeface="Nunito"/>
                <a:ea typeface="Times New Roman" panose="02020603050405020304" pitchFamily="18" charset="0"/>
                <a:cs typeface="Segoe UI" panose="020B0502040204020203" pitchFamily="34" charset="0"/>
              </a:rPr>
              <a:t>Ruit en vierkant </a:t>
            </a:r>
          </a:p>
          <a:p>
            <a:pPr marL="342900" lvl="0" indent="-342900" algn="ctr">
              <a:spcAft>
                <a:spcPts val="500"/>
              </a:spcAft>
              <a:buSzPts val="1000"/>
              <a:buFont typeface="Wingdings" panose="05000000000000000000" pitchFamily="2" charset="2"/>
              <a:buChar char=""/>
              <a:tabLst>
                <a:tab pos="457200" algn="l"/>
              </a:tabLst>
            </a:pPr>
            <a:endParaRPr lang="nl-BE" sz="2800" dirty="0">
              <a:effectLst/>
              <a:latin typeface="Symbol" panose="05050102010706020507" pitchFamily="18" charset="2"/>
              <a:ea typeface="Calibri" panose="020F0502020204030204" pitchFamily="34" charset="0"/>
              <a:cs typeface="Times New Roman" panose="02020603050405020304" pitchFamily="18" charset="0"/>
            </a:endParaRPr>
          </a:p>
          <a:p>
            <a:pPr marL="342900" lvl="0" indent="-342900" algn="ctr">
              <a:spcAft>
                <a:spcPts val="500"/>
              </a:spcAft>
              <a:buSzPts val="1000"/>
              <a:buFont typeface="Wingdings" panose="05000000000000000000" pitchFamily="2" charset="2"/>
              <a:buChar char=""/>
              <a:tabLst>
                <a:tab pos="457200" algn="l"/>
              </a:tabLst>
            </a:pPr>
            <a:r>
              <a:rPr lang="nl-BE" sz="2800" dirty="0">
                <a:solidFill>
                  <a:srgbClr val="212529"/>
                </a:solidFill>
                <a:effectLst/>
                <a:latin typeface="Nunito"/>
                <a:ea typeface="Times New Roman" panose="02020603050405020304" pitchFamily="18" charset="0"/>
                <a:cs typeface="Segoe UI" panose="020B0502040204020203" pitchFamily="34" charset="0"/>
              </a:rPr>
              <a:t>Reactiespellen </a:t>
            </a:r>
          </a:p>
          <a:p>
            <a:pPr marL="342900" lvl="0" indent="-342900" algn="ctr">
              <a:spcAft>
                <a:spcPts val="500"/>
              </a:spcAft>
              <a:buSzPts val="1000"/>
              <a:buFont typeface="Wingdings" panose="05000000000000000000" pitchFamily="2" charset="2"/>
              <a:buChar char=""/>
              <a:tabLst>
                <a:tab pos="457200" algn="l"/>
              </a:tabLst>
            </a:pPr>
            <a:endParaRPr lang="nl-BE" sz="2800" dirty="0">
              <a:effectLst/>
              <a:latin typeface="Symbol" panose="05050102010706020507" pitchFamily="18" charset="2"/>
              <a:ea typeface="Calibri" panose="020F0502020204030204" pitchFamily="34" charset="0"/>
              <a:cs typeface="Times New Roman" panose="02020603050405020304" pitchFamily="18" charset="0"/>
            </a:endParaRPr>
          </a:p>
          <a:p>
            <a:pPr marL="457200" algn="ctr">
              <a:spcAft>
                <a:spcPts val="500"/>
              </a:spcAft>
            </a:pPr>
            <a:r>
              <a:rPr lang="nl-BE" sz="2800" u="sng" dirty="0">
                <a:solidFill>
                  <a:srgbClr val="404040"/>
                </a:solidFill>
                <a:effectLst/>
                <a:latin typeface="Nunito"/>
                <a:ea typeface="Times New Roman" panose="02020603050405020304" pitchFamily="18" charset="0"/>
                <a:cs typeface="Segoe UI" panose="020B0502040204020203" pitchFamily="34" charset="0"/>
                <a:hlinkClick r:id="rId3"/>
              </a:rPr>
              <a:t>Ontdek cyclus 1</a:t>
            </a:r>
            <a:r>
              <a:rPr lang="nl-BE" sz="2800" dirty="0">
                <a:solidFill>
                  <a:srgbClr val="212529"/>
                </a:solidFill>
                <a:effectLst/>
                <a:latin typeface="Nunito"/>
                <a:ea typeface="Times New Roman" panose="02020603050405020304" pitchFamily="18" charset="0"/>
                <a:cs typeface="Segoe UI" panose="020B0502040204020203" pitchFamily="34" charset="0"/>
              </a:rPr>
              <a:t> </a:t>
            </a:r>
            <a:endParaRPr lang="nl-BE"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246081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Afbeelding 25">
            <a:extLst>
              <a:ext uri="{FF2B5EF4-FFF2-40B4-BE49-F238E27FC236}">
                <a16:creationId xmlns:a16="http://schemas.microsoft.com/office/drawing/2014/main" id="{13F4F977-CBF1-3548-B29D-FEC438167C1D}"/>
              </a:ext>
            </a:extLst>
          </p:cNvPr>
          <p:cNvPicPr>
            <a:picLocks/>
          </p:cNvPicPr>
          <p:nvPr/>
        </p:nvPicPr>
        <p:blipFill>
          <a:blip r:embed="rId2">
            <a:extLst>
              <a:ext uri="{BEBA8EAE-BF5A-486C-A8C5-ECC9F3942E4B}">
                <a14:imgProps xmlns:a14="http://schemas.microsoft.com/office/drawing/2010/main">
                  <a14:imgLayer>
                    <a14:imgEffect>
                      <a14:saturation sat="114000"/>
                    </a14:imgEffect>
                  </a14:imgLayer>
                </a14:imgProps>
              </a:ext>
            </a:extLst>
          </a:blip>
          <a:stretch>
            <a:fillRect/>
          </a:stretch>
        </p:blipFill>
        <p:spPr>
          <a:xfrm>
            <a:off x="11240428" y="0"/>
            <a:ext cx="936000" cy="1117360"/>
          </a:xfrm>
          <a:prstGeom prst="rect">
            <a:avLst/>
          </a:prstGeom>
          <a:noFill/>
        </p:spPr>
      </p:pic>
      <p:pic>
        <p:nvPicPr>
          <p:cNvPr id="72" name="Afbeelding 71">
            <a:extLst>
              <a:ext uri="{FF2B5EF4-FFF2-40B4-BE49-F238E27FC236}">
                <a16:creationId xmlns:a16="http://schemas.microsoft.com/office/drawing/2014/main" id="{13FD3C7A-40E2-A944-9D7F-D2B6B9CDA3CC}"/>
              </a:ext>
            </a:extLst>
          </p:cNvPr>
          <p:cNvPicPr>
            <a:picLocks/>
          </p:cNvPicPr>
          <p:nvPr/>
        </p:nvPicPr>
        <p:blipFill>
          <a:blip r:embed="rId2">
            <a:extLst>
              <a:ext uri="{BEBA8EAE-BF5A-486C-A8C5-ECC9F3942E4B}">
                <a14:imgProps xmlns:a14="http://schemas.microsoft.com/office/drawing/2010/main">
                  <a14:imgLayer>
                    <a14:imgEffect>
                      <a14:saturation sat="114000"/>
                    </a14:imgEffect>
                  </a14:imgLayer>
                </a14:imgProps>
              </a:ext>
            </a:extLst>
          </a:blip>
          <a:stretch>
            <a:fillRect/>
          </a:stretch>
        </p:blipFill>
        <p:spPr>
          <a:xfrm>
            <a:off x="31799" y="0"/>
            <a:ext cx="936000" cy="1117360"/>
          </a:xfrm>
          <a:prstGeom prst="rect">
            <a:avLst/>
          </a:prstGeom>
          <a:noFill/>
        </p:spPr>
      </p:pic>
      <p:sp>
        <p:nvSpPr>
          <p:cNvPr id="34" name="Tekstvak 33">
            <a:extLst>
              <a:ext uri="{FF2B5EF4-FFF2-40B4-BE49-F238E27FC236}">
                <a16:creationId xmlns:a16="http://schemas.microsoft.com/office/drawing/2014/main" id="{82F976D5-AFF8-4D19-9750-E8DF21DAEFE4}"/>
              </a:ext>
            </a:extLst>
          </p:cNvPr>
          <p:cNvSpPr txBox="1"/>
          <p:nvPr/>
        </p:nvSpPr>
        <p:spPr>
          <a:xfrm>
            <a:off x="3056113" y="1001593"/>
            <a:ext cx="6096000" cy="5498941"/>
          </a:xfrm>
          <a:prstGeom prst="rect">
            <a:avLst/>
          </a:prstGeom>
          <a:noFill/>
        </p:spPr>
        <p:txBody>
          <a:bodyPr wrap="square">
            <a:spAutoFit/>
          </a:bodyPr>
          <a:lstStyle/>
          <a:p>
            <a:pPr marL="457200">
              <a:spcAft>
                <a:spcPts val="1800"/>
              </a:spcAft>
            </a:pPr>
            <a:r>
              <a:rPr lang="nl-BE" sz="3200" dirty="0">
                <a:solidFill>
                  <a:srgbClr val="212529"/>
                </a:solidFill>
                <a:effectLst/>
                <a:latin typeface="Nunito"/>
                <a:ea typeface="Times New Roman" panose="02020603050405020304" pitchFamily="18" charset="0"/>
                <a:cs typeface="Segoe UI" panose="020B0502040204020203" pitchFamily="34" charset="0"/>
              </a:rPr>
              <a:t>Onze eerste cyclus. </a:t>
            </a:r>
            <a:endParaRPr lang="nl-BE" sz="3200" dirty="0">
              <a:effectLst/>
              <a:latin typeface="Calibri" panose="020F0502020204030204" pitchFamily="34" charset="0"/>
              <a:ea typeface="Calibri" panose="020F0502020204030204" pitchFamily="34" charset="0"/>
              <a:cs typeface="Times New Roman" panose="02020603050405020304" pitchFamily="18" charset="0"/>
            </a:endParaRPr>
          </a:p>
          <a:p>
            <a:pPr marL="457200">
              <a:spcAft>
                <a:spcPts val="1800"/>
              </a:spcAft>
            </a:pPr>
            <a:r>
              <a:rPr lang="nl-BE" sz="3200" dirty="0">
                <a:solidFill>
                  <a:srgbClr val="212529"/>
                </a:solidFill>
                <a:effectLst/>
                <a:latin typeface="Nunito"/>
                <a:ea typeface="Times New Roman" panose="02020603050405020304" pitchFamily="18" charset="0"/>
                <a:cs typeface="Segoe UI" panose="020B0502040204020203" pitchFamily="34" charset="0"/>
              </a:rPr>
              <a:t>We werken rond 4 hoofdcomponenten:</a:t>
            </a:r>
            <a:endParaRPr lang="nl-BE"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3200" dirty="0">
                <a:solidFill>
                  <a:srgbClr val="212529"/>
                </a:solidFill>
                <a:effectLst/>
                <a:latin typeface="Nunito"/>
                <a:ea typeface="Times New Roman" panose="02020603050405020304" pitchFamily="18" charset="0"/>
                <a:cs typeface="Segoe UI" panose="020B0502040204020203" pitchFamily="34" charset="0"/>
              </a:rPr>
              <a:t>techniek</a:t>
            </a:r>
            <a:endParaRPr lang="nl-BE" sz="32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3200" dirty="0">
                <a:solidFill>
                  <a:srgbClr val="212529"/>
                </a:solidFill>
                <a:effectLst/>
                <a:latin typeface="Nunito"/>
                <a:ea typeface="Times New Roman" panose="02020603050405020304" pitchFamily="18" charset="0"/>
                <a:cs typeface="Segoe UI" panose="020B0502040204020203" pitchFamily="34" charset="0"/>
              </a:rPr>
              <a:t>positiespel</a:t>
            </a:r>
            <a:endParaRPr lang="nl-BE" sz="32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3200" dirty="0">
                <a:solidFill>
                  <a:srgbClr val="212529"/>
                </a:solidFill>
                <a:effectLst/>
                <a:latin typeface="Nunito"/>
                <a:ea typeface="Times New Roman" panose="02020603050405020304" pitchFamily="18" charset="0"/>
                <a:cs typeface="Segoe UI" panose="020B0502040204020203" pitchFamily="34" charset="0"/>
              </a:rPr>
              <a:t>spelsituatie</a:t>
            </a:r>
            <a:endParaRPr lang="nl-BE" sz="32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3200" dirty="0">
                <a:solidFill>
                  <a:srgbClr val="212529"/>
                </a:solidFill>
                <a:effectLst/>
                <a:latin typeface="Nunito"/>
                <a:ea typeface="Times New Roman" panose="02020603050405020304" pitchFamily="18" charset="0"/>
                <a:cs typeface="Segoe UI" panose="020B0502040204020203" pitchFamily="34" charset="0"/>
              </a:rPr>
              <a:t>wedstrijdvorm</a:t>
            </a:r>
            <a:endParaRPr lang="nl-BE" sz="32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457200">
              <a:spcAft>
                <a:spcPts val="1800"/>
              </a:spcAft>
            </a:pPr>
            <a:r>
              <a:rPr lang="nl-BE" sz="3200" dirty="0">
                <a:solidFill>
                  <a:srgbClr val="212529"/>
                </a:solidFill>
                <a:effectLst/>
                <a:latin typeface="Nunito"/>
                <a:ea typeface="Times New Roman" panose="02020603050405020304" pitchFamily="18" charset="0"/>
                <a:cs typeface="Segoe UI" panose="020B0502040204020203" pitchFamily="34" charset="0"/>
              </a:rPr>
              <a:t>Elke training eindigt met een leuke </a:t>
            </a:r>
            <a:r>
              <a:rPr lang="nl-BE" sz="3200" dirty="0" err="1">
                <a:solidFill>
                  <a:srgbClr val="212529"/>
                </a:solidFill>
                <a:effectLst/>
                <a:latin typeface="Nunito"/>
                <a:ea typeface="Times New Roman" panose="02020603050405020304" pitchFamily="18" charset="0"/>
                <a:cs typeface="Segoe UI" panose="020B0502040204020203" pitchFamily="34" charset="0"/>
              </a:rPr>
              <a:t>cooling</a:t>
            </a:r>
            <a:r>
              <a:rPr lang="nl-BE" sz="3200" dirty="0">
                <a:solidFill>
                  <a:srgbClr val="212529"/>
                </a:solidFill>
                <a:effectLst/>
                <a:latin typeface="Nunito"/>
                <a:ea typeface="Times New Roman" panose="02020603050405020304" pitchFamily="18" charset="0"/>
                <a:cs typeface="Segoe UI" panose="020B0502040204020203" pitchFamily="34" charset="0"/>
              </a:rPr>
              <a:t> down.</a:t>
            </a:r>
            <a:endParaRPr lang="nl-BE" sz="3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6">
            <a:extLst>
              <a:ext uri="{FF2B5EF4-FFF2-40B4-BE49-F238E27FC236}">
                <a16:creationId xmlns:a16="http://schemas.microsoft.com/office/drawing/2014/main" id="{F0C27547-2BC0-4EFD-8EDE-71B8E6F80C09}"/>
              </a:ext>
            </a:extLst>
          </p:cNvPr>
          <p:cNvSpPr/>
          <p:nvPr/>
        </p:nvSpPr>
        <p:spPr>
          <a:xfrm>
            <a:off x="1869706" y="295686"/>
            <a:ext cx="8352928" cy="525988"/>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a:spcBef>
                <a:spcPts val="805"/>
              </a:spcBef>
              <a:spcAft>
                <a:spcPts val="805"/>
              </a:spcAft>
            </a:pPr>
            <a:r>
              <a:rPr lang="nl-BE" sz="3200" b="1" kern="150" dirty="0">
                <a:solidFill>
                  <a:schemeClr val="bg1"/>
                </a:solidFill>
                <a:effectLst/>
                <a:highlight>
                  <a:srgbClr val="800080"/>
                </a:highlight>
                <a:latin typeface="Roboto"/>
                <a:ea typeface="Times New Roman" panose="02020603050405020304" pitchFamily="18" charset="0"/>
                <a:cs typeface="Arial" panose="020B0604020202020204" pitchFamily="34" charset="0"/>
              </a:rPr>
              <a:t>6 cycli – deel 1</a:t>
            </a:r>
            <a:endParaRPr lang="nl-BE" sz="3200" dirty="0">
              <a:solidFill>
                <a:schemeClr val="bg1"/>
              </a:solidFill>
              <a:effectLst/>
              <a:highlight>
                <a:srgbClr val="800080"/>
              </a:highligh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122646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883752" y="707482"/>
            <a:ext cx="8374565" cy="6047809"/>
          </a:xfrm>
          <a:prstGeom prst="rect">
            <a:avLst/>
          </a:prstGeom>
          <a:noFill/>
        </p:spPr>
        <p:txBody>
          <a:bodyPr wrap="square" rtlCol="0">
            <a:spAutoFit/>
          </a:bodyPr>
          <a:lstStyle/>
          <a:p>
            <a:pPr marL="342900" lvl="0" indent="-342900">
              <a:spcAft>
                <a:spcPts val="1800"/>
              </a:spcAft>
              <a:buFont typeface="+mj-lt"/>
              <a:buAutoNum type="arabicPeriod"/>
            </a:pPr>
            <a:r>
              <a:rPr lang="nl-BE" sz="1800">
                <a:solidFill>
                  <a:srgbClr val="212529"/>
                </a:solidFill>
                <a:effectLst/>
                <a:latin typeface="Nunito"/>
                <a:ea typeface="Times New Roman" panose="02020603050405020304" pitchFamily="18" charset="0"/>
                <a:cs typeface="Segoe UI" panose="020B0502040204020203" pitchFamily="34" charset="0"/>
              </a:rPr>
              <a:t>Techniek</a:t>
            </a:r>
            <a:br>
              <a:rPr lang="nl-BE" sz="1800">
                <a:solidFill>
                  <a:srgbClr val="212529"/>
                </a:solidFill>
                <a:effectLst/>
                <a:latin typeface="Nunito"/>
                <a:ea typeface="Times New Roman" panose="02020603050405020304" pitchFamily="18" charset="0"/>
                <a:cs typeface="Segoe UI" panose="020B0502040204020203" pitchFamily="34" charset="0"/>
              </a:rPr>
            </a:br>
            <a:r>
              <a:rPr lang="nl-BE" sz="1800">
                <a:solidFill>
                  <a:srgbClr val="212529"/>
                </a:solidFill>
                <a:effectLst/>
                <a:latin typeface="Nunito"/>
                <a:ea typeface="Times New Roman" panose="02020603050405020304" pitchFamily="18" charset="0"/>
                <a:cs typeface="Segoe UI" panose="020B0502040204020203" pitchFamily="34" charset="0"/>
              </a:rPr>
              <a:t>Verweef heel veel technische vormen in je activatie. </a:t>
            </a:r>
            <a:br>
              <a:rPr lang="nl-BE" sz="1800">
                <a:solidFill>
                  <a:srgbClr val="212529"/>
                </a:solidFill>
                <a:effectLst/>
                <a:latin typeface="Nunito"/>
                <a:ea typeface="Times New Roman" panose="02020603050405020304" pitchFamily="18" charset="0"/>
                <a:cs typeface="Segoe UI" panose="020B0502040204020203" pitchFamily="34" charset="0"/>
              </a:rPr>
            </a:br>
            <a:r>
              <a:rPr lang="nl-BE" sz="1800">
                <a:solidFill>
                  <a:srgbClr val="212529"/>
                </a:solidFill>
                <a:effectLst/>
                <a:latin typeface="Nunito"/>
                <a:ea typeface="Times New Roman" panose="02020603050405020304" pitchFamily="18" charset="0"/>
                <a:cs typeface="Segoe UI" panose="020B0502040204020203" pitchFamily="34" charset="0"/>
              </a:rPr>
              <a:t>Techniek is een grote basis en met </a:t>
            </a:r>
            <a:r>
              <a:rPr lang="nl-BE" sz="1800" b="1">
                <a:solidFill>
                  <a:srgbClr val="212529"/>
                </a:solidFill>
                <a:effectLst/>
                <a:latin typeface="Nunito"/>
                <a:ea typeface="Times New Roman" panose="02020603050405020304" pitchFamily="18" charset="0"/>
                <a:cs typeface="Segoe UI" panose="020B0502040204020203" pitchFamily="34" charset="0"/>
              </a:rPr>
              <a:t>veel baltoetsen</a:t>
            </a:r>
            <a:r>
              <a:rPr lang="nl-BE" sz="1800">
                <a:solidFill>
                  <a:srgbClr val="212529"/>
                </a:solidFill>
                <a:effectLst/>
                <a:latin typeface="Nunito"/>
                <a:ea typeface="Times New Roman" panose="02020603050405020304" pitchFamily="18" charset="0"/>
                <a:cs typeface="Segoe UI" panose="020B0502040204020203" pitchFamily="34" charset="0"/>
              </a:rPr>
              <a:t> gaan spelers merkelijk verbeteren. Minimum 20′ per training. Wees creatief. </a:t>
            </a:r>
            <a:endParaRPr lang="nl-BE" sz="18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1800"/>
              </a:spcAft>
              <a:buFont typeface="+mj-lt"/>
              <a:buAutoNum type="arabicPeriod"/>
            </a:pPr>
            <a:r>
              <a:rPr lang="nl-BE" sz="1800">
                <a:solidFill>
                  <a:srgbClr val="212529"/>
                </a:solidFill>
                <a:effectLst/>
                <a:latin typeface="Nunito"/>
                <a:ea typeface="Times New Roman" panose="02020603050405020304" pitchFamily="18" charset="0"/>
                <a:cs typeface="Segoe UI" panose="020B0502040204020203" pitchFamily="34" charset="0"/>
              </a:rPr>
              <a:t>Positiespel</a:t>
            </a:r>
            <a:br>
              <a:rPr lang="nl-BE" sz="1800">
                <a:solidFill>
                  <a:srgbClr val="212529"/>
                </a:solidFill>
                <a:effectLst/>
                <a:latin typeface="Nunito"/>
                <a:ea typeface="Times New Roman" panose="02020603050405020304" pitchFamily="18" charset="0"/>
                <a:cs typeface="Segoe UI" panose="020B0502040204020203" pitchFamily="34" charset="0"/>
              </a:rPr>
            </a:br>
            <a:r>
              <a:rPr lang="nl-BE" sz="1800">
                <a:solidFill>
                  <a:srgbClr val="212529"/>
                </a:solidFill>
                <a:effectLst/>
                <a:latin typeface="Nunito"/>
                <a:ea typeface="Times New Roman" panose="02020603050405020304" pitchFamily="18" charset="0"/>
                <a:cs typeface="Segoe UI" panose="020B0502040204020203" pitchFamily="34" charset="0"/>
              </a:rPr>
              <a:t>Druk het spel eenvoudig uit zonder doelen. </a:t>
            </a:r>
            <a:br>
              <a:rPr lang="nl-BE" sz="1800">
                <a:solidFill>
                  <a:srgbClr val="212529"/>
                </a:solidFill>
                <a:effectLst/>
                <a:latin typeface="Nunito"/>
                <a:ea typeface="Times New Roman" panose="02020603050405020304" pitchFamily="18" charset="0"/>
                <a:cs typeface="Segoe UI" panose="020B0502040204020203" pitchFamily="34" charset="0"/>
              </a:rPr>
            </a:br>
            <a:r>
              <a:rPr lang="nl-BE" sz="1800">
                <a:solidFill>
                  <a:srgbClr val="212529"/>
                </a:solidFill>
                <a:effectLst/>
                <a:latin typeface="Nunito"/>
                <a:ea typeface="Times New Roman" panose="02020603050405020304" pitchFamily="18" charset="0"/>
                <a:cs typeface="Segoe UI" panose="020B0502040204020203" pitchFamily="34" charset="0"/>
              </a:rPr>
              <a:t>Leg je focus op hoe een speler loopt (over de schouder heen kijken) of welke vrijheid hij gaat zoeken, …. </a:t>
            </a:r>
            <a:br>
              <a:rPr lang="nl-BE" sz="1800">
                <a:solidFill>
                  <a:srgbClr val="212529"/>
                </a:solidFill>
                <a:effectLst/>
                <a:latin typeface="Nunito"/>
                <a:ea typeface="Times New Roman" panose="02020603050405020304" pitchFamily="18" charset="0"/>
                <a:cs typeface="Segoe UI" panose="020B0502040204020203" pitchFamily="34" charset="0"/>
              </a:rPr>
            </a:br>
            <a:r>
              <a:rPr lang="nl-BE" sz="1800">
                <a:solidFill>
                  <a:srgbClr val="212529"/>
                </a:solidFill>
                <a:effectLst/>
                <a:latin typeface="Nunito"/>
                <a:ea typeface="Times New Roman" panose="02020603050405020304" pitchFamily="18" charset="0"/>
                <a:cs typeface="Segoe UI" panose="020B0502040204020203" pitchFamily="34" charset="0"/>
              </a:rPr>
              <a:t>Bijvoorbeeld 1 &gt;&lt; 1 met balbezit, met als doel: </a:t>
            </a:r>
            <a:r>
              <a:rPr lang="nl-BE" sz="1800" b="1">
                <a:solidFill>
                  <a:srgbClr val="212529"/>
                </a:solidFill>
                <a:effectLst/>
                <a:latin typeface="Nunito"/>
                <a:ea typeface="Times New Roman" panose="02020603050405020304" pitchFamily="18" charset="0"/>
                <a:cs typeface="Segoe UI" panose="020B0502040204020203" pitchFamily="34" charset="0"/>
              </a:rPr>
              <a:t>afschermen van de bal</a:t>
            </a:r>
            <a:r>
              <a:rPr lang="nl-BE" sz="1800">
                <a:solidFill>
                  <a:srgbClr val="212529"/>
                </a:solidFill>
                <a:effectLst/>
                <a:latin typeface="Nunito"/>
                <a:ea typeface="Times New Roman" panose="02020603050405020304" pitchFamily="18" charset="0"/>
                <a:cs typeface="Segoe UI" panose="020B0502040204020203" pitchFamily="34" charset="0"/>
              </a:rPr>
              <a:t>. Duurtijd ongeveer 15′</a:t>
            </a:r>
            <a:endParaRPr lang="nl-BE" sz="18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1800"/>
              </a:spcAft>
              <a:buFont typeface="+mj-lt"/>
              <a:buAutoNum type="arabicPeriod"/>
            </a:pPr>
            <a:r>
              <a:rPr lang="nl-BE" sz="1800">
                <a:solidFill>
                  <a:srgbClr val="212529"/>
                </a:solidFill>
                <a:effectLst/>
                <a:latin typeface="Nunito"/>
                <a:ea typeface="Times New Roman" panose="02020603050405020304" pitchFamily="18" charset="0"/>
                <a:cs typeface="Segoe UI" panose="020B0502040204020203" pitchFamily="34" charset="0"/>
              </a:rPr>
              <a:t>Spelsituatie</a:t>
            </a:r>
            <a:br>
              <a:rPr lang="nl-BE" sz="1800">
                <a:solidFill>
                  <a:srgbClr val="212529"/>
                </a:solidFill>
                <a:effectLst/>
                <a:latin typeface="Nunito"/>
                <a:ea typeface="Times New Roman" panose="02020603050405020304" pitchFamily="18" charset="0"/>
                <a:cs typeface="Segoe UI" panose="020B0502040204020203" pitchFamily="34" charset="0"/>
              </a:rPr>
            </a:br>
            <a:r>
              <a:rPr lang="nl-BE" sz="1800">
                <a:solidFill>
                  <a:srgbClr val="212529"/>
                </a:solidFill>
                <a:effectLst/>
                <a:latin typeface="Nunito"/>
                <a:ea typeface="Times New Roman" panose="02020603050405020304" pitchFamily="18" charset="0"/>
                <a:cs typeface="Segoe UI" panose="020B0502040204020203" pitchFamily="34" charset="0"/>
              </a:rPr>
              <a:t>Tijdens deze vorm werken we uitsluitend rond het 6-wekelijkse thema. Vul in volgens de noden van je ploeg. Heb tijdens deze vormen veel oog voor de opbouw van achteruit. Werk op </a:t>
            </a:r>
            <a:r>
              <a:rPr lang="nl-BE" sz="1800" b="1">
                <a:solidFill>
                  <a:srgbClr val="212529"/>
                </a:solidFill>
                <a:effectLst/>
                <a:latin typeface="Nunito"/>
                <a:ea typeface="Times New Roman" panose="02020603050405020304" pitchFamily="18" charset="0"/>
                <a:cs typeface="Segoe UI" panose="020B0502040204020203" pitchFamily="34" charset="0"/>
              </a:rPr>
              <a:t>progressief balbezit</a:t>
            </a:r>
            <a:r>
              <a:rPr lang="nl-BE" sz="1800">
                <a:solidFill>
                  <a:srgbClr val="212529"/>
                </a:solidFill>
                <a:effectLst/>
                <a:latin typeface="Nunito"/>
                <a:ea typeface="Times New Roman" panose="02020603050405020304" pitchFamily="18" charset="0"/>
                <a:cs typeface="Segoe UI" panose="020B0502040204020203" pitchFamily="34" charset="0"/>
              </a:rPr>
              <a:t>. Laat je spelers voetballen. Laat ze creatief denken zodat ze dit tijdens wedstrijden spontaan gaan gebruiken. Duurtijd ongeveer 15′</a:t>
            </a:r>
            <a:endParaRPr lang="nl-BE" sz="1800">
              <a:effectLst/>
              <a:latin typeface="Calibri" panose="020F0502020204030204" pitchFamily="34" charset="0"/>
              <a:ea typeface="Calibri" panose="020F0502020204030204" pitchFamily="34" charset="0"/>
              <a:cs typeface="Times New Roman" panose="02020603050405020304" pitchFamily="18" charset="0"/>
            </a:endParaRPr>
          </a:p>
          <a:p>
            <a:pPr marL="457200">
              <a:spcAft>
                <a:spcPts val="1800"/>
              </a:spcAft>
            </a:pPr>
            <a:r>
              <a:rPr lang="nl-BE" sz="1800">
                <a:solidFill>
                  <a:srgbClr val="212529"/>
                </a:solidFill>
                <a:effectLst/>
                <a:latin typeface="Nunito"/>
                <a:ea typeface="Times New Roman" panose="02020603050405020304" pitchFamily="18" charset="0"/>
                <a:cs typeface="Segoe UI" panose="020B0502040204020203" pitchFamily="34" charset="0"/>
              </a:rPr>
              <a:t>Het is uitermate belangrijk onze jeugd te laten voetballen van achteruit. Zet je aandacht scherp in deze eerste cyclus op voetballen vanuit zone 1. Zorg ervoor dat de spelers minimaal stilstaan. Laat ze veel de bal ‘voelen’.</a:t>
            </a:r>
            <a:endParaRPr lang="nl-BE" sz="18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p:cNvSpPr/>
          <p:nvPr/>
        </p:nvSpPr>
        <p:spPr>
          <a:xfrm>
            <a:off x="2714577" y="181494"/>
            <a:ext cx="8374565" cy="5259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a:spcAft>
                <a:spcPts val="500"/>
              </a:spcAft>
            </a:pPr>
            <a:r>
              <a:rPr lang="nl-BE" sz="3600" b="1" dirty="0">
                <a:solidFill>
                  <a:schemeClr val="bg1"/>
                </a:solidFill>
                <a:effectLst/>
                <a:latin typeface="Roboto"/>
                <a:ea typeface="Times New Roman" panose="02020603050405020304" pitchFamily="18" charset="0"/>
                <a:cs typeface="Arial" panose="020B0604020202020204" pitchFamily="34" charset="0"/>
              </a:rPr>
              <a:t>U8 - U9 (initiatie) </a:t>
            </a:r>
            <a:endParaRPr lang="nl-BE" sz="3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Afbeelding 6">
            <a:extLst>
              <a:ext uri="{FF2B5EF4-FFF2-40B4-BE49-F238E27FC236}">
                <a16:creationId xmlns:a16="http://schemas.microsoft.com/office/drawing/2014/main" id="{26D2F271-4801-C34E-8104-09906DBE7B94}"/>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47517" y="12270"/>
            <a:ext cx="936000" cy="1117360"/>
          </a:xfrm>
          <a:prstGeom prst="rect">
            <a:avLst/>
          </a:prstGeom>
          <a:noFill/>
        </p:spPr>
      </p:pic>
      <p:pic>
        <p:nvPicPr>
          <p:cNvPr id="8" name="Afbeelding 7">
            <a:extLst>
              <a:ext uri="{FF2B5EF4-FFF2-40B4-BE49-F238E27FC236}">
                <a16:creationId xmlns:a16="http://schemas.microsoft.com/office/drawing/2014/main" id="{3AA0F215-793C-F442-A41C-20E4FBC645E9}"/>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256000" y="76722"/>
            <a:ext cx="936000" cy="1117360"/>
          </a:xfrm>
          <a:prstGeom prst="rect">
            <a:avLst/>
          </a:prstGeom>
          <a:noFill/>
        </p:spPr>
      </p:pic>
    </p:spTree>
    <p:extLst>
      <p:ext uri="{BB962C8B-B14F-4D97-AF65-F5344CB8AC3E}">
        <p14:creationId xmlns:p14="http://schemas.microsoft.com/office/powerpoint/2010/main" val="24592557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869706" y="295686"/>
            <a:ext cx="8352928" cy="525988"/>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a:spcAft>
                <a:spcPts val="500"/>
              </a:spcAft>
            </a:pPr>
            <a:r>
              <a:rPr lang="nl-BE" sz="3200" b="1">
                <a:solidFill>
                  <a:schemeClr val="bg1"/>
                </a:solidFill>
                <a:effectLst/>
                <a:latin typeface="Roboto"/>
                <a:ea typeface="Times New Roman" panose="02020603050405020304" pitchFamily="18" charset="0"/>
                <a:cs typeface="Arial" panose="020B0604020202020204" pitchFamily="34" charset="0"/>
              </a:rPr>
              <a:t>U8 - U9 (initiatie) </a:t>
            </a:r>
            <a:endParaRPr lang="nl-BE"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Rectangle 1"/>
          <p:cNvSpPr/>
          <p:nvPr/>
        </p:nvSpPr>
        <p:spPr>
          <a:xfrm>
            <a:off x="1869706" y="1916833"/>
            <a:ext cx="8352928" cy="646331"/>
          </a:xfrm>
          <a:prstGeom prst="rect">
            <a:avLst/>
          </a:prstGeom>
        </p:spPr>
        <p:txBody>
          <a:bodyPr wrap="square">
            <a:spAutoFit/>
          </a:bodyPr>
          <a:lstStyle/>
          <a:p>
            <a:endParaRPr lang="en-GB" dirty="0"/>
          </a:p>
          <a:p>
            <a:r>
              <a:rPr lang="nl-NL" dirty="0"/>
              <a:t> </a:t>
            </a:r>
            <a:endParaRPr lang="en-GB" dirty="0"/>
          </a:p>
        </p:txBody>
      </p:sp>
      <p:sp>
        <p:nvSpPr>
          <p:cNvPr id="3" name="Rectangle 2"/>
          <p:cNvSpPr/>
          <p:nvPr/>
        </p:nvSpPr>
        <p:spPr>
          <a:xfrm>
            <a:off x="2199581" y="1689775"/>
            <a:ext cx="7704856" cy="369332"/>
          </a:xfrm>
          <a:prstGeom prst="rect">
            <a:avLst/>
          </a:prstGeom>
        </p:spPr>
        <p:txBody>
          <a:bodyPr wrap="square">
            <a:spAutoFit/>
          </a:bodyPr>
          <a:lstStyle/>
          <a:p>
            <a:r>
              <a:rPr lang="nl-NL" dirty="0"/>
              <a:t> </a:t>
            </a:r>
            <a:endParaRPr lang="en-GB" dirty="0"/>
          </a:p>
        </p:txBody>
      </p:sp>
      <p:sp>
        <p:nvSpPr>
          <p:cNvPr id="6" name="Rectangle 5"/>
          <p:cNvSpPr/>
          <p:nvPr/>
        </p:nvSpPr>
        <p:spPr>
          <a:xfrm>
            <a:off x="1809056" y="980729"/>
            <a:ext cx="8640960" cy="646331"/>
          </a:xfrm>
          <a:prstGeom prst="rect">
            <a:avLst/>
          </a:prstGeom>
        </p:spPr>
        <p:txBody>
          <a:bodyPr wrap="square">
            <a:spAutoFit/>
          </a:bodyPr>
          <a:lstStyle/>
          <a:p>
            <a:endParaRPr lang="en-GB" dirty="0"/>
          </a:p>
          <a:p>
            <a:r>
              <a:rPr lang="nl-NL" dirty="0"/>
              <a:t> </a:t>
            </a:r>
            <a:endParaRPr lang="en-GB" dirty="0"/>
          </a:p>
        </p:txBody>
      </p:sp>
      <p:pic>
        <p:nvPicPr>
          <p:cNvPr id="8" name="Afbeelding 7">
            <a:extLst>
              <a:ext uri="{FF2B5EF4-FFF2-40B4-BE49-F238E27FC236}">
                <a16:creationId xmlns:a16="http://schemas.microsoft.com/office/drawing/2014/main" id="{C0C9BAC0-E153-304B-A91A-CD54D24BC69C}"/>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0" y="0"/>
            <a:ext cx="936000" cy="1117360"/>
          </a:xfrm>
          <a:prstGeom prst="rect">
            <a:avLst/>
          </a:prstGeom>
          <a:noFill/>
        </p:spPr>
      </p:pic>
      <p:pic>
        <p:nvPicPr>
          <p:cNvPr id="9" name="Afbeelding 8">
            <a:extLst>
              <a:ext uri="{FF2B5EF4-FFF2-40B4-BE49-F238E27FC236}">
                <a16:creationId xmlns:a16="http://schemas.microsoft.com/office/drawing/2014/main" id="{16244EEF-2387-714F-8BF3-CB3F0B7126DF}"/>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237354" y="0"/>
            <a:ext cx="936000" cy="1117360"/>
          </a:xfrm>
          <a:prstGeom prst="rect">
            <a:avLst/>
          </a:prstGeom>
          <a:noFill/>
        </p:spPr>
      </p:pic>
      <p:sp>
        <p:nvSpPr>
          <p:cNvPr id="10" name="Tekstvak 9">
            <a:extLst>
              <a:ext uri="{FF2B5EF4-FFF2-40B4-BE49-F238E27FC236}">
                <a16:creationId xmlns:a16="http://schemas.microsoft.com/office/drawing/2014/main" id="{4DAE7CB0-6C1D-438D-9652-7BA8DF056F79}"/>
              </a:ext>
            </a:extLst>
          </p:cNvPr>
          <p:cNvSpPr txBox="1"/>
          <p:nvPr/>
        </p:nvSpPr>
        <p:spPr>
          <a:xfrm>
            <a:off x="1869707" y="980729"/>
            <a:ext cx="9049450" cy="4493538"/>
          </a:xfrm>
          <a:prstGeom prst="rect">
            <a:avLst/>
          </a:prstGeom>
          <a:noFill/>
        </p:spPr>
        <p:txBody>
          <a:bodyPr wrap="square">
            <a:spAutoFit/>
          </a:bodyPr>
          <a:lstStyle/>
          <a:p>
            <a:pPr lvl="0">
              <a:spcAft>
                <a:spcPts val="1800"/>
              </a:spcAft>
            </a:pPr>
            <a:r>
              <a:rPr lang="nl-BE" sz="2400" dirty="0">
                <a:solidFill>
                  <a:srgbClr val="212529"/>
                </a:solidFill>
                <a:latin typeface="Nunito"/>
                <a:ea typeface="Times New Roman" panose="02020603050405020304" pitchFamily="18" charset="0"/>
                <a:cs typeface="Segoe UI" panose="020B0502040204020203" pitchFamily="34" charset="0"/>
              </a:rPr>
              <a:t>4. </a:t>
            </a:r>
            <a:r>
              <a:rPr lang="nl-BE" sz="2400" dirty="0">
                <a:solidFill>
                  <a:srgbClr val="212529"/>
                </a:solidFill>
                <a:effectLst/>
                <a:latin typeface="Nunito"/>
                <a:ea typeface="Times New Roman" panose="02020603050405020304" pitchFamily="18" charset="0"/>
                <a:cs typeface="Segoe UI" panose="020B0502040204020203" pitchFamily="34" charset="0"/>
              </a:rPr>
              <a:t>Wedstrijdvorm </a:t>
            </a:r>
            <a:br>
              <a:rPr lang="nl-BE" sz="2400" dirty="0">
                <a:solidFill>
                  <a:srgbClr val="212529"/>
                </a:solidFill>
                <a:effectLst/>
                <a:latin typeface="Nunito"/>
                <a:ea typeface="Times New Roman" panose="02020603050405020304" pitchFamily="18" charset="0"/>
                <a:cs typeface="Segoe UI" panose="020B0502040204020203" pitchFamily="34" charset="0"/>
              </a:rPr>
            </a:br>
            <a:r>
              <a:rPr lang="nl-BE" sz="2400" dirty="0">
                <a:solidFill>
                  <a:srgbClr val="212529"/>
                </a:solidFill>
                <a:effectLst/>
                <a:latin typeface="Nunito"/>
                <a:ea typeface="Times New Roman" panose="02020603050405020304" pitchFamily="18" charset="0"/>
                <a:cs typeface="Segoe UI" panose="020B0502040204020203" pitchFamily="34" charset="0"/>
              </a:rPr>
              <a:t>Sluit steeds de training af met een wedstrijd. Natuurlijk speel je niet zomaar een wedstrijdje, maar telkens met de doelstelling die je die training voor ogen had. Hou focus op die doelstelling. Durf spelers of het wedstrijdje stil te leggen. Verduidelijk. Zo leren ze vanuit elke specifieke fase. Werk in </a:t>
            </a:r>
            <a:r>
              <a:rPr lang="nl-BE" sz="2400" b="1" dirty="0">
                <a:solidFill>
                  <a:srgbClr val="212529"/>
                </a:solidFill>
                <a:effectLst/>
                <a:latin typeface="Nunito"/>
                <a:ea typeface="Times New Roman" panose="02020603050405020304" pitchFamily="18" charset="0"/>
                <a:cs typeface="Segoe UI" panose="020B0502040204020203" pitchFamily="34" charset="0"/>
              </a:rPr>
              <a:t>ruit- en/of vierkantvorm</a:t>
            </a:r>
            <a:r>
              <a:rPr lang="nl-BE" sz="2400" dirty="0">
                <a:solidFill>
                  <a:srgbClr val="212529"/>
                </a:solidFill>
                <a:effectLst/>
                <a:latin typeface="Nunito"/>
                <a:ea typeface="Times New Roman" panose="02020603050405020304" pitchFamily="18" charset="0"/>
                <a:cs typeface="Segoe UI" panose="020B0502040204020203" pitchFamily="34" charset="0"/>
              </a:rPr>
              <a:t>. Laat de spelers zelf nadenken. Prikkel hen. Duurtijd ongeveer 15′</a:t>
            </a:r>
            <a:br>
              <a:rPr lang="nl-BE" sz="2400" dirty="0">
                <a:solidFill>
                  <a:srgbClr val="212529"/>
                </a:solidFill>
                <a:effectLst/>
                <a:latin typeface="Nunito"/>
                <a:ea typeface="Times New Roman" panose="02020603050405020304" pitchFamily="18" charset="0"/>
                <a:cs typeface="Segoe UI" panose="020B0502040204020203" pitchFamily="34" charset="0"/>
              </a:rPr>
            </a:br>
            <a:endParaRPr lang="nl-BE" sz="2400" dirty="0">
              <a:effectLst/>
              <a:latin typeface="Calibri" panose="020F0502020204030204" pitchFamily="34" charset="0"/>
              <a:ea typeface="Calibri" panose="020F0502020204030204" pitchFamily="34" charset="0"/>
              <a:cs typeface="Times New Roman" panose="02020603050405020304" pitchFamily="18" charset="0"/>
            </a:endParaRPr>
          </a:p>
          <a:p>
            <a:pPr lvl="0">
              <a:spcAft>
                <a:spcPts val="1800"/>
              </a:spcAft>
            </a:pPr>
            <a:r>
              <a:rPr lang="nl-BE" sz="2400" dirty="0">
                <a:solidFill>
                  <a:srgbClr val="212529"/>
                </a:solidFill>
                <a:effectLst/>
                <a:latin typeface="Nunito"/>
                <a:ea typeface="Times New Roman" panose="02020603050405020304" pitchFamily="18" charset="0"/>
                <a:cs typeface="Segoe UI" panose="020B0502040204020203" pitchFamily="34" charset="0"/>
              </a:rPr>
              <a:t>5. Sluit je training af met iets leuks. Motivatie van trainer naar spelers toe is een zeer belangrijk item. duurtijd ongeveer 5′</a:t>
            </a:r>
            <a:endParaRPr lang="nl-BE" sz="24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lvl="8">
              <a:spcAft>
                <a:spcPts val="1800"/>
              </a:spcAft>
            </a:pPr>
            <a:endParaRPr lang="nl-BE" sz="16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58235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2594BA48-CB84-CE46-90A0-9ABD0B979038}"/>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78059" y="12270"/>
            <a:ext cx="936000" cy="1117360"/>
          </a:xfrm>
          <a:prstGeom prst="rect">
            <a:avLst/>
          </a:prstGeom>
          <a:noFill/>
        </p:spPr>
      </p:pic>
      <p:pic>
        <p:nvPicPr>
          <p:cNvPr id="6" name="Afbeelding 5">
            <a:extLst>
              <a:ext uri="{FF2B5EF4-FFF2-40B4-BE49-F238E27FC236}">
                <a16:creationId xmlns:a16="http://schemas.microsoft.com/office/drawing/2014/main" id="{2BB1EC95-621B-D44B-8F24-30C74C6C6055}"/>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114049" y="12270"/>
            <a:ext cx="936000" cy="1117360"/>
          </a:xfrm>
          <a:prstGeom prst="rect">
            <a:avLst/>
          </a:prstGeom>
          <a:noFill/>
        </p:spPr>
      </p:pic>
      <p:sp>
        <p:nvSpPr>
          <p:cNvPr id="8" name="Tekstvak 7">
            <a:extLst>
              <a:ext uri="{FF2B5EF4-FFF2-40B4-BE49-F238E27FC236}">
                <a16:creationId xmlns:a16="http://schemas.microsoft.com/office/drawing/2014/main" id="{50341889-10FA-4F45-86B8-182FD26ECBA2}"/>
              </a:ext>
            </a:extLst>
          </p:cNvPr>
          <p:cNvSpPr txBox="1"/>
          <p:nvPr/>
        </p:nvSpPr>
        <p:spPr>
          <a:xfrm>
            <a:off x="2595661" y="1129630"/>
            <a:ext cx="8518387" cy="5586145"/>
          </a:xfrm>
          <a:prstGeom prst="rect">
            <a:avLst/>
          </a:prstGeom>
          <a:noFill/>
        </p:spPr>
        <p:txBody>
          <a:bodyPr wrap="square">
            <a:spAutoFit/>
          </a:bodyPr>
          <a:lstStyle/>
          <a:p>
            <a:pPr marL="457200">
              <a:spcAft>
                <a:spcPts val="1800"/>
              </a:spcAft>
            </a:pPr>
            <a:r>
              <a:rPr lang="nl-BE" sz="2400" dirty="0">
                <a:solidFill>
                  <a:srgbClr val="212529"/>
                </a:solidFill>
                <a:effectLst/>
                <a:latin typeface="Nunito"/>
                <a:ea typeface="Times New Roman" panose="02020603050405020304" pitchFamily="18" charset="0"/>
                <a:cs typeface="Segoe UI" panose="020B0502040204020203" pitchFamily="34" charset="0"/>
              </a:rPr>
              <a:t>Pre-formatie neemt de basis van initiatie over en vult aan met onderstaande elementen:</a:t>
            </a:r>
            <a:endParaRPr lang="nl-BE"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1800"/>
              </a:spcAft>
              <a:buFont typeface="+mj-lt"/>
              <a:buAutoNum type="arabicPeriod"/>
            </a:pPr>
            <a:r>
              <a:rPr lang="nl-BE" sz="2400" dirty="0">
                <a:solidFill>
                  <a:srgbClr val="212529"/>
                </a:solidFill>
                <a:effectLst/>
                <a:latin typeface="Nunito"/>
                <a:ea typeface="Times New Roman" panose="02020603050405020304" pitchFamily="18" charset="0"/>
                <a:cs typeface="Segoe UI" panose="020B0502040204020203" pitchFamily="34" charset="0"/>
              </a:rPr>
              <a:t>Techniek</a:t>
            </a:r>
            <a:br>
              <a:rPr lang="nl-BE" sz="2400" dirty="0">
                <a:solidFill>
                  <a:srgbClr val="212529"/>
                </a:solidFill>
                <a:effectLst/>
                <a:latin typeface="Nunito"/>
                <a:ea typeface="Times New Roman" panose="02020603050405020304" pitchFamily="18" charset="0"/>
                <a:cs typeface="Segoe UI" panose="020B0502040204020203" pitchFamily="34" charset="0"/>
              </a:rPr>
            </a:br>
            <a:r>
              <a:rPr lang="nl-BE" sz="2400" dirty="0">
                <a:solidFill>
                  <a:srgbClr val="212529"/>
                </a:solidFill>
                <a:effectLst/>
                <a:latin typeface="Nunito"/>
                <a:ea typeface="Times New Roman" panose="02020603050405020304" pitchFamily="18" charset="0"/>
                <a:cs typeface="Segoe UI" panose="020B0502040204020203" pitchFamily="34" charset="0"/>
              </a:rPr>
              <a:t>Focus al meteen op wedstrijd gerelateerde vormen.</a:t>
            </a:r>
            <a:endParaRPr lang="nl-BE" sz="24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1800"/>
              </a:spcAft>
              <a:buFont typeface="+mj-lt"/>
              <a:buAutoNum type="arabicPeriod"/>
            </a:pPr>
            <a:r>
              <a:rPr lang="nl-BE" sz="2400" dirty="0">
                <a:solidFill>
                  <a:srgbClr val="212529"/>
                </a:solidFill>
                <a:effectLst/>
                <a:latin typeface="Nunito"/>
                <a:ea typeface="Times New Roman" panose="02020603050405020304" pitchFamily="18" charset="0"/>
                <a:cs typeface="Segoe UI" panose="020B0502040204020203" pitchFamily="34" charset="0"/>
              </a:rPr>
              <a:t>Positiespel</a:t>
            </a:r>
            <a:br>
              <a:rPr lang="nl-BE" sz="2400" dirty="0">
                <a:solidFill>
                  <a:srgbClr val="212529"/>
                </a:solidFill>
                <a:effectLst/>
                <a:latin typeface="Nunito"/>
                <a:ea typeface="Times New Roman" panose="02020603050405020304" pitchFamily="18" charset="0"/>
                <a:cs typeface="Segoe UI" panose="020B0502040204020203" pitchFamily="34" charset="0"/>
              </a:rPr>
            </a:br>
            <a:r>
              <a:rPr lang="nl-BE" sz="2400" dirty="0">
                <a:solidFill>
                  <a:srgbClr val="212529"/>
                </a:solidFill>
                <a:effectLst/>
                <a:latin typeface="Nunito"/>
                <a:ea typeface="Times New Roman" panose="02020603050405020304" pitchFamily="18" charset="0"/>
                <a:cs typeface="Segoe UI" panose="020B0502040204020203" pitchFamily="34" charset="0"/>
              </a:rPr>
              <a:t>Speel ook eens </a:t>
            </a:r>
            <a:r>
              <a:rPr lang="nl-BE" sz="2400" b="1" dirty="0">
                <a:solidFill>
                  <a:srgbClr val="212529"/>
                </a:solidFill>
                <a:effectLst/>
                <a:latin typeface="Nunito"/>
                <a:ea typeface="Times New Roman" panose="02020603050405020304" pitchFamily="18" charset="0"/>
                <a:cs typeface="Segoe UI" panose="020B0502040204020203" pitchFamily="34" charset="0"/>
              </a:rPr>
              <a:t>2 &gt;&lt; 2</a:t>
            </a:r>
            <a:r>
              <a:rPr lang="nl-BE" sz="2400" dirty="0">
                <a:solidFill>
                  <a:srgbClr val="212529"/>
                </a:solidFill>
                <a:effectLst/>
                <a:latin typeface="Nunito"/>
                <a:ea typeface="Times New Roman" panose="02020603050405020304" pitchFamily="18" charset="0"/>
                <a:cs typeface="Segoe UI" panose="020B0502040204020203" pitchFamily="34" charset="0"/>
              </a:rPr>
              <a:t> met balbezit als doel.</a:t>
            </a:r>
            <a:endParaRPr lang="nl-BE"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1800"/>
              </a:spcAft>
              <a:buFont typeface="+mj-lt"/>
              <a:buAutoNum type="arabicPeriod"/>
            </a:pPr>
            <a:r>
              <a:rPr lang="nl-BE" sz="2400" dirty="0">
                <a:solidFill>
                  <a:srgbClr val="212529"/>
                </a:solidFill>
                <a:effectLst/>
                <a:latin typeface="Nunito"/>
                <a:ea typeface="Times New Roman" panose="02020603050405020304" pitchFamily="18" charset="0"/>
                <a:cs typeface="Segoe UI" panose="020B0502040204020203" pitchFamily="34" charset="0"/>
              </a:rPr>
              <a:t>Spelsituatie</a:t>
            </a:r>
            <a:br>
              <a:rPr lang="nl-BE" sz="2400" dirty="0">
                <a:solidFill>
                  <a:srgbClr val="212529"/>
                </a:solidFill>
                <a:effectLst/>
                <a:latin typeface="Nunito"/>
                <a:ea typeface="Times New Roman" panose="02020603050405020304" pitchFamily="18" charset="0"/>
                <a:cs typeface="Segoe UI" panose="020B0502040204020203" pitchFamily="34" charset="0"/>
              </a:rPr>
            </a:br>
            <a:r>
              <a:rPr lang="nl-BE" sz="2400" dirty="0">
                <a:solidFill>
                  <a:srgbClr val="212529"/>
                </a:solidFill>
                <a:effectLst/>
                <a:latin typeface="Nunito"/>
                <a:ea typeface="Times New Roman" panose="02020603050405020304" pitchFamily="18" charset="0"/>
                <a:cs typeface="Segoe UI" panose="020B0502040204020203" pitchFamily="34" charset="0"/>
              </a:rPr>
              <a:t>Introduceer tactisch denken. Stilaan gaat de tactiek een belangrijke rol spelen. We willen geen schapen op het veld. </a:t>
            </a:r>
            <a:r>
              <a:rPr lang="nl-BE" sz="2400" b="1" dirty="0">
                <a:solidFill>
                  <a:srgbClr val="212529"/>
                </a:solidFill>
                <a:effectLst/>
                <a:latin typeface="Nunito"/>
                <a:ea typeface="Times New Roman" panose="02020603050405020304" pitchFamily="18" charset="0"/>
                <a:cs typeface="Segoe UI" panose="020B0502040204020203" pitchFamily="34" charset="0"/>
              </a:rPr>
              <a:t>Leer spelers nadenken</a:t>
            </a:r>
            <a:r>
              <a:rPr lang="nl-BE" sz="2400" dirty="0">
                <a:solidFill>
                  <a:srgbClr val="212529"/>
                </a:solidFill>
                <a:effectLst/>
                <a:latin typeface="Nunito"/>
                <a:ea typeface="Times New Roman" panose="02020603050405020304" pitchFamily="18" charset="0"/>
                <a:cs typeface="Segoe UI" panose="020B0502040204020203" pitchFamily="34" charset="0"/>
              </a:rPr>
              <a:t> in bepaalde situaties en laat ze zelfstandig naar oplossingen zoeken.</a:t>
            </a:r>
            <a:br>
              <a:rPr lang="nl-BE" sz="2400" dirty="0">
                <a:solidFill>
                  <a:srgbClr val="212529"/>
                </a:solidFill>
                <a:effectLst/>
                <a:latin typeface="Nunito"/>
                <a:ea typeface="Times New Roman" panose="02020603050405020304" pitchFamily="18" charset="0"/>
                <a:cs typeface="Segoe UI" panose="020B0502040204020203" pitchFamily="34" charset="0"/>
              </a:rPr>
            </a:br>
            <a:r>
              <a:rPr lang="nl-BE" sz="2400" dirty="0">
                <a:solidFill>
                  <a:srgbClr val="212529"/>
                </a:solidFill>
                <a:effectLst/>
                <a:latin typeface="Nunito"/>
                <a:ea typeface="Times New Roman" panose="02020603050405020304" pitchFamily="18" charset="0"/>
                <a:cs typeface="Segoe UI" panose="020B0502040204020203" pitchFamily="34" charset="0"/>
              </a:rPr>
              <a:t>Voeg ook conditionele oefeningen toe. Bij voorkeur steeds met bal.</a:t>
            </a:r>
            <a:endParaRPr lang="nl-BE"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5">
            <a:extLst>
              <a:ext uri="{FF2B5EF4-FFF2-40B4-BE49-F238E27FC236}">
                <a16:creationId xmlns:a16="http://schemas.microsoft.com/office/drawing/2014/main" id="{49292828-C818-498E-AEA6-B6D12BC15427}"/>
              </a:ext>
            </a:extLst>
          </p:cNvPr>
          <p:cNvSpPr/>
          <p:nvPr/>
        </p:nvSpPr>
        <p:spPr>
          <a:xfrm>
            <a:off x="2595661" y="307956"/>
            <a:ext cx="7529646" cy="525988"/>
          </a:xfrm>
          <a:prstGeom prst="rect">
            <a:avLst/>
          </a:prstGeom>
          <a:solidFill>
            <a:srgbClr val="7030A0"/>
          </a:solidFill>
          <a:ln/>
        </p:spPr>
        <p:style>
          <a:lnRef idx="0">
            <a:schemeClr val="accent4"/>
          </a:lnRef>
          <a:fillRef idx="3">
            <a:schemeClr val="accent4"/>
          </a:fillRef>
          <a:effectRef idx="3">
            <a:schemeClr val="accent4"/>
          </a:effectRef>
          <a:fontRef idx="minor">
            <a:schemeClr val="lt1"/>
          </a:fontRef>
        </p:style>
        <p:txBody>
          <a:bodyPr rtlCol="0" anchor="ctr"/>
          <a:lstStyle/>
          <a:p>
            <a:pPr algn="ctr"/>
            <a:r>
              <a:rPr lang="nl-BE" sz="3200" dirty="0">
                <a:solidFill>
                  <a:schemeClr val="bg1"/>
                </a:solidFill>
              </a:rPr>
              <a:t>U1O U11 U12 PRE-FORMATIE</a:t>
            </a:r>
          </a:p>
        </p:txBody>
      </p:sp>
    </p:spTree>
    <p:extLst>
      <p:ext uri="{BB962C8B-B14F-4D97-AF65-F5344CB8AC3E}">
        <p14:creationId xmlns:p14="http://schemas.microsoft.com/office/powerpoint/2010/main" val="20562615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95661" y="833944"/>
            <a:ext cx="8262839" cy="6093976"/>
          </a:xfrm>
          <a:prstGeom prst="rect">
            <a:avLst/>
          </a:prstGeom>
          <a:noFill/>
        </p:spPr>
        <p:txBody>
          <a:bodyPr wrap="square" rtlCol="0">
            <a:spAutoFit/>
          </a:bodyPr>
          <a:lstStyle/>
          <a:p>
            <a:pPr lvl="0">
              <a:spcAft>
                <a:spcPts val="1800"/>
              </a:spcAft>
            </a:pPr>
            <a:r>
              <a:rPr lang="nl-BE" sz="2400" dirty="0">
                <a:solidFill>
                  <a:srgbClr val="212529"/>
                </a:solidFill>
                <a:effectLst/>
                <a:latin typeface="Nunito"/>
                <a:ea typeface="Times New Roman" panose="02020603050405020304" pitchFamily="18" charset="0"/>
                <a:cs typeface="Segoe UI" panose="020B0502040204020203" pitchFamily="34" charset="0"/>
              </a:rPr>
              <a:t>4/ Wedstrijdvorm</a:t>
            </a:r>
            <a:br>
              <a:rPr lang="nl-BE" sz="2400" dirty="0">
                <a:solidFill>
                  <a:srgbClr val="212529"/>
                </a:solidFill>
                <a:effectLst/>
                <a:latin typeface="Nunito"/>
                <a:ea typeface="Times New Roman" panose="02020603050405020304" pitchFamily="18" charset="0"/>
                <a:cs typeface="Segoe UI" panose="020B0502040204020203" pitchFamily="34" charset="0"/>
              </a:rPr>
            </a:br>
            <a:r>
              <a:rPr lang="nl-BE" sz="2400" dirty="0">
                <a:solidFill>
                  <a:srgbClr val="212529"/>
                </a:solidFill>
                <a:effectLst/>
                <a:latin typeface="Nunito"/>
                <a:ea typeface="Times New Roman" panose="02020603050405020304" pitchFamily="18" charset="0"/>
                <a:cs typeface="Segoe UI" panose="020B0502040204020203" pitchFamily="34" charset="0"/>
              </a:rPr>
              <a:t>    Werk ook hier op tactiek. </a:t>
            </a:r>
            <a:r>
              <a:rPr lang="nl-BE" sz="2400" b="1" dirty="0">
                <a:solidFill>
                  <a:srgbClr val="212529"/>
                </a:solidFill>
                <a:effectLst/>
                <a:latin typeface="Nunito"/>
                <a:ea typeface="Times New Roman" panose="02020603050405020304" pitchFamily="18" charset="0"/>
                <a:cs typeface="Segoe UI" panose="020B0502040204020203" pitchFamily="34" charset="0"/>
              </a:rPr>
              <a:t>Simuleer wedstrijdsituaties</a:t>
            </a:r>
            <a:r>
              <a:rPr lang="nl-BE" sz="2400" dirty="0">
                <a:solidFill>
                  <a:srgbClr val="212529"/>
                </a:solidFill>
                <a:effectLst/>
                <a:latin typeface="Nunito"/>
                <a:ea typeface="Times New Roman" panose="02020603050405020304" pitchFamily="18" charset="0"/>
                <a:cs typeface="Segoe UI" panose="020B0502040204020203" pitchFamily="34" charset="0"/>
              </a:rPr>
              <a:t> en neem ze met je spelers door.    </a:t>
            </a:r>
            <a:br>
              <a:rPr lang="nl-BE" sz="2400" dirty="0">
                <a:solidFill>
                  <a:srgbClr val="212529"/>
                </a:solidFill>
                <a:effectLst/>
                <a:latin typeface="Nunito"/>
                <a:ea typeface="Times New Roman" panose="02020603050405020304" pitchFamily="18" charset="0"/>
                <a:cs typeface="Segoe UI" panose="020B0502040204020203" pitchFamily="34" charset="0"/>
              </a:rPr>
            </a:br>
            <a:r>
              <a:rPr lang="nl-BE" sz="2400" dirty="0">
                <a:solidFill>
                  <a:srgbClr val="212529"/>
                </a:solidFill>
                <a:effectLst/>
                <a:latin typeface="Nunito"/>
                <a:ea typeface="Times New Roman" panose="02020603050405020304" pitchFamily="18" charset="0"/>
                <a:cs typeface="Segoe UI" panose="020B0502040204020203" pitchFamily="34" charset="0"/>
              </a:rPr>
              <a:t>     Focus dus tijdens deze eerste cyclus vooral op opbouw van   achteruit. De juiste man aanspelen. De juiste keuzes maken. Leer hoe   ze positioneel moeten staan. Speel regelmatig tornooivormen (2&gt;&lt;2, 3&gt;&lt;3, …) </a:t>
            </a:r>
            <a:endParaRPr lang="nl-BE" sz="2400" dirty="0">
              <a:latin typeface="Calibri" panose="020F0502020204030204" pitchFamily="34" charset="0"/>
              <a:ea typeface="Times New Roman" panose="02020603050405020304" pitchFamily="18" charset="0"/>
              <a:cs typeface="Times New Roman" panose="02020603050405020304" pitchFamily="18" charset="0"/>
            </a:endParaRPr>
          </a:p>
          <a:p>
            <a:pPr lvl="0">
              <a:spcAft>
                <a:spcPts val="1800"/>
              </a:spcAft>
            </a:pPr>
            <a:r>
              <a:rPr lang="nl-BE" sz="2400" dirty="0">
                <a:solidFill>
                  <a:srgbClr val="212529"/>
                </a:solidFill>
                <a:effectLst/>
                <a:latin typeface="Nunito"/>
                <a:ea typeface="Times New Roman" panose="02020603050405020304" pitchFamily="18" charset="0"/>
                <a:cs typeface="Segoe UI" panose="020B0502040204020203" pitchFamily="34" charset="0"/>
              </a:rPr>
              <a:t>Prikkel deze leeftijd met </a:t>
            </a:r>
            <a:r>
              <a:rPr lang="nl-BE" sz="2400" b="1" dirty="0">
                <a:solidFill>
                  <a:srgbClr val="212529"/>
                </a:solidFill>
                <a:effectLst/>
                <a:latin typeface="Nunito"/>
                <a:ea typeface="Times New Roman" panose="02020603050405020304" pitchFamily="18" charset="0"/>
                <a:cs typeface="Segoe UI" panose="020B0502040204020203" pitchFamily="34" charset="0"/>
              </a:rPr>
              <a:t>reactiespelletjes</a:t>
            </a:r>
            <a:r>
              <a:rPr lang="nl-BE" sz="2400" dirty="0">
                <a:solidFill>
                  <a:srgbClr val="212529"/>
                </a:solidFill>
                <a:effectLst/>
                <a:latin typeface="Nunito"/>
                <a:ea typeface="Times New Roman" panose="02020603050405020304" pitchFamily="18" charset="0"/>
                <a:cs typeface="Segoe UI" panose="020B0502040204020203" pitchFamily="34" charset="0"/>
              </a:rPr>
              <a:t>. Drijf stilaan de handelingssnelheid omhoog. Wees streng op een perfecte balaanname. En laat ze vooruit denken. Leer ze tal van pasvormen aan: diagonaal, lateraal, … Beide leeftijdsgroepen kunnen ook in deze cyclus werken rond balbezit, opgebouwd van </a:t>
            </a:r>
            <a:r>
              <a:rPr lang="nl-BE" sz="2400" dirty="0" err="1">
                <a:solidFill>
                  <a:srgbClr val="212529"/>
                </a:solidFill>
                <a:effectLst/>
                <a:latin typeface="Nunito"/>
                <a:ea typeface="Times New Roman" panose="02020603050405020304" pitchFamily="18" charset="0"/>
                <a:cs typeface="Segoe UI" panose="020B0502040204020203" pitchFamily="34" charset="0"/>
              </a:rPr>
              <a:t>achteruit.Omschakeling</a:t>
            </a:r>
            <a:r>
              <a:rPr lang="nl-BE" sz="2400" dirty="0">
                <a:solidFill>
                  <a:srgbClr val="212529"/>
                </a:solidFill>
                <a:effectLst/>
                <a:latin typeface="Nunito"/>
                <a:ea typeface="Times New Roman" panose="02020603050405020304" pitchFamily="18" charset="0"/>
                <a:cs typeface="Segoe UI" panose="020B0502040204020203" pitchFamily="34" charset="0"/>
              </a:rPr>
              <a:t>. Leer ze ook aan om bij balverlies (B-) hun positie te bewaken.</a:t>
            </a:r>
            <a:endParaRPr lang="nl-BE" sz="2400" dirty="0">
              <a:latin typeface="Calibri" panose="020F0502020204030204" pitchFamily="34" charset="0"/>
              <a:ea typeface="Times New Roman" panose="02020603050405020304" pitchFamily="18" charset="0"/>
              <a:cs typeface="Times New Roman" panose="02020603050405020304" pitchFamily="18" charset="0"/>
            </a:endParaRPr>
          </a:p>
          <a:p>
            <a:pPr marL="457200">
              <a:spcAft>
                <a:spcPts val="1800"/>
              </a:spcAft>
            </a:pPr>
            <a:r>
              <a:rPr lang="nl-BE" sz="2400" dirty="0">
                <a:solidFill>
                  <a:srgbClr val="212529"/>
                </a:solidFill>
                <a:effectLst/>
                <a:latin typeface="Calibri" panose="020F0502020204030204" pitchFamily="34" charset="0"/>
                <a:ea typeface="Times New Roman" panose="02020603050405020304" pitchFamily="18" charset="0"/>
                <a:cs typeface="Times New Roman" panose="02020603050405020304" pitchFamily="18" charset="0"/>
              </a:rPr>
              <a:t>5/</a:t>
            </a:r>
            <a:r>
              <a:rPr lang="nl-BE" sz="2400" dirty="0">
                <a:solidFill>
                  <a:srgbClr val="212529"/>
                </a:solidFill>
                <a:effectLst/>
                <a:latin typeface="Nunito"/>
                <a:ea typeface="Times New Roman" panose="02020603050405020304" pitchFamily="18" charset="0"/>
                <a:cs typeface="Segoe UI" panose="020B0502040204020203" pitchFamily="34" charset="0"/>
              </a:rPr>
              <a:t>Werk naar een leuk einde van je training.</a:t>
            </a:r>
            <a:endParaRPr lang="nl-BE" sz="2400" dirty="0">
              <a:cs typeface="Century Gothic"/>
            </a:endParaRPr>
          </a:p>
        </p:txBody>
      </p:sp>
      <p:sp>
        <p:nvSpPr>
          <p:cNvPr id="6" name="Rectangle 5"/>
          <p:cNvSpPr/>
          <p:nvPr/>
        </p:nvSpPr>
        <p:spPr>
          <a:xfrm>
            <a:off x="2595661" y="180348"/>
            <a:ext cx="7529646" cy="525988"/>
          </a:xfrm>
          <a:prstGeom prst="rect">
            <a:avLst/>
          </a:prstGeom>
          <a:solidFill>
            <a:srgbClr val="7030A0"/>
          </a:solidFill>
          <a:ln/>
        </p:spPr>
        <p:style>
          <a:lnRef idx="0">
            <a:schemeClr val="accent4"/>
          </a:lnRef>
          <a:fillRef idx="3">
            <a:schemeClr val="accent4"/>
          </a:fillRef>
          <a:effectRef idx="3">
            <a:schemeClr val="accent4"/>
          </a:effectRef>
          <a:fontRef idx="minor">
            <a:schemeClr val="lt1"/>
          </a:fontRef>
        </p:style>
        <p:txBody>
          <a:bodyPr rtlCol="0" anchor="ctr"/>
          <a:lstStyle/>
          <a:p>
            <a:pPr algn="ctr"/>
            <a:r>
              <a:rPr lang="nl-BE" sz="3200" dirty="0">
                <a:solidFill>
                  <a:schemeClr val="bg1"/>
                </a:solidFill>
              </a:rPr>
              <a:t>U1O U11 U12 PRE-FORMATIE</a:t>
            </a:r>
          </a:p>
        </p:txBody>
      </p:sp>
      <p:pic>
        <p:nvPicPr>
          <p:cNvPr id="5" name="Afbeelding 4">
            <a:extLst>
              <a:ext uri="{FF2B5EF4-FFF2-40B4-BE49-F238E27FC236}">
                <a16:creationId xmlns:a16="http://schemas.microsoft.com/office/drawing/2014/main" id="{A6163592-E871-7447-80E2-D1FAD92867DD}"/>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89210" y="12270"/>
            <a:ext cx="936000" cy="1117360"/>
          </a:xfrm>
          <a:prstGeom prst="rect">
            <a:avLst/>
          </a:prstGeom>
          <a:noFill/>
        </p:spPr>
      </p:pic>
      <p:pic>
        <p:nvPicPr>
          <p:cNvPr id="8" name="Afbeelding 7">
            <a:extLst>
              <a:ext uri="{FF2B5EF4-FFF2-40B4-BE49-F238E27FC236}">
                <a16:creationId xmlns:a16="http://schemas.microsoft.com/office/drawing/2014/main" id="{8E97D0E3-BFC6-9C44-8E6F-D12C5D3B4DFA}"/>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091747" y="12270"/>
            <a:ext cx="936000" cy="1117360"/>
          </a:xfrm>
          <a:prstGeom prst="rect">
            <a:avLst/>
          </a:prstGeom>
          <a:noFill/>
        </p:spPr>
      </p:pic>
      <p:sp>
        <p:nvSpPr>
          <p:cNvPr id="7" name="Titel 1">
            <a:extLst>
              <a:ext uri="{FF2B5EF4-FFF2-40B4-BE49-F238E27FC236}">
                <a16:creationId xmlns:a16="http://schemas.microsoft.com/office/drawing/2014/main" id="{CB3DAEF8-9B4D-994E-91E6-AABB6748C99D}"/>
              </a:ext>
            </a:extLst>
          </p:cNvPr>
          <p:cNvSpPr txBox="1">
            <a:spLocks/>
          </p:cNvSpPr>
          <p:nvPr/>
        </p:nvSpPr>
        <p:spPr>
          <a:xfrm>
            <a:off x="2595661" y="833944"/>
            <a:ext cx="7529646" cy="60909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nl-NL" sz="2400" dirty="0">
              <a:solidFill>
                <a:srgbClr val="7030A0"/>
              </a:solidFill>
            </a:endParaRPr>
          </a:p>
        </p:txBody>
      </p:sp>
    </p:spTree>
    <p:extLst>
      <p:ext uri="{BB962C8B-B14F-4D97-AF65-F5344CB8AC3E}">
        <p14:creationId xmlns:p14="http://schemas.microsoft.com/office/powerpoint/2010/main" val="3742976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69706" y="1916833"/>
            <a:ext cx="8352928" cy="646331"/>
          </a:xfrm>
          <a:prstGeom prst="rect">
            <a:avLst/>
          </a:prstGeom>
        </p:spPr>
        <p:txBody>
          <a:bodyPr wrap="square">
            <a:spAutoFit/>
          </a:bodyPr>
          <a:lstStyle/>
          <a:p>
            <a:endParaRPr lang="en-GB" dirty="0"/>
          </a:p>
          <a:p>
            <a:r>
              <a:rPr lang="nl-NL" dirty="0"/>
              <a:t> </a:t>
            </a:r>
            <a:endParaRPr lang="en-GB" dirty="0"/>
          </a:p>
        </p:txBody>
      </p:sp>
      <p:sp>
        <p:nvSpPr>
          <p:cNvPr id="3" name="Rectangle 2"/>
          <p:cNvSpPr/>
          <p:nvPr/>
        </p:nvSpPr>
        <p:spPr>
          <a:xfrm>
            <a:off x="1676738" y="1700808"/>
            <a:ext cx="8712968" cy="369332"/>
          </a:xfrm>
          <a:prstGeom prst="rect">
            <a:avLst/>
          </a:prstGeom>
        </p:spPr>
        <p:txBody>
          <a:bodyPr wrap="square">
            <a:spAutoFit/>
          </a:bodyPr>
          <a:lstStyle/>
          <a:p>
            <a:r>
              <a:rPr lang="nl-NL" dirty="0"/>
              <a:t> </a:t>
            </a:r>
            <a:endParaRPr lang="en-GB" dirty="0"/>
          </a:p>
        </p:txBody>
      </p:sp>
      <p:sp>
        <p:nvSpPr>
          <p:cNvPr id="4" name="Rectangle 3"/>
          <p:cNvSpPr/>
          <p:nvPr/>
        </p:nvSpPr>
        <p:spPr>
          <a:xfrm>
            <a:off x="1909892" y="869865"/>
            <a:ext cx="8401322" cy="584775"/>
          </a:xfrm>
          <a:prstGeom prst="rect">
            <a:avLst/>
          </a:prstGeom>
        </p:spPr>
        <p:txBody>
          <a:bodyPr wrap="square">
            <a:spAutoFit/>
          </a:bodyPr>
          <a:lstStyle/>
          <a:p>
            <a:endParaRPr lang="en-GB" sz="1600" dirty="0">
              <a:solidFill>
                <a:srgbClr val="7030A0"/>
              </a:solidFill>
            </a:endParaRPr>
          </a:p>
          <a:p>
            <a:endParaRPr lang="en-GB" sz="1600" dirty="0"/>
          </a:p>
        </p:txBody>
      </p:sp>
      <p:sp>
        <p:nvSpPr>
          <p:cNvPr id="8" name="Rectangle 7"/>
          <p:cNvSpPr/>
          <p:nvPr/>
        </p:nvSpPr>
        <p:spPr>
          <a:xfrm>
            <a:off x="1909892" y="297555"/>
            <a:ext cx="8352928" cy="5259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a:spcAft>
                <a:spcPts val="500"/>
              </a:spcAft>
            </a:pPr>
            <a:r>
              <a:rPr lang="nl-BE" sz="3200" b="1" dirty="0">
                <a:solidFill>
                  <a:schemeClr val="bg1"/>
                </a:solidFill>
                <a:effectLst/>
                <a:latin typeface="Roboto"/>
                <a:ea typeface="Times New Roman" panose="02020603050405020304" pitchFamily="18" charset="0"/>
                <a:cs typeface="Arial" panose="020B0604020202020204" pitchFamily="34" charset="0"/>
              </a:rPr>
              <a:t>U13 - U15 (formatie)</a:t>
            </a:r>
            <a:endParaRPr lang="nl-BE"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Afbeelding 5">
            <a:extLst>
              <a:ext uri="{FF2B5EF4-FFF2-40B4-BE49-F238E27FC236}">
                <a16:creationId xmlns:a16="http://schemas.microsoft.com/office/drawing/2014/main" id="{00F4848A-A682-9A4D-BE1E-31FEFDA422BB}"/>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153" y="12270"/>
            <a:ext cx="936000" cy="1117360"/>
          </a:xfrm>
          <a:prstGeom prst="rect">
            <a:avLst/>
          </a:prstGeom>
          <a:noFill/>
        </p:spPr>
      </p:pic>
      <p:pic>
        <p:nvPicPr>
          <p:cNvPr id="7" name="Afbeelding 6">
            <a:extLst>
              <a:ext uri="{FF2B5EF4-FFF2-40B4-BE49-F238E27FC236}">
                <a16:creationId xmlns:a16="http://schemas.microsoft.com/office/drawing/2014/main" id="{F97F6D8A-7936-CB4F-8DC1-32E75BF2E2EE}"/>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225559" y="12270"/>
            <a:ext cx="936000" cy="1117360"/>
          </a:xfrm>
          <a:prstGeom prst="rect">
            <a:avLst/>
          </a:prstGeom>
          <a:noFill/>
        </p:spPr>
      </p:pic>
      <p:sp>
        <p:nvSpPr>
          <p:cNvPr id="9" name="Tekstvak 8">
            <a:extLst>
              <a:ext uri="{FF2B5EF4-FFF2-40B4-BE49-F238E27FC236}">
                <a16:creationId xmlns:a16="http://schemas.microsoft.com/office/drawing/2014/main" id="{784AE9C6-E0F4-443E-9C44-229268D9CE73}"/>
              </a:ext>
            </a:extLst>
          </p:cNvPr>
          <p:cNvSpPr txBox="1"/>
          <p:nvPr/>
        </p:nvSpPr>
        <p:spPr>
          <a:xfrm>
            <a:off x="1909892" y="1065748"/>
            <a:ext cx="8545896" cy="5103961"/>
          </a:xfrm>
          <a:prstGeom prst="rect">
            <a:avLst/>
          </a:prstGeom>
          <a:noFill/>
        </p:spPr>
        <p:txBody>
          <a:bodyPr wrap="square">
            <a:spAutoFit/>
          </a:bodyPr>
          <a:lstStyle/>
          <a:p>
            <a:pPr marL="457200">
              <a:spcAft>
                <a:spcPts val="1800"/>
              </a:spcAft>
            </a:pPr>
            <a:r>
              <a:rPr lang="nl-BE" sz="2400" dirty="0">
                <a:solidFill>
                  <a:srgbClr val="212529"/>
                </a:solidFill>
                <a:effectLst/>
                <a:latin typeface="Nunito"/>
                <a:ea typeface="Times New Roman" panose="02020603050405020304" pitchFamily="18" charset="0"/>
                <a:cs typeface="Segoe UI" panose="020B0502040204020203" pitchFamily="34" charset="0"/>
              </a:rPr>
              <a:t>Bouw je trainingen met gelijkaardige elementen op als de categorieën “initiatie” en “formatie”, maar met uitdaging op het niveau van deze jongens.</a:t>
            </a:r>
            <a:endParaRPr lang="nl-BE" sz="2400" dirty="0">
              <a:effectLst/>
              <a:latin typeface="Calibri" panose="020F0502020204030204" pitchFamily="34" charset="0"/>
              <a:ea typeface="Calibri" panose="020F0502020204030204" pitchFamily="34" charset="0"/>
              <a:cs typeface="Times New Roman" panose="02020603050405020304" pitchFamily="18" charset="0"/>
            </a:endParaRPr>
          </a:p>
          <a:p>
            <a:pPr marL="457200">
              <a:spcAft>
                <a:spcPts val="1800"/>
              </a:spcAft>
            </a:pPr>
            <a:r>
              <a:rPr lang="nl-BE" sz="2400" dirty="0">
                <a:solidFill>
                  <a:srgbClr val="212529"/>
                </a:solidFill>
                <a:effectLst/>
                <a:latin typeface="Nunito"/>
                <a:ea typeface="Times New Roman" panose="02020603050405020304" pitchFamily="18" charset="0"/>
                <a:cs typeface="Segoe UI" panose="020B0502040204020203" pitchFamily="34" charset="0"/>
              </a:rPr>
              <a:t>Focus tijdens deze eerste cyclus vooral op het spelsysteem:</a:t>
            </a:r>
            <a:endParaRPr lang="nl-BE"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SzPts val="1000"/>
              <a:buFont typeface="Wingdings" panose="05000000000000000000" pitchFamily="2" charset="2"/>
              <a:buChar char=""/>
            </a:pPr>
            <a:r>
              <a:rPr lang="nl-BE" sz="2400" dirty="0">
                <a:solidFill>
                  <a:srgbClr val="212529"/>
                </a:solidFill>
                <a:effectLst/>
                <a:latin typeface="Nunito"/>
                <a:ea typeface="Times New Roman" panose="02020603050405020304" pitchFamily="18" charset="0"/>
                <a:cs typeface="Segoe UI" panose="020B0502040204020203" pitchFamily="34" charset="0"/>
              </a:rPr>
              <a:t>Voor U15 is </a:t>
            </a:r>
            <a:r>
              <a:rPr lang="nl-BE" sz="2400" b="1" dirty="0">
                <a:solidFill>
                  <a:srgbClr val="212529"/>
                </a:solidFill>
                <a:effectLst/>
                <a:latin typeface="Nunito"/>
                <a:ea typeface="Times New Roman" panose="02020603050405020304" pitchFamily="18" charset="0"/>
                <a:cs typeface="Segoe UI" panose="020B0502040204020203" pitchFamily="34" charset="0"/>
              </a:rPr>
              <a:t>11 &gt;&lt; 11</a:t>
            </a:r>
            <a:r>
              <a:rPr lang="nl-BE" sz="2400" dirty="0">
                <a:solidFill>
                  <a:srgbClr val="212529"/>
                </a:solidFill>
                <a:effectLst/>
                <a:latin typeface="Nunito"/>
                <a:ea typeface="Times New Roman" panose="02020603050405020304" pitchFamily="18" charset="0"/>
                <a:cs typeface="Segoe UI" panose="020B0502040204020203" pitchFamily="34" charset="0"/>
              </a:rPr>
              <a:t> helemaal nieuw. Leer hoe ze positioneel moeten staan. </a:t>
            </a:r>
            <a:endParaRPr lang="nl-BE" sz="2400" dirty="0">
              <a:effectLst/>
              <a:latin typeface="Symbol" panose="05050102010706020507" pitchFamily="18" charset="2"/>
              <a:ea typeface="Calibri" panose="020F0502020204030204" pitchFamily="34" charset="0"/>
              <a:cs typeface="Times New Roman" panose="02020603050405020304" pitchFamily="18" charset="0"/>
            </a:endParaRPr>
          </a:p>
          <a:p>
            <a:pPr marL="342900" lvl="0" indent="-342900">
              <a:spcBef>
                <a:spcPts val="500"/>
              </a:spcBef>
              <a:spcAft>
                <a:spcPts val="500"/>
              </a:spcAft>
              <a:buSzPts val="1000"/>
              <a:buFont typeface="Wingdings" panose="05000000000000000000" pitchFamily="2" charset="2"/>
              <a:buChar char=""/>
            </a:pPr>
            <a:r>
              <a:rPr lang="nl-BE" sz="2400" dirty="0">
                <a:solidFill>
                  <a:srgbClr val="212529"/>
                </a:solidFill>
                <a:effectLst/>
                <a:latin typeface="Nunito"/>
                <a:ea typeface="Times New Roman" panose="02020603050405020304" pitchFamily="18" charset="0"/>
                <a:cs typeface="Segoe UI" panose="020B0502040204020203" pitchFamily="34" charset="0"/>
              </a:rPr>
              <a:t>U13 kan de dubbele ruit eens laten draaien of met opkomende flanken spelen waar enkele andere spelers taken overnemen. </a:t>
            </a:r>
            <a:endParaRPr lang="nl-BE" sz="2400" dirty="0">
              <a:solidFill>
                <a:srgbClr val="212529"/>
              </a:solidFill>
              <a:effectLst/>
              <a:latin typeface="Symbol" panose="05050102010706020507" pitchFamily="18" charset="2"/>
              <a:ea typeface="Calibri" panose="020F0502020204030204" pitchFamily="34" charset="0"/>
              <a:cs typeface="Times New Roman" panose="02020603050405020304" pitchFamily="18" charset="0"/>
            </a:endParaRPr>
          </a:p>
          <a:p>
            <a:pPr marL="457200">
              <a:spcAft>
                <a:spcPts val="1800"/>
              </a:spcAft>
            </a:pPr>
            <a:r>
              <a:rPr lang="nl-BE" sz="2400" dirty="0">
                <a:solidFill>
                  <a:srgbClr val="212529"/>
                </a:solidFill>
                <a:effectLst/>
                <a:latin typeface="Nunito"/>
                <a:ea typeface="Times New Roman" panose="02020603050405020304" pitchFamily="18" charset="0"/>
                <a:cs typeface="Segoe UI" panose="020B0502040204020203" pitchFamily="34" charset="0"/>
              </a:rPr>
              <a:t>Beide leeftijdsgroepen werken ook in deze cyclus rond </a:t>
            </a:r>
            <a:r>
              <a:rPr lang="nl-BE" sz="2400" b="1" dirty="0">
                <a:solidFill>
                  <a:srgbClr val="212529"/>
                </a:solidFill>
                <a:effectLst/>
                <a:latin typeface="Nunito"/>
                <a:ea typeface="Times New Roman" panose="02020603050405020304" pitchFamily="18" charset="0"/>
                <a:cs typeface="Segoe UI" panose="020B0502040204020203" pitchFamily="34" charset="0"/>
              </a:rPr>
              <a:t>balbezit (B+)</a:t>
            </a:r>
            <a:r>
              <a:rPr lang="nl-BE" sz="2400" dirty="0">
                <a:solidFill>
                  <a:srgbClr val="212529"/>
                </a:solidFill>
                <a:effectLst/>
                <a:latin typeface="Nunito"/>
                <a:ea typeface="Times New Roman" panose="02020603050405020304" pitchFamily="18" charset="0"/>
                <a:cs typeface="Segoe UI" panose="020B0502040204020203" pitchFamily="34" charset="0"/>
              </a:rPr>
              <a:t>. Bouw steeds op van achter uit!</a:t>
            </a:r>
            <a:endParaRPr lang="nl-BE" sz="2400" dirty="0">
              <a:effectLst/>
              <a:latin typeface="Calibri" panose="020F0502020204030204" pitchFamily="34" charset="0"/>
              <a:ea typeface="Calibri" panose="020F0502020204030204" pitchFamily="34" charset="0"/>
              <a:cs typeface="Times New Roman" panose="02020603050405020304" pitchFamily="18" charset="0"/>
            </a:endParaRPr>
          </a:p>
          <a:p>
            <a:pPr marL="457200">
              <a:spcAft>
                <a:spcPts val="500"/>
              </a:spcAft>
            </a:pPr>
            <a:r>
              <a:rPr lang="en-GB" sz="2400" dirty="0">
                <a:effectLst/>
                <a:latin typeface="Calibri" panose="020F0502020204030204" pitchFamily="34" charset="0"/>
                <a:ea typeface="Calibri" panose="020F0502020204030204" pitchFamily="34" charset="0"/>
                <a:cs typeface="Times New Roman" panose="02020603050405020304" pitchFamily="18" charset="0"/>
              </a:rPr>
              <a:t> </a:t>
            </a:r>
            <a:endParaRPr lang="nl-BE"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201054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880000" y="307956"/>
            <a:ext cx="8352928" cy="5259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3200" dirty="0">
                <a:solidFill>
                  <a:schemeClr val="bg1"/>
                </a:solidFill>
              </a:rPr>
              <a:t>CYCLUS 2</a:t>
            </a:r>
          </a:p>
        </p:txBody>
      </p:sp>
      <p:pic>
        <p:nvPicPr>
          <p:cNvPr id="4" name="Afbeelding 3">
            <a:extLst>
              <a:ext uri="{FF2B5EF4-FFF2-40B4-BE49-F238E27FC236}">
                <a16:creationId xmlns:a16="http://schemas.microsoft.com/office/drawing/2014/main" id="{B3524894-047C-3F4E-A11F-32F1CB9ED45A}"/>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153" y="12270"/>
            <a:ext cx="936000" cy="1117360"/>
          </a:xfrm>
          <a:prstGeom prst="rect">
            <a:avLst/>
          </a:prstGeom>
          <a:noFill/>
        </p:spPr>
      </p:pic>
      <p:pic>
        <p:nvPicPr>
          <p:cNvPr id="5" name="Afbeelding 4">
            <a:extLst>
              <a:ext uri="{FF2B5EF4-FFF2-40B4-BE49-F238E27FC236}">
                <a16:creationId xmlns:a16="http://schemas.microsoft.com/office/drawing/2014/main" id="{E4EE8C19-3788-B947-BEDF-F2B1500CF918}"/>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225559" y="12270"/>
            <a:ext cx="936000" cy="1117360"/>
          </a:xfrm>
          <a:prstGeom prst="rect">
            <a:avLst/>
          </a:prstGeom>
          <a:noFill/>
        </p:spPr>
      </p:pic>
      <p:sp>
        <p:nvSpPr>
          <p:cNvPr id="7" name="Tekstvak 6">
            <a:extLst>
              <a:ext uri="{FF2B5EF4-FFF2-40B4-BE49-F238E27FC236}">
                <a16:creationId xmlns:a16="http://schemas.microsoft.com/office/drawing/2014/main" id="{4C3A26A8-0CD5-4F64-B2AD-78BCCA0ACC8C}"/>
              </a:ext>
            </a:extLst>
          </p:cNvPr>
          <p:cNvSpPr txBox="1"/>
          <p:nvPr/>
        </p:nvSpPr>
        <p:spPr>
          <a:xfrm>
            <a:off x="3048000" y="888608"/>
            <a:ext cx="6096000" cy="6091411"/>
          </a:xfrm>
          <a:prstGeom prst="rect">
            <a:avLst/>
          </a:prstGeom>
          <a:noFill/>
        </p:spPr>
        <p:txBody>
          <a:bodyPr wrap="square">
            <a:spAutoFit/>
          </a:bodyPr>
          <a:lstStyle/>
          <a:p>
            <a:pPr marL="457200" algn="ctr">
              <a:spcAft>
                <a:spcPts val="500"/>
              </a:spcAft>
            </a:pPr>
            <a:r>
              <a:rPr lang="nl-BE" sz="3600" b="1" dirty="0">
                <a:solidFill>
                  <a:srgbClr val="FFFFFF"/>
                </a:solidFill>
                <a:effectLst/>
                <a:latin typeface="Roboto"/>
                <a:ea typeface="Times New Roman" panose="02020603050405020304" pitchFamily="18" charset="0"/>
                <a:cs typeface="Arial" panose="020B0604020202020204" pitchFamily="34" charset="0"/>
              </a:rPr>
              <a:t>Cyclus</a:t>
            </a:r>
            <a:endParaRPr lang="nl-BE" sz="20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ctr">
              <a:spcAft>
                <a:spcPts val="500"/>
              </a:spcAft>
            </a:pPr>
            <a:r>
              <a:rPr lang="nl-BE" sz="2800" b="1" dirty="0">
                <a:solidFill>
                  <a:srgbClr val="555555"/>
                </a:solidFill>
                <a:effectLst/>
                <a:highlight>
                  <a:srgbClr val="FFFF00"/>
                </a:highlight>
                <a:latin typeface="Nunito"/>
                <a:ea typeface="Times New Roman" panose="02020603050405020304" pitchFamily="18" charset="0"/>
                <a:cs typeface="Segoe UI" panose="020B0502040204020203" pitchFamily="34" charset="0"/>
              </a:rPr>
              <a:t>2 </a:t>
            </a:r>
            <a:r>
              <a:rPr lang="nl-BE" sz="2800" dirty="0">
                <a:solidFill>
                  <a:srgbClr val="555555"/>
                </a:solidFill>
                <a:effectLst/>
                <a:highlight>
                  <a:srgbClr val="FFFF00"/>
                </a:highlight>
                <a:latin typeface="Nunito"/>
                <a:ea typeface="Times New Roman" panose="02020603050405020304" pitchFamily="18" charset="0"/>
                <a:cs typeface="Segoe UI" panose="020B0502040204020203" pitchFamily="34" charset="0"/>
              </a:rPr>
              <a:t>okt-nov</a:t>
            </a:r>
          </a:p>
          <a:p>
            <a:pPr marL="457200" algn="ctr">
              <a:spcAft>
                <a:spcPts val="500"/>
              </a:spcAft>
            </a:pPr>
            <a:r>
              <a:rPr lang="nl-BE" sz="2800" b="1" dirty="0">
                <a:solidFill>
                  <a:srgbClr val="555555"/>
                </a:solidFill>
                <a:effectLst/>
                <a:latin typeface="Nunito"/>
                <a:ea typeface="Times New Roman" panose="02020603050405020304" pitchFamily="18" charset="0"/>
                <a:cs typeface="Segoe UI" panose="020B0502040204020203" pitchFamily="34" charset="0"/>
              </a:rPr>
              <a:t> </a:t>
            </a:r>
            <a:endParaRPr lang="nl-BE"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ctr">
              <a:spcAft>
                <a:spcPts val="500"/>
              </a:spcAft>
              <a:buSzPts val="1000"/>
              <a:buFont typeface="Wingdings" panose="05000000000000000000" pitchFamily="2" charset="2"/>
              <a:buChar char=""/>
              <a:tabLst>
                <a:tab pos="457200" algn="l"/>
              </a:tabLst>
            </a:pPr>
            <a:r>
              <a:rPr lang="nl-BE" sz="2800" dirty="0">
                <a:solidFill>
                  <a:srgbClr val="212529"/>
                </a:solidFill>
                <a:effectLst/>
                <a:latin typeface="Nunito"/>
                <a:ea typeface="Times New Roman" panose="02020603050405020304" pitchFamily="18" charset="0"/>
                <a:cs typeface="Segoe UI" panose="020B0502040204020203" pitchFamily="34" charset="0"/>
              </a:rPr>
              <a:t>Ritmische opwarming </a:t>
            </a:r>
          </a:p>
          <a:p>
            <a:pPr marL="342900" lvl="0" indent="-342900" algn="ctr">
              <a:spcAft>
                <a:spcPts val="500"/>
              </a:spcAft>
              <a:buSzPts val="1000"/>
              <a:buFont typeface="Wingdings" panose="05000000000000000000" pitchFamily="2" charset="2"/>
              <a:buChar char=""/>
              <a:tabLst>
                <a:tab pos="457200" algn="l"/>
              </a:tabLst>
            </a:pPr>
            <a:endParaRPr lang="nl-BE" sz="2800" dirty="0">
              <a:effectLst/>
              <a:latin typeface="Symbol" panose="05050102010706020507" pitchFamily="18" charset="2"/>
              <a:ea typeface="Calibri" panose="020F0502020204030204" pitchFamily="34" charset="0"/>
              <a:cs typeface="Times New Roman" panose="02020603050405020304" pitchFamily="18" charset="0"/>
            </a:endParaRPr>
          </a:p>
          <a:p>
            <a:pPr marL="342900" lvl="0" indent="-342900" algn="ctr">
              <a:spcAft>
                <a:spcPts val="500"/>
              </a:spcAft>
              <a:buSzPts val="1000"/>
              <a:buFont typeface="Wingdings" panose="05000000000000000000" pitchFamily="2" charset="2"/>
              <a:buChar char=""/>
              <a:tabLst>
                <a:tab pos="457200" algn="l"/>
              </a:tabLst>
            </a:pPr>
            <a:r>
              <a:rPr lang="nl-BE" sz="2800" dirty="0">
                <a:solidFill>
                  <a:srgbClr val="212529"/>
                </a:solidFill>
                <a:effectLst/>
                <a:latin typeface="Nunito"/>
                <a:ea typeface="Times New Roman" panose="02020603050405020304" pitchFamily="18" charset="0"/>
                <a:cs typeface="Segoe UI" panose="020B0502040204020203" pitchFamily="34" charset="0"/>
              </a:rPr>
              <a:t>Balaanname </a:t>
            </a:r>
          </a:p>
          <a:p>
            <a:pPr marL="342900" lvl="0" indent="-342900" algn="ctr">
              <a:spcAft>
                <a:spcPts val="500"/>
              </a:spcAft>
              <a:buSzPts val="1000"/>
              <a:buFont typeface="Wingdings" panose="05000000000000000000" pitchFamily="2" charset="2"/>
              <a:buChar char=""/>
              <a:tabLst>
                <a:tab pos="457200" algn="l"/>
              </a:tabLst>
            </a:pPr>
            <a:endParaRPr lang="nl-BE" sz="2800" dirty="0">
              <a:effectLst/>
              <a:latin typeface="Symbol" panose="05050102010706020507" pitchFamily="18" charset="2"/>
              <a:ea typeface="Calibri" panose="020F0502020204030204" pitchFamily="34" charset="0"/>
              <a:cs typeface="Times New Roman" panose="02020603050405020304" pitchFamily="18" charset="0"/>
            </a:endParaRPr>
          </a:p>
          <a:p>
            <a:pPr marL="342900" lvl="0" indent="-342900" algn="ctr">
              <a:spcAft>
                <a:spcPts val="500"/>
              </a:spcAft>
              <a:buSzPts val="1000"/>
              <a:buFont typeface="Wingdings" panose="05000000000000000000" pitchFamily="2" charset="2"/>
              <a:buChar char=""/>
              <a:tabLst>
                <a:tab pos="457200" algn="l"/>
              </a:tabLst>
            </a:pPr>
            <a:r>
              <a:rPr lang="nl-BE" sz="2800" dirty="0">
                <a:solidFill>
                  <a:srgbClr val="212529"/>
                </a:solidFill>
                <a:effectLst/>
                <a:latin typeface="Nunito"/>
                <a:ea typeface="Times New Roman" panose="02020603050405020304" pitchFamily="18" charset="0"/>
                <a:cs typeface="Segoe UI" panose="020B0502040204020203" pitchFamily="34" charset="0"/>
              </a:rPr>
              <a:t>In zone spelen </a:t>
            </a:r>
          </a:p>
          <a:p>
            <a:pPr marL="342900" lvl="0" indent="-342900" algn="ctr">
              <a:spcAft>
                <a:spcPts val="500"/>
              </a:spcAft>
              <a:buSzPts val="1000"/>
              <a:buFont typeface="Wingdings" panose="05000000000000000000" pitchFamily="2" charset="2"/>
              <a:buChar char=""/>
              <a:tabLst>
                <a:tab pos="457200" algn="l"/>
              </a:tabLst>
            </a:pPr>
            <a:endParaRPr lang="nl-BE" sz="2800" dirty="0">
              <a:effectLst/>
              <a:latin typeface="Symbol" panose="05050102010706020507" pitchFamily="18" charset="2"/>
              <a:ea typeface="Calibri" panose="020F0502020204030204" pitchFamily="34" charset="0"/>
              <a:cs typeface="Times New Roman" panose="02020603050405020304" pitchFamily="18" charset="0"/>
            </a:endParaRPr>
          </a:p>
          <a:p>
            <a:pPr marL="342900" lvl="0" indent="-342900" algn="ctr">
              <a:spcAft>
                <a:spcPts val="500"/>
              </a:spcAft>
              <a:buSzPts val="1000"/>
              <a:buFont typeface="Wingdings" panose="05000000000000000000" pitchFamily="2" charset="2"/>
              <a:buChar char=""/>
              <a:tabLst>
                <a:tab pos="457200" algn="l"/>
              </a:tabLst>
            </a:pPr>
            <a:r>
              <a:rPr lang="nl-BE" sz="2800" dirty="0" err="1">
                <a:solidFill>
                  <a:srgbClr val="212529"/>
                </a:solidFill>
                <a:effectLst/>
                <a:latin typeface="Nunito"/>
                <a:ea typeface="Times New Roman" panose="02020603050405020304" pitchFamily="18" charset="0"/>
                <a:cs typeface="Segoe UI" panose="020B0502040204020203" pitchFamily="34" charset="0"/>
              </a:rPr>
              <a:t>Ondertal</a:t>
            </a:r>
            <a:r>
              <a:rPr lang="nl-BE" sz="2800" dirty="0">
                <a:solidFill>
                  <a:srgbClr val="212529"/>
                </a:solidFill>
                <a:effectLst/>
                <a:latin typeface="Nunito"/>
                <a:ea typeface="Times New Roman" panose="02020603050405020304" pitchFamily="18" charset="0"/>
                <a:cs typeface="Segoe UI" panose="020B0502040204020203" pitchFamily="34" charset="0"/>
              </a:rPr>
              <a:t> - overtal </a:t>
            </a:r>
          </a:p>
          <a:p>
            <a:pPr marL="342900" lvl="0" indent="-342900" algn="ctr">
              <a:spcAft>
                <a:spcPts val="500"/>
              </a:spcAft>
              <a:buSzPts val="1000"/>
              <a:buFont typeface="Wingdings" panose="05000000000000000000" pitchFamily="2" charset="2"/>
              <a:buChar char=""/>
              <a:tabLst>
                <a:tab pos="457200" algn="l"/>
              </a:tabLst>
            </a:pPr>
            <a:endParaRPr lang="nl-BE" sz="2800" dirty="0">
              <a:effectLst/>
              <a:latin typeface="Symbol" panose="05050102010706020507" pitchFamily="18" charset="2"/>
              <a:ea typeface="Calibri" panose="020F0502020204030204" pitchFamily="34" charset="0"/>
              <a:cs typeface="Times New Roman" panose="02020603050405020304" pitchFamily="18" charset="0"/>
            </a:endParaRPr>
          </a:p>
          <a:p>
            <a:pPr marL="457200" algn="ctr">
              <a:spcAft>
                <a:spcPts val="500"/>
              </a:spcAft>
            </a:pPr>
            <a:r>
              <a:rPr lang="nl-BE" sz="2800" u="sng" dirty="0">
                <a:solidFill>
                  <a:srgbClr val="404040"/>
                </a:solidFill>
                <a:effectLst/>
                <a:latin typeface="Nunito"/>
                <a:ea typeface="Times New Roman" panose="02020603050405020304" pitchFamily="18" charset="0"/>
                <a:cs typeface="Segoe UI" panose="020B0502040204020203" pitchFamily="34" charset="0"/>
                <a:hlinkClick r:id="rId4"/>
              </a:rPr>
              <a:t>Ontdek cyclus 2</a:t>
            </a:r>
            <a:r>
              <a:rPr lang="nl-BE" sz="2800" dirty="0">
                <a:solidFill>
                  <a:srgbClr val="212529"/>
                </a:solidFill>
                <a:effectLst/>
                <a:latin typeface="Nunito"/>
                <a:ea typeface="Times New Roman" panose="02020603050405020304" pitchFamily="18" charset="0"/>
                <a:cs typeface="Segoe UI" panose="020B0502040204020203" pitchFamily="34" charset="0"/>
              </a:rPr>
              <a:t> </a:t>
            </a:r>
            <a:endParaRPr lang="nl-BE"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237377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80000" y="1129630"/>
            <a:ext cx="8352928" cy="4621778"/>
          </a:xfrm>
          <a:prstGeom prst="rect">
            <a:avLst/>
          </a:prstGeom>
        </p:spPr>
        <p:txBody>
          <a:bodyPr wrap="square">
            <a:spAutoFit/>
          </a:bodyPr>
          <a:lstStyle/>
          <a:p>
            <a:pPr marL="457200">
              <a:spcAft>
                <a:spcPts val="1800"/>
              </a:spcAft>
            </a:pPr>
            <a:r>
              <a:rPr lang="nl-BE" sz="2400" dirty="0">
                <a:solidFill>
                  <a:srgbClr val="212529"/>
                </a:solidFill>
                <a:effectLst/>
                <a:latin typeface="Nunito"/>
                <a:ea typeface="Times New Roman" panose="02020603050405020304" pitchFamily="18" charset="0"/>
                <a:cs typeface="Segoe UI" panose="020B0502040204020203" pitchFamily="34" charset="0"/>
              </a:rPr>
              <a:t>Onze tweede trainingscyclus. </a:t>
            </a:r>
            <a:endParaRPr lang="nl-BE" sz="2400" dirty="0">
              <a:effectLst/>
              <a:latin typeface="Calibri" panose="020F0502020204030204" pitchFamily="34" charset="0"/>
              <a:ea typeface="Calibri" panose="020F0502020204030204" pitchFamily="34" charset="0"/>
              <a:cs typeface="Times New Roman" panose="02020603050405020304" pitchFamily="18" charset="0"/>
            </a:endParaRPr>
          </a:p>
          <a:p>
            <a:pPr marL="457200">
              <a:spcAft>
                <a:spcPts val="1800"/>
              </a:spcAft>
            </a:pPr>
            <a:r>
              <a:rPr lang="nl-BE" sz="2400" dirty="0">
                <a:solidFill>
                  <a:srgbClr val="212529"/>
                </a:solidFill>
                <a:effectLst/>
                <a:latin typeface="Nunito"/>
                <a:ea typeface="Times New Roman" panose="02020603050405020304" pitchFamily="18" charset="0"/>
                <a:cs typeface="Segoe UI" panose="020B0502040204020203" pitchFamily="34" charset="0"/>
              </a:rPr>
              <a:t>Eerst zorg je voor een leuke activatie (opwarming).</a:t>
            </a:r>
            <a:endParaRPr lang="nl-BE" sz="2400" dirty="0">
              <a:effectLst/>
              <a:latin typeface="Calibri" panose="020F0502020204030204" pitchFamily="34" charset="0"/>
              <a:ea typeface="Calibri" panose="020F0502020204030204" pitchFamily="34" charset="0"/>
              <a:cs typeface="Times New Roman" panose="02020603050405020304" pitchFamily="18" charset="0"/>
            </a:endParaRPr>
          </a:p>
          <a:p>
            <a:pPr marL="457200">
              <a:spcAft>
                <a:spcPts val="1800"/>
              </a:spcAft>
            </a:pPr>
            <a:r>
              <a:rPr lang="nl-BE" sz="2400" dirty="0">
                <a:solidFill>
                  <a:srgbClr val="212529"/>
                </a:solidFill>
                <a:effectLst/>
                <a:latin typeface="Nunito"/>
                <a:ea typeface="Times New Roman" panose="02020603050405020304" pitchFamily="18" charset="0"/>
                <a:cs typeface="Segoe UI" panose="020B0502040204020203" pitchFamily="34" charset="0"/>
              </a:rPr>
              <a:t>Daarna werk je verder rond dezelfde opbouw met de 4 hoofdcomponenten:</a:t>
            </a:r>
            <a:endParaRPr lang="nl-BE"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400" dirty="0">
                <a:solidFill>
                  <a:srgbClr val="212529"/>
                </a:solidFill>
                <a:effectLst/>
                <a:latin typeface="Nunito"/>
                <a:ea typeface="Times New Roman" panose="02020603050405020304" pitchFamily="18" charset="0"/>
                <a:cs typeface="Segoe UI" panose="020B0502040204020203" pitchFamily="34" charset="0"/>
              </a:rPr>
              <a:t>positiespel</a:t>
            </a:r>
            <a:endParaRPr lang="nl-BE" sz="24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400" dirty="0">
                <a:solidFill>
                  <a:srgbClr val="212529"/>
                </a:solidFill>
                <a:effectLst/>
                <a:latin typeface="Nunito"/>
                <a:ea typeface="Times New Roman" panose="02020603050405020304" pitchFamily="18" charset="0"/>
                <a:cs typeface="Segoe UI" panose="020B0502040204020203" pitchFamily="34" charset="0"/>
              </a:rPr>
              <a:t>techniek</a:t>
            </a:r>
            <a:endParaRPr lang="nl-BE" sz="24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400" dirty="0">
                <a:solidFill>
                  <a:srgbClr val="212529"/>
                </a:solidFill>
                <a:effectLst/>
                <a:latin typeface="Nunito"/>
                <a:ea typeface="Times New Roman" panose="02020603050405020304" pitchFamily="18" charset="0"/>
                <a:cs typeface="Segoe UI" panose="020B0502040204020203" pitchFamily="34" charset="0"/>
              </a:rPr>
              <a:t>spelsituatie</a:t>
            </a:r>
            <a:endParaRPr lang="nl-BE" sz="24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400" dirty="0">
                <a:solidFill>
                  <a:srgbClr val="212529"/>
                </a:solidFill>
                <a:effectLst/>
                <a:latin typeface="Nunito"/>
                <a:ea typeface="Times New Roman" panose="02020603050405020304" pitchFamily="18" charset="0"/>
                <a:cs typeface="Segoe UI" panose="020B0502040204020203" pitchFamily="34" charset="0"/>
              </a:rPr>
              <a:t>wedstrijdvorm</a:t>
            </a:r>
            <a:endParaRPr lang="nl-BE" sz="24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457200">
              <a:spcAft>
                <a:spcPts val="1800"/>
              </a:spcAft>
            </a:pPr>
            <a:r>
              <a:rPr lang="nl-BE" sz="2400" dirty="0">
                <a:solidFill>
                  <a:srgbClr val="212529"/>
                </a:solidFill>
                <a:effectLst/>
                <a:latin typeface="Nunito"/>
                <a:ea typeface="Times New Roman" panose="02020603050405020304" pitchFamily="18" charset="0"/>
                <a:cs typeface="Segoe UI" panose="020B0502040204020203" pitchFamily="34" charset="0"/>
              </a:rPr>
              <a:t>Elke training eindigt met een leuke </a:t>
            </a:r>
            <a:r>
              <a:rPr lang="nl-BE" sz="2400" dirty="0" err="1">
                <a:solidFill>
                  <a:srgbClr val="212529"/>
                </a:solidFill>
                <a:effectLst/>
                <a:latin typeface="Nunito"/>
                <a:ea typeface="Times New Roman" panose="02020603050405020304" pitchFamily="18" charset="0"/>
                <a:cs typeface="Segoe UI" panose="020B0502040204020203" pitchFamily="34" charset="0"/>
              </a:rPr>
              <a:t>cooling</a:t>
            </a:r>
            <a:r>
              <a:rPr lang="nl-BE" sz="2400" dirty="0">
                <a:solidFill>
                  <a:srgbClr val="212529"/>
                </a:solidFill>
                <a:effectLst/>
                <a:latin typeface="Nunito"/>
                <a:ea typeface="Times New Roman" panose="02020603050405020304" pitchFamily="18" charset="0"/>
                <a:cs typeface="Segoe UI" panose="020B0502040204020203" pitchFamily="34" charset="0"/>
              </a:rPr>
              <a:t> down.</a:t>
            </a:r>
            <a:endParaRPr lang="nl-BE"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p:cNvSpPr/>
          <p:nvPr/>
        </p:nvSpPr>
        <p:spPr>
          <a:xfrm>
            <a:off x="1880000" y="307956"/>
            <a:ext cx="8352928" cy="5259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a:spcBef>
                <a:spcPts val="805"/>
              </a:spcBef>
              <a:spcAft>
                <a:spcPts val="805"/>
              </a:spcAft>
            </a:pPr>
            <a:r>
              <a:rPr lang="nl-BE" sz="3200" b="1" kern="150" dirty="0">
                <a:solidFill>
                  <a:schemeClr val="bg1"/>
                </a:solidFill>
                <a:effectLst/>
                <a:latin typeface="Roboto"/>
                <a:ea typeface="Times New Roman" panose="02020603050405020304" pitchFamily="18" charset="0"/>
                <a:cs typeface="Arial" panose="020B0604020202020204" pitchFamily="34" charset="0"/>
              </a:rPr>
              <a:t>6 cycli – deel 2</a:t>
            </a:r>
            <a:endParaRPr lang="nl-BE"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Afbeelding 3">
            <a:extLst>
              <a:ext uri="{FF2B5EF4-FFF2-40B4-BE49-F238E27FC236}">
                <a16:creationId xmlns:a16="http://schemas.microsoft.com/office/drawing/2014/main" id="{B3524894-047C-3F4E-A11F-32F1CB9ED45A}"/>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153" y="12270"/>
            <a:ext cx="936000" cy="1117360"/>
          </a:xfrm>
          <a:prstGeom prst="rect">
            <a:avLst/>
          </a:prstGeom>
          <a:noFill/>
        </p:spPr>
      </p:pic>
      <p:pic>
        <p:nvPicPr>
          <p:cNvPr id="5" name="Afbeelding 4">
            <a:extLst>
              <a:ext uri="{FF2B5EF4-FFF2-40B4-BE49-F238E27FC236}">
                <a16:creationId xmlns:a16="http://schemas.microsoft.com/office/drawing/2014/main" id="{E4EE8C19-3788-B947-BEDF-F2B1500CF918}"/>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225559" y="12270"/>
            <a:ext cx="936000" cy="1117360"/>
          </a:xfrm>
          <a:prstGeom prst="rect">
            <a:avLst/>
          </a:prstGeom>
          <a:noFill/>
        </p:spPr>
      </p:pic>
    </p:spTree>
    <p:extLst>
      <p:ext uri="{BB962C8B-B14F-4D97-AF65-F5344CB8AC3E}">
        <p14:creationId xmlns:p14="http://schemas.microsoft.com/office/powerpoint/2010/main" val="41311642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880000" y="307956"/>
            <a:ext cx="8352928" cy="5259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a:spcAft>
                <a:spcPts val="500"/>
              </a:spcAft>
            </a:pPr>
            <a:r>
              <a:rPr lang="nl-BE" sz="3600" b="1" dirty="0">
                <a:solidFill>
                  <a:schemeClr val="bg1"/>
                </a:solidFill>
                <a:effectLst/>
                <a:latin typeface="Roboto"/>
                <a:ea typeface="Times New Roman" panose="02020603050405020304" pitchFamily="18" charset="0"/>
                <a:cs typeface="Arial" panose="020B0604020202020204" pitchFamily="34" charset="0"/>
              </a:rPr>
              <a:t>U8 - U9 (initiatie) </a:t>
            </a:r>
            <a:endParaRPr lang="nl-BE" sz="3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Afbeelding 3">
            <a:extLst>
              <a:ext uri="{FF2B5EF4-FFF2-40B4-BE49-F238E27FC236}">
                <a16:creationId xmlns:a16="http://schemas.microsoft.com/office/drawing/2014/main" id="{B3524894-047C-3F4E-A11F-32F1CB9ED45A}"/>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153" y="12270"/>
            <a:ext cx="936000" cy="1117360"/>
          </a:xfrm>
          <a:prstGeom prst="rect">
            <a:avLst/>
          </a:prstGeom>
          <a:noFill/>
        </p:spPr>
      </p:pic>
      <p:pic>
        <p:nvPicPr>
          <p:cNvPr id="5" name="Afbeelding 4">
            <a:extLst>
              <a:ext uri="{FF2B5EF4-FFF2-40B4-BE49-F238E27FC236}">
                <a16:creationId xmlns:a16="http://schemas.microsoft.com/office/drawing/2014/main" id="{E4EE8C19-3788-B947-BEDF-F2B1500CF918}"/>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225559" y="12270"/>
            <a:ext cx="936000" cy="1117360"/>
          </a:xfrm>
          <a:prstGeom prst="rect">
            <a:avLst/>
          </a:prstGeom>
          <a:noFill/>
        </p:spPr>
      </p:pic>
      <p:sp>
        <p:nvSpPr>
          <p:cNvPr id="8" name="Tekstvak 7">
            <a:extLst>
              <a:ext uri="{FF2B5EF4-FFF2-40B4-BE49-F238E27FC236}">
                <a16:creationId xmlns:a16="http://schemas.microsoft.com/office/drawing/2014/main" id="{2E256FD1-04C7-458B-A4EC-1AC98BCD3888}"/>
              </a:ext>
            </a:extLst>
          </p:cNvPr>
          <p:cNvSpPr txBox="1"/>
          <p:nvPr/>
        </p:nvSpPr>
        <p:spPr>
          <a:xfrm>
            <a:off x="2194560" y="1129630"/>
            <a:ext cx="8038368" cy="5242461"/>
          </a:xfrm>
          <a:prstGeom prst="rect">
            <a:avLst/>
          </a:prstGeom>
          <a:noFill/>
        </p:spPr>
        <p:txBody>
          <a:bodyPr wrap="square">
            <a:spAutoFit/>
          </a:bodyPr>
          <a:lstStyle/>
          <a:p>
            <a:pPr marL="342900" lvl="0" indent="-342900">
              <a:spcBef>
                <a:spcPts val="500"/>
              </a:spcBef>
              <a:spcAft>
                <a:spcPts val="500"/>
              </a:spcAft>
              <a:buFont typeface="+mj-lt"/>
              <a:buAutoNum type="arabicPeriod"/>
            </a:pPr>
            <a:r>
              <a:rPr lang="nl-BE" sz="1800" dirty="0">
                <a:solidFill>
                  <a:srgbClr val="212529"/>
                </a:solidFill>
                <a:effectLst/>
                <a:latin typeface="Nunito"/>
                <a:ea typeface="Times New Roman" panose="02020603050405020304" pitchFamily="18" charset="0"/>
                <a:cs typeface="Segoe UI" panose="020B0502040204020203" pitchFamily="34" charset="0"/>
              </a:rPr>
              <a:t>Activatie</a:t>
            </a:r>
            <a:br>
              <a:rPr lang="nl-BE" sz="1800" dirty="0">
                <a:solidFill>
                  <a:srgbClr val="212529"/>
                </a:solidFill>
                <a:effectLst/>
                <a:latin typeface="Nunito"/>
                <a:ea typeface="Times New Roman" panose="02020603050405020304" pitchFamily="18" charset="0"/>
                <a:cs typeface="Segoe UI" panose="020B0502040204020203" pitchFamily="34" charset="0"/>
              </a:rPr>
            </a:br>
            <a:r>
              <a:rPr lang="nl-BE" sz="2000" dirty="0">
                <a:solidFill>
                  <a:srgbClr val="212529"/>
                </a:solidFill>
                <a:effectLst/>
                <a:latin typeface="Nunito"/>
                <a:ea typeface="Times New Roman" panose="02020603050405020304" pitchFamily="18" charset="0"/>
                <a:cs typeface="Segoe UI" panose="020B0502040204020203" pitchFamily="34" charset="0"/>
              </a:rPr>
              <a:t>Maak een </a:t>
            </a:r>
            <a:r>
              <a:rPr lang="nl-BE" sz="2000" b="1" dirty="0">
                <a:solidFill>
                  <a:srgbClr val="212529"/>
                </a:solidFill>
                <a:effectLst/>
                <a:latin typeface="Nunito"/>
                <a:ea typeface="Times New Roman" panose="02020603050405020304" pitchFamily="18" charset="0"/>
                <a:cs typeface="Segoe UI" panose="020B0502040204020203" pitchFamily="34" charset="0"/>
              </a:rPr>
              <a:t>ritmische opwarming</a:t>
            </a:r>
            <a:r>
              <a:rPr lang="nl-BE" sz="2000" dirty="0">
                <a:solidFill>
                  <a:srgbClr val="212529"/>
                </a:solidFill>
                <a:effectLst/>
                <a:latin typeface="Nunito"/>
                <a:ea typeface="Times New Roman" panose="02020603050405020304" pitchFamily="18" charset="0"/>
                <a:cs typeface="Segoe UI" panose="020B0502040204020203" pitchFamily="34" charset="0"/>
              </a:rPr>
              <a:t> zonder bal. Ga er voor dat deze correct en met de nodige discipline wordt uitgevoerd. Het heeft geen zin dat dit een pretje is, opwarmen is nu eenmaal een belangrijk onderdeel van voetbal.</a:t>
            </a:r>
            <a:endParaRPr lang="nl-BE"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000" dirty="0">
                <a:solidFill>
                  <a:srgbClr val="212529"/>
                </a:solidFill>
                <a:effectLst/>
                <a:latin typeface="Nunito"/>
                <a:ea typeface="Times New Roman" panose="02020603050405020304" pitchFamily="18" charset="0"/>
                <a:cs typeface="Segoe UI" panose="020B0502040204020203" pitchFamily="34" charset="0"/>
              </a:rPr>
              <a:t>Positiespel</a:t>
            </a:r>
            <a:br>
              <a:rPr lang="nl-BE" sz="2000" dirty="0">
                <a:solidFill>
                  <a:srgbClr val="212529"/>
                </a:solidFill>
                <a:effectLst/>
                <a:latin typeface="Nunito"/>
                <a:ea typeface="Times New Roman" panose="02020603050405020304" pitchFamily="18" charset="0"/>
                <a:cs typeface="Segoe UI" panose="020B0502040204020203" pitchFamily="34" charset="0"/>
              </a:rPr>
            </a:br>
            <a:r>
              <a:rPr lang="nl-BE" sz="2000" dirty="0">
                <a:solidFill>
                  <a:srgbClr val="212529"/>
                </a:solidFill>
                <a:effectLst/>
                <a:latin typeface="Nunito"/>
                <a:ea typeface="Times New Roman" panose="02020603050405020304" pitchFamily="18" charset="0"/>
                <a:cs typeface="Segoe UI" panose="020B0502040204020203" pitchFamily="34" charset="0"/>
              </a:rPr>
              <a:t>De </a:t>
            </a:r>
            <a:r>
              <a:rPr lang="nl-BE" sz="2000" b="1" dirty="0">
                <a:solidFill>
                  <a:srgbClr val="212529"/>
                </a:solidFill>
                <a:effectLst/>
                <a:latin typeface="Nunito"/>
                <a:ea typeface="Times New Roman" panose="02020603050405020304" pitchFamily="18" charset="0"/>
                <a:cs typeface="Segoe UI" panose="020B0502040204020203" pitchFamily="34" charset="0"/>
              </a:rPr>
              <a:t>balaanname</a:t>
            </a:r>
            <a:r>
              <a:rPr lang="nl-BE" sz="2000" dirty="0">
                <a:solidFill>
                  <a:srgbClr val="212529"/>
                </a:solidFill>
                <a:effectLst/>
                <a:latin typeface="Nunito"/>
                <a:ea typeface="Times New Roman" panose="02020603050405020304" pitchFamily="18" charset="0"/>
                <a:cs typeface="Segoe UI" panose="020B0502040204020203" pitchFamily="34" charset="0"/>
              </a:rPr>
              <a:t> wordt niet altijd even correct uitgevoerd. Zorg bij aanname van de bal dat deze met de juiste voet en met de nodige </a:t>
            </a:r>
            <a:r>
              <a:rPr lang="nl-BE" sz="2000" b="1" dirty="0">
                <a:solidFill>
                  <a:srgbClr val="212529"/>
                </a:solidFill>
                <a:effectLst/>
                <a:latin typeface="Nunito"/>
                <a:ea typeface="Times New Roman" panose="02020603050405020304" pitchFamily="18" charset="0"/>
                <a:cs typeface="Segoe UI" panose="020B0502040204020203" pitchFamily="34" charset="0"/>
              </a:rPr>
              <a:t>handelingssnelheid</a:t>
            </a:r>
            <a:r>
              <a:rPr lang="nl-BE" sz="2000" dirty="0">
                <a:solidFill>
                  <a:srgbClr val="212529"/>
                </a:solidFill>
                <a:effectLst/>
                <a:latin typeface="Nunito"/>
                <a:ea typeface="Times New Roman" panose="02020603050405020304" pitchFamily="18" charset="0"/>
                <a:cs typeface="Segoe UI" panose="020B0502040204020203" pitchFamily="34" charset="0"/>
              </a:rPr>
              <a:t> wordt uitgevoerd. Een goede aanname zorgt meteen voor een snellere spelsituatie.</a:t>
            </a:r>
            <a:endParaRPr lang="nl-BE"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000" dirty="0">
                <a:solidFill>
                  <a:srgbClr val="212529"/>
                </a:solidFill>
                <a:effectLst/>
                <a:latin typeface="Nunito"/>
                <a:ea typeface="Times New Roman" panose="02020603050405020304" pitchFamily="18" charset="0"/>
                <a:cs typeface="Segoe UI" panose="020B0502040204020203" pitchFamily="34" charset="0"/>
              </a:rPr>
              <a:t>Techniek</a:t>
            </a:r>
            <a:br>
              <a:rPr lang="nl-BE" sz="2000" dirty="0">
                <a:solidFill>
                  <a:srgbClr val="212529"/>
                </a:solidFill>
                <a:effectLst/>
                <a:latin typeface="Nunito"/>
                <a:ea typeface="Times New Roman" panose="02020603050405020304" pitchFamily="18" charset="0"/>
                <a:cs typeface="Segoe UI" panose="020B0502040204020203" pitchFamily="34" charset="0"/>
              </a:rPr>
            </a:br>
            <a:r>
              <a:rPr lang="nl-BE" sz="2000" dirty="0">
                <a:solidFill>
                  <a:srgbClr val="212529"/>
                </a:solidFill>
                <a:effectLst/>
                <a:latin typeface="Nunito"/>
                <a:ea typeface="Times New Roman" panose="02020603050405020304" pitchFamily="18" charset="0"/>
                <a:cs typeface="Segoe UI" panose="020B0502040204020203" pitchFamily="34" charset="0"/>
              </a:rPr>
              <a:t>trappen tegen een bal heeft vaak niet te maken met kracht, maar wel met techniek. Een </a:t>
            </a:r>
            <a:r>
              <a:rPr lang="nl-BE" sz="2000" b="1" dirty="0">
                <a:solidFill>
                  <a:srgbClr val="212529"/>
                </a:solidFill>
                <a:effectLst/>
                <a:latin typeface="Nunito"/>
                <a:ea typeface="Times New Roman" panose="02020603050405020304" pitchFamily="18" charset="0"/>
                <a:cs typeface="Segoe UI" panose="020B0502040204020203" pitchFamily="34" charset="0"/>
              </a:rPr>
              <a:t>juist uitgevoerde trap</a:t>
            </a:r>
            <a:r>
              <a:rPr lang="nl-BE" sz="2000" dirty="0">
                <a:solidFill>
                  <a:srgbClr val="212529"/>
                </a:solidFill>
                <a:effectLst/>
                <a:latin typeface="Nunito"/>
                <a:ea typeface="Times New Roman" panose="02020603050405020304" pitchFamily="18" charset="0"/>
                <a:cs typeface="Segoe UI" panose="020B0502040204020203" pitchFamily="34" charset="0"/>
              </a:rPr>
              <a:t> is technisch bepaald. Laat je spelers op een correcte manier tegen de bal trappen in allerlei vormen (passing, doelpoging, terugspeelbal, ….) Laat je spelers ook steeds een stevige pass geven.</a:t>
            </a:r>
            <a:endParaRPr lang="nl-BE"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03773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06858" y="1117360"/>
            <a:ext cx="8898302" cy="5337359"/>
          </a:xfrm>
          <a:prstGeom prst="rect">
            <a:avLst/>
          </a:prstGeom>
          <a:noFill/>
        </p:spPr>
        <p:txBody>
          <a:bodyPr wrap="square" rtlCol="0">
            <a:spAutoFit/>
          </a:bodyPr>
          <a:lstStyle/>
          <a:p>
            <a:pPr lvl="0">
              <a:spcBef>
                <a:spcPts val="500"/>
              </a:spcBef>
              <a:spcAft>
                <a:spcPts val="500"/>
              </a:spcAft>
            </a:pPr>
            <a:r>
              <a:rPr lang="nl-BE" sz="2000" dirty="0">
                <a:solidFill>
                  <a:srgbClr val="212529"/>
                </a:solidFill>
                <a:effectLst/>
                <a:latin typeface="Nunito"/>
                <a:ea typeface="Times New Roman" panose="02020603050405020304" pitchFamily="18" charset="0"/>
                <a:cs typeface="Segoe UI" panose="020B0502040204020203" pitchFamily="34" charset="0"/>
              </a:rPr>
              <a:t>4. Spelsituatie</a:t>
            </a:r>
            <a:br>
              <a:rPr lang="nl-BE" sz="2000" dirty="0">
                <a:solidFill>
                  <a:srgbClr val="212529"/>
                </a:solidFill>
                <a:effectLst/>
                <a:latin typeface="Nunito"/>
                <a:ea typeface="Times New Roman" panose="02020603050405020304" pitchFamily="18" charset="0"/>
                <a:cs typeface="Segoe UI" panose="020B0502040204020203" pitchFamily="34" charset="0"/>
              </a:rPr>
            </a:br>
            <a:r>
              <a:rPr lang="nl-BE" sz="2000" dirty="0">
                <a:solidFill>
                  <a:srgbClr val="212529"/>
                </a:solidFill>
                <a:effectLst/>
                <a:latin typeface="Nunito"/>
                <a:ea typeface="Times New Roman" panose="02020603050405020304" pitchFamily="18" charset="0"/>
                <a:cs typeface="Segoe UI" panose="020B0502040204020203" pitchFamily="34" charset="0"/>
              </a:rPr>
              <a:t>U8: leer de spelers goed </a:t>
            </a:r>
            <a:r>
              <a:rPr lang="nl-BE" sz="2000" b="1" dirty="0">
                <a:solidFill>
                  <a:srgbClr val="212529"/>
                </a:solidFill>
                <a:effectLst/>
                <a:latin typeface="Nunito"/>
                <a:ea typeface="Times New Roman" panose="02020603050405020304" pitchFamily="18" charset="0"/>
                <a:cs typeface="Segoe UI" panose="020B0502040204020203" pitchFamily="34" charset="0"/>
              </a:rPr>
              <a:t>in zone</a:t>
            </a:r>
            <a:r>
              <a:rPr lang="nl-BE" sz="2000" dirty="0">
                <a:solidFill>
                  <a:srgbClr val="212529"/>
                </a:solidFill>
                <a:effectLst/>
                <a:latin typeface="Nunito"/>
                <a:ea typeface="Times New Roman" panose="02020603050405020304" pitchFamily="18" charset="0"/>
                <a:cs typeface="Segoe UI" panose="020B0502040204020203" pitchFamily="34" charset="0"/>
              </a:rPr>
              <a:t> te blijven. Ze lopen graag naar de bal toe, ook al is deze aan de andere kant waar reeds een medespeler staat. In zone blijven is belangrijk. </a:t>
            </a:r>
            <a:br>
              <a:rPr lang="nl-BE" sz="2000" dirty="0">
                <a:solidFill>
                  <a:srgbClr val="212529"/>
                </a:solidFill>
                <a:effectLst/>
                <a:latin typeface="Nunito"/>
                <a:ea typeface="Times New Roman" panose="02020603050405020304" pitchFamily="18" charset="0"/>
                <a:cs typeface="Segoe UI" panose="020B0502040204020203" pitchFamily="34" charset="0"/>
              </a:rPr>
            </a:br>
            <a:r>
              <a:rPr lang="nl-BE" sz="2000" dirty="0">
                <a:solidFill>
                  <a:srgbClr val="212529"/>
                </a:solidFill>
                <a:effectLst/>
                <a:latin typeface="Nunito"/>
                <a:ea typeface="Times New Roman" panose="02020603050405020304" pitchFamily="18" charset="0"/>
                <a:cs typeface="Segoe UI" panose="020B0502040204020203" pitchFamily="34" charset="0"/>
              </a:rPr>
              <a:t>U9: laat de spelers, naast in zone te blijven, ook</a:t>
            </a:r>
            <a:r>
              <a:rPr lang="nl-BE" sz="2000" b="1" dirty="0">
                <a:solidFill>
                  <a:srgbClr val="212529"/>
                </a:solidFill>
                <a:effectLst/>
                <a:latin typeface="Nunito"/>
                <a:ea typeface="Times New Roman" panose="02020603050405020304" pitchFamily="18" charset="0"/>
                <a:cs typeface="Segoe UI" panose="020B0502040204020203" pitchFamily="34" charset="0"/>
              </a:rPr>
              <a:t> functioneel bewegen</a:t>
            </a:r>
            <a:r>
              <a:rPr lang="nl-BE" sz="2000" dirty="0">
                <a:solidFill>
                  <a:srgbClr val="212529"/>
                </a:solidFill>
                <a:effectLst/>
                <a:latin typeface="Nunito"/>
                <a:ea typeface="Times New Roman" panose="02020603050405020304" pitchFamily="18" charset="0"/>
                <a:cs typeface="Segoe UI" panose="020B0502040204020203" pitchFamily="34" charset="0"/>
              </a:rPr>
              <a:t>. Wanneer moet ik inlopen om aanspeelbaar te zijn? Hoe kan ik op een efficiënte manier lopen zonder mijn ploegmakkers in de problemen te brengen?</a:t>
            </a:r>
            <a:endParaRPr lang="nl-BE" sz="2000" dirty="0">
              <a:effectLst/>
              <a:latin typeface="Calibri" panose="020F0502020204030204" pitchFamily="34" charset="0"/>
              <a:ea typeface="Calibri" panose="020F0502020204030204" pitchFamily="34" charset="0"/>
              <a:cs typeface="Times New Roman" panose="02020603050405020304" pitchFamily="18" charset="0"/>
            </a:endParaRPr>
          </a:p>
          <a:p>
            <a:pPr lvl="0">
              <a:spcBef>
                <a:spcPts val="500"/>
              </a:spcBef>
              <a:spcAft>
                <a:spcPts val="500"/>
              </a:spcAft>
            </a:pPr>
            <a:r>
              <a:rPr lang="nl-BE" sz="2000" dirty="0">
                <a:solidFill>
                  <a:srgbClr val="212529"/>
                </a:solidFill>
                <a:effectLst/>
                <a:latin typeface="Nunito"/>
                <a:ea typeface="Times New Roman" panose="02020603050405020304" pitchFamily="18" charset="0"/>
                <a:cs typeface="Segoe UI" panose="020B0502040204020203" pitchFamily="34" charset="0"/>
              </a:rPr>
              <a:t>5. Wedstrijdvorm</a:t>
            </a:r>
            <a:br>
              <a:rPr lang="nl-BE" sz="2000" dirty="0">
                <a:solidFill>
                  <a:srgbClr val="212529"/>
                </a:solidFill>
                <a:effectLst/>
                <a:latin typeface="Nunito"/>
                <a:ea typeface="Times New Roman" panose="02020603050405020304" pitchFamily="18" charset="0"/>
                <a:cs typeface="Segoe UI" panose="020B0502040204020203" pitchFamily="34" charset="0"/>
              </a:rPr>
            </a:br>
            <a:r>
              <a:rPr lang="nl-BE" sz="2000" b="1" dirty="0">
                <a:solidFill>
                  <a:srgbClr val="212529"/>
                </a:solidFill>
                <a:effectLst/>
                <a:latin typeface="Nunito"/>
                <a:ea typeface="Times New Roman" panose="02020603050405020304" pitchFamily="18" charset="0"/>
                <a:cs typeface="Segoe UI" panose="020B0502040204020203" pitchFamily="34" charset="0"/>
              </a:rPr>
              <a:t>Overtal – </a:t>
            </a:r>
            <a:r>
              <a:rPr lang="nl-BE" sz="2000" b="1" dirty="0" err="1">
                <a:solidFill>
                  <a:srgbClr val="212529"/>
                </a:solidFill>
                <a:effectLst/>
                <a:latin typeface="Nunito"/>
                <a:ea typeface="Times New Roman" panose="02020603050405020304" pitchFamily="18" charset="0"/>
                <a:cs typeface="Segoe UI" panose="020B0502040204020203" pitchFamily="34" charset="0"/>
              </a:rPr>
              <a:t>ondertal</a:t>
            </a:r>
            <a:r>
              <a:rPr lang="nl-BE" sz="2000" dirty="0">
                <a:solidFill>
                  <a:srgbClr val="212529"/>
                </a:solidFill>
                <a:effectLst/>
                <a:latin typeface="Nunito"/>
                <a:ea typeface="Times New Roman" panose="02020603050405020304" pitchFamily="18" charset="0"/>
                <a:cs typeface="Segoe UI" panose="020B0502040204020203" pitchFamily="34" charset="0"/>
              </a:rPr>
              <a:t>. Laat de wedstrijdjes ongelijk verdeeld spelen. Coach bij aanvang de ploeg in </a:t>
            </a:r>
            <a:r>
              <a:rPr lang="nl-BE" sz="2000" dirty="0" err="1">
                <a:solidFill>
                  <a:srgbClr val="212529"/>
                </a:solidFill>
                <a:effectLst/>
                <a:latin typeface="Nunito"/>
                <a:ea typeface="Times New Roman" panose="02020603050405020304" pitchFamily="18" charset="0"/>
                <a:cs typeface="Segoe UI" panose="020B0502040204020203" pitchFamily="34" charset="0"/>
              </a:rPr>
              <a:t>ondertal</a:t>
            </a:r>
            <a:r>
              <a:rPr lang="nl-BE" sz="2000" dirty="0">
                <a:solidFill>
                  <a:srgbClr val="212529"/>
                </a:solidFill>
                <a:effectLst/>
                <a:latin typeface="Nunito"/>
                <a:ea typeface="Times New Roman" panose="02020603050405020304" pitchFamily="18" charset="0"/>
                <a:cs typeface="Segoe UI" panose="020B0502040204020203" pitchFamily="34" charset="0"/>
              </a:rPr>
              <a:t> en laat de andere ploeg nadenken om oplossingen te zoeken, de ruimtes te vinden, …</a:t>
            </a:r>
            <a:endParaRPr lang="nl-BE" sz="2000" dirty="0">
              <a:effectLst/>
              <a:latin typeface="Calibri" panose="020F0502020204030204" pitchFamily="34" charset="0"/>
              <a:ea typeface="Calibri" panose="020F0502020204030204" pitchFamily="34" charset="0"/>
              <a:cs typeface="Times New Roman" panose="02020603050405020304" pitchFamily="18" charset="0"/>
            </a:endParaRPr>
          </a:p>
          <a:p>
            <a:r>
              <a:rPr lang="nl-BE" sz="2000" dirty="0">
                <a:solidFill>
                  <a:srgbClr val="212529"/>
                </a:solidFill>
                <a:latin typeface="Nunito"/>
                <a:ea typeface="Times New Roman" panose="02020603050405020304" pitchFamily="18" charset="0"/>
                <a:cs typeface="Segoe UI" panose="020B0502040204020203" pitchFamily="34" charset="0"/>
              </a:rPr>
              <a:t>6. </a:t>
            </a:r>
            <a:r>
              <a:rPr lang="nl-BE" sz="2000" dirty="0" err="1">
                <a:solidFill>
                  <a:srgbClr val="212529"/>
                </a:solidFill>
                <a:effectLst/>
                <a:latin typeface="Nunito"/>
                <a:ea typeface="Times New Roman" panose="02020603050405020304" pitchFamily="18" charset="0"/>
                <a:cs typeface="Segoe UI" panose="020B0502040204020203" pitchFamily="34" charset="0"/>
              </a:rPr>
              <a:t>Cooling</a:t>
            </a:r>
            <a:r>
              <a:rPr lang="nl-BE" sz="2000" dirty="0">
                <a:solidFill>
                  <a:srgbClr val="212529"/>
                </a:solidFill>
                <a:effectLst/>
                <a:latin typeface="Nunito"/>
                <a:ea typeface="Times New Roman" panose="02020603050405020304" pitchFamily="18" charset="0"/>
                <a:cs typeface="Segoe UI" panose="020B0502040204020203" pitchFamily="34" charset="0"/>
              </a:rPr>
              <a:t> down</a:t>
            </a:r>
            <a:br>
              <a:rPr lang="nl-BE" sz="2000" dirty="0">
                <a:solidFill>
                  <a:srgbClr val="212529"/>
                </a:solidFill>
                <a:effectLst/>
                <a:latin typeface="Nunito"/>
                <a:ea typeface="Times New Roman" panose="02020603050405020304" pitchFamily="18" charset="0"/>
                <a:cs typeface="Segoe UI" panose="020B0502040204020203" pitchFamily="34" charset="0"/>
              </a:rPr>
            </a:br>
            <a:r>
              <a:rPr lang="nl-BE" sz="2000" dirty="0">
                <a:solidFill>
                  <a:srgbClr val="212529"/>
                </a:solidFill>
                <a:effectLst/>
                <a:latin typeface="Nunito"/>
                <a:ea typeface="Times New Roman" panose="02020603050405020304" pitchFamily="18" charset="0"/>
                <a:cs typeface="Segoe UI" panose="020B0502040204020203" pitchFamily="34" charset="0"/>
              </a:rPr>
              <a:t>Prikkel spelers met </a:t>
            </a:r>
            <a:r>
              <a:rPr lang="nl-BE" sz="2000" b="1" dirty="0">
                <a:solidFill>
                  <a:srgbClr val="212529"/>
                </a:solidFill>
                <a:effectLst/>
                <a:latin typeface="Nunito"/>
                <a:ea typeface="Times New Roman" panose="02020603050405020304" pitchFamily="18" charset="0"/>
                <a:cs typeface="Segoe UI" panose="020B0502040204020203" pitchFamily="34" charset="0"/>
              </a:rPr>
              <a:t>een leuke uitdaging</a:t>
            </a:r>
            <a:r>
              <a:rPr lang="nl-BE" sz="2000" dirty="0">
                <a:solidFill>
                  <a:srgbClr val="212529"/>
                </a:solidFill>
                <a:effectLst/>
                <a:latin typeface="Nunito"/>
                <a:ea typeface="Times New Roman" panose="02020603050405020304" pitchFamily="18" charset="0"/>
                <a:cs typeface="Segoe UI" panose="020B0502040204020203" pitchFamily="34" charset="0"/>
              </a:rPr>
              <a:t>. </a:t>
            </a:r>
            <a:br>
              <a:rPr lang="nl-BE" sz="2000" dirty="0">
                <a:solidFill>
                  <a:srgbClr val="212529"/>
                </a:solidFill>
                <a:effectLst/>
                <a:latin typeface="Nunito"/>
                <a:ea typeface="Times New Roman" panose="02020603050405020304" pitchFamily="18" charset="0"/>
                <a:cs typeface="Segoe UI" panose="020B0502040204020203" pitchFamily="34" charset="0"/>
              </a:rPr>
            </a:br>
            <a:r>
              <a:rPr lang="nl-BE" sz="2000" dirty="0">
                <a:solidFill>
                  <a:srgbClr val="212529"/>
                </a:solidFill>
                <a:effectLst/>
                <a:latin typeface="Nunito"/>
                <a:ea typeface="Times New Roman" panose="02020603050405020304" pitchFamily="18" charset="0"/>
                <a:cs typeface="Segoe UI" panose="020B0502040204020203" pitchFamily="34" charset="0"/>
              </a:rPr>
              <a:t>Laat hen nadien helpen om alle trainingsmateriaal netjes op te ruimen. Sluit zo </a:t>
            </a:r>
            <a:r>
              <a:rPr lang="nl-BE" sz="1800" dirty="0">
                <a:solidFill>
                  <a:srgbClr val="212529"/>
                </a:solidFill>
                <a:effectLst/>
                <a:latin typeface="Nunito"/>
                <a:ea typeface="Times New Roman" panose="02020603050405020304" pitchFamily="18" charset="0"/>
                <a:cs typeface="Segoe UI" panose="020B0502040204020203" pitchFamily="34" charset="0"/>
              </a:rPr>
              <a:t> de training gedisciplineerd af.</a:t>
            </a:r>
            <a:endParaRPr lang="nl-BE"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nl-BE"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p:cNvSpPr/>
          <p:nvPr/>
        </p:nvSpPr>
        <p:spPr>
          <a:xfrm>
            <a:off x="1906859" y="303070"/>
            <a:ext cx="8374565" cy="5259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a:spcAft>
                <a:spcPts val="500"/>
              </a:spcAft>
            </a:pPr>
            <a:r>
              <a:rPr lang="nl-BE" sz="4000" b="1" dirty="0">
                <a:solidFill>
                  <a:schemeClr val="bg1"/>
                </a:solidFill>
                <a:effectLst/>
                <a:latin typeface="Roboto"/>
                <a:ea typeface="Times New Roman" panose="02020603050405020304" pitchFamily="18" charset="0"/>
                <a:cs typeface="Arial" panose="020B0604020202020204" pitchFamily="34" charset="0"/>
              </a:rPr>
              <a:t>U8 - U9 (initiatie) </a:t>
            </a:r>
            <a:endParaRPr lang="nl-BE" sz="40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Afbeelding 6">
            <a:extLst>
              <a:ext uri="{FF2B5EF4-FFF2-40B4-BE49-F238E27FC236}">
                <a16:creationId xmlns:a16="http://schemas.microsoft.com/office/drawing/2014/main" id="{980E9CF3-3AE8-E348-84EE-89FB107EC59C}"/>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0" y="7384"/>
            <a:ext cx="936000" cy="1117360"/>
          </a:xfrm>
          <a:prstGeom prst="rect">
            <a:avLst/>
          </a:prstGeom>
          <a:noFill/>
        </p:spPr>
      </p:pic>
      <p:pic>
        <p:nvPicPr>
          <p:cNvPr id="8" name="Afbeelding 7">
            <a:extLst>
              <a:ext uri="{FF2B5EF4-FFF2-40B4-BE49-F238E27FC236}">
                <a16:creationId xmlns:a16="http://schemas.microsoft.com/office/drawing/2014/main" id="{6BF4816E-058F-1F4B-BF73-9B86C08D9AB9}"/>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240428" y="0"/>
            <a:ext cx="936000" cy="1117360"/>
          </a:xfrm>
          <a:prstGeom prst="rect">
            <a:avLst/>
          </a:prstGeom>
          <a:noFill/>
        </p:spPr>
      </p:pic>
    </p:spTree>
    <p:extLst>
      <p:ext uri="{BB962C8B-B14F-4D97-AF65-F5344CB8AC3E}">
        <p14:creationId xmlns:p14="http://schemas.microsoft.com/office/powerpoint/2010/main" val="2279612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08717" y="674256"/>
            <a:ext cx="8374566" cy="4516621"/>
          </a:xfrm>
          <a:prstGeom prst="rect">
            <a:avLst/>
          </a:prstGeom>
          <a:noFill/>
          <a:ln>
            <a:noFill/>
          </a:ln>
        </p:spPr>
        <p:txBody>
          <a:bodyPr wrap="square" rtlCol="0">
            <a:spAutoFit/>
          </a:bodyPr>
          <a:lstStyle/>
          <a:p>
            <a:pPr marL="457200">
              <a:spcAft>
                <a:spcPts val="1800"/>
              </a:spcAft>
            </a:pPr>
            <a:r>
              <a:rPr lang="nl-BE" sz="2000" dirty="0">
                <a:solidFill>
                  <a:srgbClr val="212529"/>
                </a:solidFill>
                <a:effectLst/>
                <a:latin typeface="Nunito"/>
                <a:ea typeface="Times New Roman" panose="02020603050405020304" pitchFamily="18" charset="0"/>
                <a:cs typeface="Segoe UI" panose="020B0502040204020203" pitchFamily="34" charset="0"/>
              </a:rPr>
              <a:t>Contoleer of je spelers alle vaardigheden van “initiatie” onder de knie hebben. Merk je nog werkpunten? Integreer die gerust nog in je trainingen en vul aan met onderstaande trainingselementen.</a:t>
            </a:r>
            <a:endParaRPr lang="nl-BE"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000" dirty="0">
                <a:solidFill>
                  <a:srgbClr val="212529"/>
                </a:solidFill>
                <a:effectLst/>
                <a:latin typeface="Nunito"/>
                <a:ea typeface="Times New Roman" panose="02020603050405020304" pitchFamily="18" charset="0"/>
                <a:cs typeface="Segoe UI" panose="020B0502040204020203" pitchFamily="34" charset="0"/>
              </a:rPr>
              <a:t>Positiespel</a:t>
            </a:r>
            <a:br>
              <a:rPr lang="nl-BE" sz="2000" dirty="0">
                <a:solidFill>
                  <a:srgbClr val="212529"/>
                </a:solidFill>
                <a:effectLst/>
                <a:latin typeface="Nunito"/>
                <a:ea typeface="Times New Roman" panose="02020603050405020304" pitchFamily="18" charset="0"/>
                <a:cs typeface="Segoe UI" panose="020B0502040204020203" pitchFamily="34" charset="0"/>
              </a:rPr>
            </a:br>
            <a:r>
              <a:rPr lang="nl-BE" sz="2000" dirty="0">
                <a:solidFill>
                  <a:srgbClr val="212529"/>
                </a:solidFill>
                <a:effectLst/>
                <a:latin typeface="Nunito"/>
                <a:ea typeface="Times New Roman" panose="02020603050405020304" pitchFamily="18" charset="0"/>
                <a:cs typeface="Segoe UI" panose="020B0502040204020203" pitchFamily="34" charset="0"/>
              </a:rPr>
              <a:t>Verhoog de handelingssnelheid. Laat je spelers kijken alvorens ze de bal aannemen. Leer ze dat de balaanname perfect moet zijn om de snelheid spontaan te verhogen. Laat ze meteen inspelen naar een ploegmaat. </a:t>
            </a:r>
            <a:r>
              <a:rPr lang="nl-BE" sz="2000" b="1" dirty="0">
                <a:solidFill>
                  <a:srgbClr val="212529"/>
                </a:solidFill>
                <a:effectLst/>
                <a:latin typeface="Nunito"/>
                <a:ea typeface="Times New Roman" panose="02020603050405020304" pitchFamily="18" charset="0"/>
                <a:cs typeface="Segoe UI" panose="020B0502040204020203" pitchFamily="34" charset="0"/>
              </a:rPr>
              <a:t>Kijken – balaanname – spelen</a:t>
            </a:r>
            <a:r>
              <a:rPr lang="nl-BE" sz="2000" dirty="0">
                <a:solidFill>
                  <a:srgbClr val="212529"/>
                </a:solidFill>
                <a:effectLst/>
                <a:latin typeface="Nunito"/>
                <a:ea typeface="Times New Roman" panose="02020603050405020304" pitchFamily="18" charset="0"/>
                <a:cs typeface="Segoe UI" panose="020B0502040204020203" pitchFamily="34" charset="0"/>
              </a:rPr>
              <a:t>.</a:t>
            </a:r>
            <a:endParaRPr lang="nl-BE"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000" dirty="0">
                <a:solidFill>
                  <a:srgbClr val="212529"/>
                </a:solidFill>
                <a:effectLst/>
                <a:latin typeface="Nunito"/>
                <a:ea typeface="Times New Roman" panose="02020603050405020304" pitchFamily="18" charset="0"/>
                <a:cs typeface="Segoe UI" panose="020B0502040204020203" pitchFamily="34" charset="0"/>
              </a:rPr>
              <a:t>Techniek</a:t>
            </a:r>
            <a:br>
              <a:rPr lang="nl-BE" sz="2000" dirty="0">
                <a:solidFill>
                  <a:srgbClr val="212529"/>
                </a:solidFill>
                <a:effectLst/>
                <a:latin typeface="Nunito"/>
                <a:ea typeface="Times New Roman" panose="02020603050405020304" pitchFamily="18" charset="0"/>
                <a:cs typeface="Segoe UI" panose="020B0502040204020203" pitchFamily="34" charset="0"/>
              </a:rPr>
            </a:br>
            <a:r>
              <a:rPr lang="nl-BE" sz="2000" dirty="0">
                <a:solidFill>
                  <a:srgbClr val="212529"/>
                </a:solidFill>
                <a:effectLst/>
                <a:latin typeface="Nunito"/>
                <a:ea typeface="Times New Roman" panose="02020603050405020304" pitchFamily="18" charset="0"/>
                <a:cs typeface="Segoe UI" panose="020B0502040204020203" pitchFamily="34" charset="0"/>
              </a:rPr>
              <a:t>Om de technische bagage niet te verwaarlozen, laat ze veel 1 tegen 1 spelen. En dit met een beweging en snelheid. Onthoud de 3</a:t>
            </a:r>
            <a:r>
              <a:rPr lang="nl-BE" sz="2000" b="1" dirty="0">
                <a:solidFill>
                  <a:srgbClr val="212529"/>
                </a:solidFill>
                <a:effectLst/>
                <a:latin typeface="Nunito"/>
                <a:ea typeface="Times New Roman" panose="02020603050405020304" pitchFamily="18" charset="0"/>
                <a:cs typeface="Segoe UI" panose="020B0502040204020203" pitchFamily="34" charset="0"/>
              </a:rPr>
              <a:t> kenmerken van een sterke dribbel: 1) op snelheid, 2) met een schijnbeweging, 3) steeds voorwaarts gericht.</a:t>
            </a:r>
            <a:r>
              <a:rPr lang="nl-BE" sz="2000" dirty="0">
                <a:solidFill>
                  <a:srgbClr val="212529"/>
                </a:solidFill>
                <a:effectLst/>
                <a:latin typeface="Nunito"/>
                <a:ea typeface="Times New Roman" panose="02020603050405020304" pitchFamily="18" charset="0"/>
                <a:cs typeface="Segoe UI" panose="020B0502040204020203" pitchFamily="34" charset="0"/>
              </a:rPr>
              <a:t>.</a:t>
            </a:r>
            <a:endParaRPr lang="nl-BE"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p:cNvSpPr/>
          <p:nvPr/>
        </p:nvSpPr>
        <p:spPr>
          <a:xfrm>
            <a:off x="1908717" y="40076"/>
            <a:ext cx="8374566" cy="5259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a:spcAft>
                <a:spcPts val="500"/>
              </a:spcAft>
            </a:pPr>
            <a:r>
              <a:rPr lang="nl-BE" sz="3200" b="1" dirty="0">
                <a:solidFill>
                  <a:schemeClr val="bg1"/>
                </a:solidFill>
                <a:effectLst/>
                <a:latin typeface="Roboto"/>
                <a:ea typeface="Times New Roman" panose="02020603050405020304" pitchFamily="18" charset="0"/>
                <a:cs typeface="Arial" panose="020B0604020202020204" pitchFamily="34" charset="0"/>
              </a:rPr>
              <a:t>U10 - U11 - U12 (pre-formatie)</a:t>
            </a:r>
            <a:endParaRPr lang="nl-BE"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Afbeelding 6">
            <a:extLst>
              <a:ext uri="{FF2B5EF4-FFF2-40B4-BE49-F238E27FC236}">
                <a16:creationId xmlns:a16="http://schemas.microsoft.com/office/drawing/2014/main" id="{E3A414C6-798F-3A49-BCBA-B5465C90C678}"/>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0" y="7384"/>
            <a:ext cx="936000" cy="1117360"/>
          </a:xfrm>
          <a:prstGeom prst="rect">
            <a:avLst/>
          </a:prstGeom>
          <a:noFill/>
        </p:spPr>
      </p:pic>
      <p:pic>
        <p:nvPicPr>
          <p:cNvPr id="8" name="Afbeelding 7">
            <a:extLst>
              <a:ext uri="{FF2B5EF4-FFF2-40B4-BE49-F238E27FC236}">
                <a16:creationId xmlns:a16="http://schemas.microsoft.com/office/drawing/2014/main" id="{914C01E0-D951-1A4E-AFED-222BAA4A2E3F}"/>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240428" y="0"/>
            <a:ext cx="936000" cy="1117360"/>
          </a:xfrm>
          <a:prstGeom prst="rect">
            <a:avLst/>
          </a:prstGeom>
          <a:noFill/>
        </p:spPr>
      </p:pic>
    </p:spTree>
    <p:extLst>
      <p:ext uri="{BB962C8B-B14F-4D97-AF65-F5344CB8AC3E}">
        <p14:creationId xmlns:p14="http://schemas.microsoft.com/office/powerpoint/2010/main" val="14989637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895707" y="303070"/>
            <a:ext cx="8374566" cy="5259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a:spcAft>
                <a:spcPts val="500"/>
              </a:spcAft>
            </a:pPr>
            <a:r>
              <a:rPr lang="nl-BE" sz="3200" b="1">
                <a:solidFill>
                  <a:schemeClr val="bg1"/>
                </a:solidFill>
                <a:effectLst/>
                <a:latin typeface="Roboto"/>
                <a:ea typeface="Times New Roman" panose="02020603050405020304" pitchFamily="18" charset="0"/>
                <a:cs typeface="Arial" panose="020B0604020202020204" pitchFamily="34" charset="0"/>
              </a:rPr>
              <a:t>U10 - U11 - U12 (pre-formatie)</a:t>
            </a:r>
            <a:endParaRPr lang="nl-BE"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Afbeelding 6">
            <a:extLst>
              <a:ext uri="{FF2B5EF4-FFF2-40B4-BE49-F238E27FC236}">
                <a16:creationId xmlns:a16="http://schemas.microsoft.com/office/drawing/2014/main" id="{E3A414C6-798F-3A49-BCBA-B5465C90C678}"/>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0" y="7384"/>
            <a:ext cx="936000" cy="1117360"/>
          </a:xfrm>
          <a:prstGeom prst="rect">
            <a:avLst/>
          </a:prstGeom>
          <a:noFill/>
        </p:spPr>
      </p:pic>
      <p:pic>
        <p:nvPicPr>
          <p:cNvPr id="8" name="Afbeelding 7">
            <a:extLst>
              <a:ext uri="{FF2B5EF4-FFF2-40B4-BE49-F238E27FC236}">
                <a16:creationId xmlns:a16="http://schemas.microsoft.com/office/drawing/2014/main" id="{914C01E0-D951-1A4E-AFED-222BAA4A2E3F}"/>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240428" y="0"/>
            <a:ext cx="936000" cy="1117360"/>
          </a:xfrm>
          <a:prstGeom prst="rect">
            <a:avLst/>
          </a:prstGeom>
          <a:noFill/>
        </p:spPr>
      </p:pic>
      <p:sp>
        <p:nvSpPr>
          <p:cNvPr id="9" name="Tekstvak 8">
            <a:extLst>
              <a:ext uri="{FF2B5EF4-FFF2-40B4-BE49-F238E27FC236}">
                <a16:creationId xmlns:a16="http://schemas.microsoft.com/office/drawing/2014/main" id="{53E56085-9F8B-43BC-BD9A-7F2774C4D856}"/>
              </a:ext>
            </a:extLst>
          </p:cNvPr>
          <p:cNvSpPr txBox="1"/>
          <p:nvPr/>
        </p:nvSpPr>
        <p:spPr>
          <a:xfrm>
            <a:off x="2301240" y="1186416"/>
            <a:ext cx="7848600" cy="5775940"/>
          </a:xfrm>
          <a:prstGeom prst="rect">
            <a:avLst/>
          </a:prstGeom>
          <a:noFill/>
        </p:spPr>
        <p:txBody>
          <a:bodyPr wrap="square">
            <a:spAutoFit/>
          </a:bodyPr>
          <a:lstStyle/>
          <a:p>
            <a:pPr>
              <a:spcBef>
                <a:spcPts val="500"/>
              </a:spcBef>
              <a:spcAft>
                <a:spcPts val="500"/>
              </a:spcAft>
            </a:pPr>
            <a:r>
              <a:rPr lang="nl-BE" sz="2400" dirty="0">
                <a:solidFill>
                  <a:srgbClr val="212529"/>
                </a:solidFill>
                <a:latin typeface="Nunito"/>
                <a:ea typeface="Times New Roman" panose="02020603050405020304" pitchFamily="18" charset="0"/>
                <a:cs typeface="Segoe UI" panose="020B0502040204020203" pitchFamily="34" charset="0"/>
              </a:rPr>
              <a:t>3. </a:t>
            </a:r>
            <a:r>
              <a:rPr lang="nl-BE" sz="2400" dirty="0">
                <a:solidFill>
                  <a:srgbClr val="212529"/>
                </a:solidFill>
                <a:effectLst/>
                <a:latin typeface="Nunito"/>
                <a:ea typeface="Times New Roman" panose="02020603050405020304" pitchFamily="18" charset="0"/>
                <a:cs typeface="Segoe UI" panose="020B0502040204020203" pitchFamily="34" charset="0"/>
              </a:rPr>
              <a:t>Spelsituatie</a:t>
            </a:r>
          </a:p>
          <a:p>
            <a:pPr>
              <a:spcBef>
                <a:spcPts val="500"/>
              </a:spcBef>
              <a:spcAft>
                <a:spcPts val="500"/>
              </a:spcAft>
            </a:pPr>
            <a:br>
              <a:rPr lang="nl-BE" sz="2400" dirty="0">
                <a:solidFill>
                  <a:srgbClr val="212529"/>
                </a:solidFill>
                <a:effectLst/>
                <a:latin typeface="Nunito"/>
                <a:ea typeface="Times New Roman" panose="02020603050405020304" pitchFamily="18" charset="0"/>
                <a:cs typeface="Segoe UI" panose="020B0502040204020203" pitchFamily="34" charset="0"/>
              </a:rPr>
            </a:br>
            <a:r>
              <a:rPr lang="nl-BE" sz="2400" dirty="0">
                <a:solidFill>
                  <a:srgbClr val="212529"/>
                </a:solidFill>
                <a:effectLst/>
                <a:latin typeface="Nunito"/>
                <a:ea typeface="Times New Roman" panose="02020603050405020304" pitchFamily="18" charset="0"/>
                <a:cs typeface="Segoe UI" panose="020B0502040204020203" pitchFamily="34" charset="0"/>
              </a:rPr>
              <a:t>U10 – U11: leer je spelers op een vlotte manier de </a:t>
            </a:r>
            <a:r>
              <a:rPr lang="nl-BE" sz="2400" b="1" dirty="0">
                <a:solidFill>
                  <a:srgbClr val="212529"/>
                </a:solidFill>
                <a:effectLst/>
                <a:latin typeface="Nunito"/>
                <a:ea typeface="Times New Roman" panose="02020603050405020304" pitchFamily="18" charset="0"/>
                <a:cs typeface="Segoe UI" panose="020B0502040204020203" pitchFamily="34" charset="0"/>
              </a:rPr>
              <a:t>positie van een andere over te nemen</a:t>
            </a:r>
            <a:r>
              <a:rPr lang="nl-BE" sz="2400" dirty="0">
                <a:solidFill>
                  <a:srgbClr val="212529"/>
                </a:solidFill>
                <a:effectLst/>
                <a:latin typeface="Nunito"/>
                <a:ea typeface="Times New Roman" panose="02020603050405020304" pitchFamily="18" charset="0"/>
                <a:cs typeface="Segoe UI" panose="020B0502040204020203" pitchFamily="34" charset="0"/>
              </a:rPr>
              <a:t>. Wanneer een speler uit positie is (door het opzetten van een aanval bijvoorbeeld), laat ze voelen dat je een team hebt.</a:t>
            </a:r>
            <a:br>
              <a:rPr lang="nl-BE" sz="2400" dirty="0">
                <a:solidFill>
                  <a:srgbClr val="212529"/>
                </a:solidFill>
                <a:effectLst/>
                <a:latin typeface="Nunito"/>
                <a:ea typeface="Times New Roman" panose="02020603050405020304" pitchFamily="18" charset="0"/>
                <a:cs typeface="Segoe UI" panose="020B0502040204020203" pitchFamily="34" charset="0"/>
              </a:rPr>
            </a:br>
            <a:r>
              <a:rPr lang="nl-BE" sz="2400" dirty="0">
                <a:solidFill>
                  <a:srgbClr val="212529"/>
                </a:solidFill>
                <a:effectLst/>
                <a:latin typeface="Nunito"/>
                <a:ea typeface="Times New Roman" panose="02020603050405020304" pitchFamily="18" charset="0"/>
                <a:cs typeface="Segoe UI" panose="020B0502040204020203" pitchFamily="34" charset="0"/>
              </a:rPr>
              <a:t>U12: Laat je spelers niet op hun positie staan, maar </a:t>
            </a:r>
            <a:r>
              <a:rPr lang="nl-BE" sz="2400" b="1" dirty="0">
                <a:solidFill>
                  <a:srgbClr val="212529"/>
                </a:solidFill>
                <a:effectLst/>
                <a:latin typeface="Nunito"/>
                <a:ea typeface="Times New Roman" panose="02020603050405020304" pitchFamily="18" charset="0"/>
                <a:cs typeface="Segoe UI" panose="020B0502040204020203" pitchFamily="34" charset="0"/>
              </a:rPr>
              <a:t>in de positie komen</a:t>
            </a:r>
            <a:r>
              <a:rPr lang="nl-BE" sz="2400" dirty="0">
                <a:solidFill>
                  <a:srgbClr val="212529"/>
                </a:solidFill>
                <a:effectLst/>
                <a:latin typeface="Nunito"/>
                <a:ea typeface="Times New Roman" panose="02020603050405020304" pitchFamily="18" charset="0"/>
                <a:cs typeface="Segoe UI" panose="020B0502040204020203" pitchFamily="34" charset="0"/>
              </a:rPr>
              <a:t>.</a:t>
            </a:r>
            <a:endParaRPr lang="nl-BE" sz="2400" dirty="0">
              <a:effectLst/>
              <a:latin typeface="Calibri" panose="020F0502020204030204" pitchFamily="34" charset="0"/>
              <a:ea typeface="Calibri" panose="020F0502020204030204" pitchFamily="34" charset="0"/>
              <a:cs typeface="Times New Roman" panose="02020603050405020304" pitchFamily="18" charset="0"/>
            </a:endParaRPr>
          </a:p>
          <a:p>
            <a:pPr>
              <a:spcBef>
                <a:spcPts val="500"/>
              </a:spcBef>
              <a:spcAft>
                <a:spcPts val="500"/>
              </a:spcAft>
            </a:pPr>
            <a:endParaRPr lang="nl-BE" sz="2400" dirty="0">
              <a:solidFill>
                <a:srgbClr val="212529"/>
              </a:solidFill>
              <a:latin typeface="Nunito"/>
              <a:ea typeface="Times New Roman" panose="02020603050405020304" pitchFamily="18" charset="0"/>
              <a:cs typeface="Segoe UI" panose="020B0502040204020203" pitchFamily="34" charset="0"/>
            </a:endParaRPr>
          </a:p>
          <a:p>
            <a:pPr lvl="0">
              <a:spcBef>
                <a:spcPts val="500"/>
              </a:spcBef>
              <a:spcAft>
                <a:spcPts val="500"/>
              </a:spcAft>
            </a:pPr>
            <a:r>
              <a:rPr lang="nl-BE" sz="2400" dirty="0">
                <a:solidFill>
                  <a:srgbClr val="212529"/>
                </a:solidFill>
                <a:effectLst/>
                <a:latin typeface="Nunito"/>
                <a:ea typeface="Times New Roman" panose="02020603050405020304" pitchFamily="18" charset="0"/>
                <a:cs typeface="Segoe UI" panose="020B0502040204020203" pitchFamily="34" charset="0"/>
              </a:rPr>
              <a:t>4. Wedstrijdvorm</a:t>
            </a:r>
          </a:p>
          <a:p>
            <a:pPr lvl="0">
              <a:spcBef>
                <a:spcPts val="500"/>
              </a:spcBef>
              <a:spcAft>
                <a:spcPts val="500"/>
              </a:spcAft>
            </a:pPr>
            <a:br>
              <a:rPr lang="nl-BE" sz="2400" dirty="0">
                <a:solidFill>
                  <a:srgbClr val="212529"/>
                </a:solidFill>
                <a:effectLst/>
                <a:latin typeface="Nunito"/>
                <a:ea typeface="Times New Roman" panose="02020603050405020304" pitchFamily="18" charset="0"/>
                <a:cs typeface="Segoe UI" panose="020B0502040204020203" pitchFamily="34" charset="0"/>
              </a:rPr>
            </a:br>
            <a:r>
              <a:rPr lang="nl-BE" sz="2400" dirty="0">
                <a:solidFill>
                  <a:srgbClr val="212529"/>
                </a:solidFill>
                <a:effectLst/>
                <a:latin typeface="Nunito"/>
                <a:ea typeface="Times New Roman" panose="02020603050405020304" pitchFamily="18" charset="0"/>
                <a:cs typeface="Segoe UI" panose="020B0502040204020203" pitchFamily="34" charset="0"/>
              </a:rPr>
              <a:t>Breng aanvallend en creatief voetbal. Aanval is de beste verdediging, zei er iemand. Laat de spelers </a:t>
            </a:r>
            <a:r>
              <a:rPr lang="nl-BE" sz="2400" b="1" dirty="0">
                <a:solidFill>
                  <a:srgbClr val="212529"/>
                </a:solidFill>
                <a:effectLst/>
                <a:latin typeface="Nunito"/>
                <a:ea typeface="Times New Roman" panose="02020603050405020304" pitchFamily="18" charset="0"/>
                <a:cs typeface="Segoe UI" panose="020B0502040204020203" pitchFamily="34" charset="0"/>
              </a:rPr>
              <a:t>aanvallen opbouwen</a:t>
            </a:r>
            <a:r>
              <a:rPr lang="nl-BE" sz="2400" dirty="0">
                <a:solidFill>
                  <a:srgbClr val="212529"/>
                </a:solidFill>
                <a:effectLst/>
                <a:latin typeface="Nunito"/>
                <a:ea typeface="Times New Roman" panose="02020603050405020304" pitchFamily="18" charset="0"/>
                <a:cs typeface="Segoe UI" panose="020B0502040204020203" pitchFamily="34" charset="0"/>
              </a:rPr>
              <a:t> uit “het boekje”. Laat ze genieten van deze aanval.</a:t>
            </a:r>
            <a:endParaRPr lang="nl-BE"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074633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06858" y="1124744"/>
            <a:ext cx="8374565" cy="5527154"/>
          </a:xfrm>
          <a:prstGeom prst="rect">
            <a:avLst/>
          </a:prstGeom>
          <a:noFill/>
        </p:spPr>
        <p:txBody>
          <a:bodyPr wrap="square" rtlCol="0">
            <a:spAutoFit/>
          </a:bodyPr>
          <a:lstStyle/>
          <a:p>
            <a:pPr marL="342900" lvl="0" indent="-342900">
              <a:spcBef>
                <a:spcPts val="500"/>
              </a:spcBef>
              <a:spcAft>
                <a:spcPts val="500"/>
              </a:spcAft>
              <a:buFont typeface="+mj-lt"/>
              <a:buAutoNum type="arabicPeriod"/>
            </a:pPr>
            <a:r>
              <a:rPr lang="nl-BE" sz="1800" dirty="0">
                <a:solidFill>
                  <a:srgbClr val="212529"/>
                </a:solidFill>
                <a:effectLst/>
                <a:latin typeface="Nunito"/>
                <a:ea typeface="Times New Roman" panose="02020603050405020304" pitchFamily="18" charset="0"/>
                <a:cs typeface="Segoe UI" panose="020B0502040204020203" pitchFamily="34" charset="0"/>
              </a:rPr>
              <a:t>Positiespel</a:t>
            </a:r>
            <a:br>
              <a:rPr lang="nl-BE" sz="1800" dirty="0">
                <a:solidFill>
                  <a:srgbClr val="212529"/>
                </a:solidFill>
                <a:effectLst/>
                <a:latin typeface="Nunito"/>
                <a:ea typeface="Times New Roman" panose="02020603050405020304" pitchFamily="18" charset="0"/>
                <a:cs typeface="Segoe UI" panose="020B0502040204020203" pitchFamily="34" charset="0"/>
              </a:rPr>
            </a:br>
            <a:r>
              <a:rPr lang="nl-BE" sz="1800" dirty="0">
                <a:solidFill>
                  <a:srgbClr val="212529"/>
                </a:solidFill>
                <a:effectLst/>
                <a:latin typeface="Nunito"/>
                <a:ea typeface="Times New Roman" panose="02020603050405020304" pitchFamily="18" charset="0"/>
                <a:cs typeface="Segoe UI" panose="020B0502040204020203" pitchFamily="34" charset="0"/>
              </a:rPr>
              <a:t>Een werkpuntje is </a:t>
            </a:r>
            <a:r>
              <a:rPr lang="nl-BE" sz="1800" b="1" dirty="0">
                <a:solidFill>
                  <a:srgbClr val="212529"/>
                </a:solidFill>
                <a:effectLst/>
                <a:latin typeface="Nunito"/>
                <a:ea typeface="Times New Roman" panose="02020603050405020304" pitchFamily="18" charset="0"/>
                <a:cs typeface="Segoe UI" panose="020B0502040204020203" pitchFamily="34" charset="0"/>
              </a:rPr>
              <a:t>efficiënt balbezit</a:t>
            </a:r>
            <a:r>
              <a:rPr lang="nl-BE" sz="1800" dirty="0">
                <a:solidFill>
                  <a:srgbClr val="212529"/>
                </a:solidFill>
                <a:effectLst/>
                <a:latin typeface="Nunito"/>
                <a:ea typeface="Times New Roman" panose="02020603050405020304" pitchFamily="18" charset="0"/>
                <a:cs typeface="Segoe UI" panose="020B0502040204020203" pitchFamily="34" charset="0"/>
              </a:rPr>
              <a:t>. Wat is dit eigenlijk? Hoe moet ik spelen om efficiënt te zijn? Meer balbezit hebben is ervoor zorgen dat de tegenstrever zijn spel niet kan invullen.</a:t>
            </a:r>
            <a:endParaRPr lang="nl-BE"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1800" dirty="0">
                <a:solidFill>
                  <a:srgbClr val="212529"/>
                </a:solidFill>
                <a:effectLst/>
                <a:latin typeface="Nunito"/>
                <a:ea typeface="Times New Roman" panose="02020603050405020304" pitchFamily="18" charset="0"/>
                <a:cs typeface="Segoe UI" panose="020B0502040204020203" pitchFamily="34" charset="0"/>
              </a:rPr>
              <a:t>Techniek</a:t>
            </a:r>
            <a:br>
              <a:rPr lang="nl-BE" sz="1800" dirty="0">
                <a:solidFill>
                  <a:srgbClr val="212529"/>
                </a:solidFill>
                <a:effectLst/>
                <a:latin typeface="Nunito"/>
                <a:ea typeface="Times New Roman" panose="02020603050405020304" pitchFamily="18" charset="0"/>
                <a:cs typeface="Segoe UI" panose="020B0502040204020203" pitchFamily="34" charset="0"/>
              </a:rPr>
            </a:br>
            <a:r>
              <a:rPr lang="nl-BE" sz="1800" dirty="0">
                <a:solidFill>
                  <a:srgbClr val="212529"/>
                </a:solidFill>
                <a:effectLst/>
                <a:latin typeface="Nunito"/>
                <a:ea typeface="Times New Roman" panose="02020603050405020304" pitchFamily="18" charset="0"/>
                <a:cs typeface="Segoe UI" panose="020B0502040204020203" pitchFamily="34" charset="0"/>
              </a:rPr>
              <a:t>Spelers moeten nadenken. Laat ze zelf naar voetballende oplossingen zoeken. Zorg voor een probleemsituatie tijdens de oefening en laat hen zoeken naar een oplossing. </a:t>
            </a:r>
            <a:r>
              <a:rPr lang="nl-BE" sz="1800" b="1" dirty="0">
                <a:solidFill>
                  <a:srgbClr val="212529"/>
                </a:solidFill>
                <a:effectLst/>
                <a:latin typeface="Nunito"/>
                <a:ea typeface="Times New Roman" panose="02020603050405020304" pitchFamily="18" charset="0"/>
                <a:cs typeface="Segoe UI" panose="020B0502040204020203" pitchFamily="34" charset="0"/>
              </a:rPr>
              <a:t>Discussieer </a:t>
            </a:r>
            <a:r>
              <a:rPr lang="nl-BE" sz="1800" dirty="0">
                <a:solidFill>
                  <a:srgbClr val="212529"/>
                </a:solidFill>
                <a:effectLst/>
                <a:latin typeface="Nunito"/>
                <a:ea typeface="Times New Roman" panose="02020603050405020304" pitchFamily="18" charset="0"/>
                <a:cs typeface="Segoe UI" panose="020B0502040204020203" pitchFamily="34" charset="0"/>
              </a:rPr>
              <a:t>met hen over de mogelijke oplossingen. Ga de uitdaging met hen aan.</a:t>
            </a:r>
            <a:endParaRPr lang="nl-BE"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1800" dirty="0">
                <a:solidFill>
                  <a:srgbClr val="212529"/>
                </a:solidFill>
                <a:effectLst/>
                <a:latin typeface="Nunito"/>
                <a:ea typeface="Times New Roman" panose="02020603050405020304" pitchFamily="18" charset="0"/>
                <a:cs typeface="Segoe UI" panose="020B0502040204020203" pitchFamily="34" charset="0"/>
              </a:rPr>
              <a:t>Spelsituatie</a:t>
            </a:r>
            <a:br>
              <a:rPr lang="nl-BE" sz="1800" dirty="0">
                <a:solidFill>
                  <a:srgbClr val="212529"/>
                </a:solidFill>
                <a:effectLst/>
                <a:latin typeface="Nunito"/>
                <a:ea typeface="Times New Roman" panose="02020603050405020304" pitchFamily="18" charset="0"/>
                <a:cs typeface="Segoe UI" panose="020B0502040204020203" pitchFamily="34" charset="0"/>
              </a:rPr>
            </a:br>
            <a:r>
              <a:rPr lang="nl-BE" sz="1800" dirty="0">
                <a:solidFill>
                  <a:srgbClr val="212529"/>
                </a:solidFill>
                <a:effectLst/>
                <a:latin typeface="Nunito"/>
                <a:ea typeface="Times New Roman" panose="02020603050405020304" pitchFamily="18" charset="0"/>
                <a:cs typeface="Segoe UI" panose="020B0502040204020203" pitchFamily="34" charset="0"/>
              </a:rPr>
              <a:t>Enkele fases in een wedstrijd zijn van cruciaal belang. Zo zijn de </a:t>
            </a:r>
            <a:r>
              <a:rPr lang="nl-BE" sz="1800" b="1" dirty="0">
                <a:solidFill>
                  <a:srgbClr val="212529"/>
                </a:solidFill>
                <a:effectLst/>
                <a:latin typeface="Nunito"/>
                <a:ea typeface="Times New Roman" panose="02020603050405020304" pitchFamily="18" charset="0"/>
                <a:cs typeface="Segoe UI" panose="020B0502040204020203" pitchFamily="34" charset="0"/>
              </a:rPr>
              <a:t>stilstaande fases</a:t>
            </a:r>
            <a:r>
              <a:rPr lang="nl-BE" sz="1800" dirty="0">
                <a:solidFill>
                  <a:srgbClr val="212529"/>
                </a:solidFill>
                <a:effectLst/>
                <a:latin typeface="Nunito"/>
                <a:ea typeface="Times New Roman" panose="02020603050405020304" pitchFamily="18" charset="0"/>
                <a:cs typeface="Segoe UI" panose="020B0502040204020203" pitchFamily="34" charset="0"/>
              </a:rPr>
              <a:t> altijd een stressmoment voor de verdedigende ploeg. Leer ze enkele methodes aan waar gevaar uit kan ontstaan, of gevaar kan gekeerd worden. </a:t>
            </a:r>
            <a:endParaRPr lang="nl-BE"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1800" dirty="0">
                <a:solidFill>
                  <a:srgbClr val="212529"/>
                </a:solidFill>
                <a:effectLst/>
                <a:latin typeface="Nunito"/>
                <a:ea typeface="Times New Roman" panose="02020603050405020304" pitchFamily="18" charset="0"/>
                <a:cs typeface="Segoe UI" panose="020B0502040204020203" pitchFamily="34" charset="0"/>
              </a:rPr>
              <a:t>Wedstrijdvorm</a:t>
            </a:r>
            <a:br>
              <a:rPr lang="nl-BE" sz="1800" dirty="0">
                <a:solidFill>
                  <a:srgbClr val="212529"/>
                </a:solidFill>
                <a:effectLst/>
                <a:latin typeface="Nunito"/>
                <a:ea typeface="Times New Roman" panose="02020603050405020304" pitchFamily="18" charset="0"/>
                <a:cs typeface="Segoe UI" panose="020B0502040204020203" pitchFamily="34" charset="0"/>
              </a:rPr>
            </a:br>
            <a:r>
              <a:rPr lang="nl-BE" sz="1800" dirty="0">
                <a:solidFill>
                  <a:srgbClr val="212529"/>
                </a:solidFill>
                <a:effectLst/>
                <a:latin typeface="Nunito"/>
                <a:ea typeface="Times New Roman" panose="02020603050405020304" pitchFamily="18" charset="0"/>
                <a:cs typeface="Segoe UI" panose="020B0502040204020203" pitchFamily="34" charset="0"/>
              </a:rPr>
              <a:t>Verdedigen is een kunst. Maar deze kunst kan vereenvoudigd worden door </a:t>
            </a:r>
            <a:r>
              <a:rPr lang="nl-BE" sz="1800" b="1" dirty="0">
                <a:solidFill>
                  <a:srgbClr val="212529"/>
                </a:solidFill>
                <a:effectLst/>
                <a:latin typeface="Nunito"/>
                <a:ea typeface="Times New Roman" panose="02020603050405020304" pitchFamily="18" charset="0"/>
                <a:cs typeface="Segoe UI" panose="020B0502040204020203" pitchFamily="34" charset="0"/>
              </a:rPr>
              <a:t>in blok te spelen</a:t>
            </a:r>
            <a:r>
              <a:rPr lang="nl-BE" sz="1800" dirty="0">
                <a:solidFill>
                  <a:srgbClr val="212529"/>
                </a:solidFill>
                <a:effectLst/>
                <a:latin typeface="Nunito"/>
                <a:ea typeface="Times New Roman" panose="02020603050405020304" pitchFamily="18" charset="0"/>
                <a:cs typeface="Segoe UI" panose="020B0502040204020203" pitchFamily="34" charset="0"/>
              </a:rPr>
              <a:t>. Leer ze deze uitvoering aan. Laat ze voelen dat ze van elkaar afhankelijk zijn.</a:t>
            </a:r>
            <a:endParaRPr lang="nl-BE"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spcAft>
                <a:spcPts val="500"/>
              </a:spcAft>
            </a:pPr>
            <a:r>
              <a:rPr lang="nl-BE" sz="18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6" name="Rectangle 5"/>
          <p:cNvSpPr/>
          <p:nvPr/>
        </p:nvSpPr>
        <p:spPr>
          <a:xfrm>
            <a:off x="1602059" y="377944"/>
            <a:ext cx="8374565" cy="5259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a:spcAft>
                <a:spcPts val="500"/>
              </a:spcAft>
            </a:pPr>
            <a:r>
              <a:rPr lang="nl-BE" sz="3200" b="1" dirty="0">
                <a:solidFill>
                  <a:schemeClr val="bg1"/>
                </a:solidFill>
                <a:effectLst/>
                <a:latin typeface="Roboto"/>
                <a:ea typeface="Times New Roman" panose="02020603050405020304" pitchFamily="18" charset="0"/>
                <a:cs typeface="Arial" panose="020B0604020202020204" pitchFamily="34" charset="0"/>
              </a:rPr>
              <a:t>U13 - U15 (formatie)</a:t>
            </a:r>
            <a:endParaRPr lang="nl-BE"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Afbeelding 6">
            <a:extLst>
              <a:ext uri="{FF2B5EF4-FFF2-40B4-BE49-F238E27FC236}">
                <a16:creationId xmlns:a16="http://schemas.microsoft.com/office/drawing/2014/main" id="{980E9CF3-3AE8-E348-84EE-89FB107EC59C}"/>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0" y="7384"/>
            <a:ext cx="936000" cy="1117360"/>
          </a:xfrm>
          <a:prstGeom prst="rect">
            <a:avLst/>
          </a:prstGeom>
          <a:noFill/>
        </p:spPr>
      </p:pic>
      <p:pic>
        <p:nvPicPr>
          <p:cNvPr id="8" name="Afbeelding 7">
            <a:extLst>
              <a:ext uri="{FF2B5EF4-FFF2-40B4-BE49-F238E27FC236}">
                <a16:creationId xmlns:a16="http://schemas.microsoft.com/office/drawing/2014/main" id="{6BF4816E-058F-1F4B-BF73-9B86C08D9AB9}"/>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240428" y="0"/>
            <a:ext cx="936000" cy="1117360"/>
          </a:xfrm>
          <a:prstGeom prst="rect">
            <a:avLst/>
          </a:prstGeom>
          <a:noFill/>
        </p:spPr>
      </p:pic>
    </p:spTree>
    <p:extLst>
      <p:ext uri="{BB962C8B-B14F-4D97-AF65-F5344CB8AC3E}">
        <p14:creationId xmlns:p14="http://schemas.microsoft.com/office/powerpoint/2010/main" val="8211423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895707" y="1124744"/>
            <a:ext cx="8374566" cy="5473293"/>
          </a:xfrm>
          <a:prstGeom prst="rect">
            <a:avLst/>
          </a:prstGeom>
          <a:noFill/>
          <a:ln>
            <a:noFill/>
          </a:ln>
        </p:spPr>
        <p:txBody>
          <a:bodyPr wrap="square" rtlCol="0">
            <a:spAutoFit/>
          </a:bodyPr>
          <a:lstStyle/>
          <a:p>
            <a:pPr marL="457200" algn="ctr">
              <a:spcAft>
                <a:spcPts val="500"/>
              </a:spcAft>
            </a:pPr>
            <a:r>
              <a:rPr lang="nl-BE" sz="2800" b="1" u="sng" dirty="0">
                <a:solidFill>
                  <a:srgbClr val="555555"/>
                </a:solidFill>
                <a:effectLst/>
                <a:latin typeface="Nunito"/>
                <a:ea typeface="Times New Roman" panose="02020603050405020304" pitchFamily="18" charset="0"/>
                <a:cs typeface="Segoe UI" panose="020B0502040204020203" pitchFamily="34" charset="0"/>
              </a:rPr>
              <a:t> </a:t>
            </a:r>
            <a:r>
              <a:rPr lang="nl-BE" sz="2800" u="sng" dirty="0">
                <a:solidFill>
                  <a:srgbClr val="555555"/>
                </a:solidFill>
                <a:effectLst/>
                <a:latin typeface="Nunito"/>
                <a:ea typeface="Times New Roman" panose="02020603050405020304" pitchFamily="18" charset="0"/>
                <a:cs typeface="Segoe UI" panose="020B0502040204020203" pitchFamily="34" charset="0"/>
              </a:rPr>
              <a:t>nov-dec</a:t>
            </a:r>
            <a:r>
              <a:rPr lang="nl-BE" sz="2800" b="1" u="sng" dirty="0">
                <a:solidFill>
                  <a:srgbClr val="555555"/>
                </a:solidFill>
                <a:effectLst/>
                <a:latin typeface="Nunito"/>
                <a:ea typeface="Times New Roman" panose="02020603050405020304" pitchFamily="18" charset="0"/>
                <a:cs typeface="Segoe UI" panose="020B0502040204020203" pitchFamily="34" charset="0"/>
              </a:rPr>
              <a:t> </a:t>
            </a:r>
          </a:p>
          <a:p>
            <a:pPr marL="457200" algn="ctr">
              <a:spcAft>
                <a:spcPts val="500"/>
              </a:spcAft>
            </a:pPr>
            <a:endParaRPr lang="nl-BE"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ctr">
              <a:spcAft>
                <a:spcPts val="500"/>
              </a:spcAft>
              <a:buSzPts val="1000"/>
              <a:buFont typeface="Wingdings" panose="05000000000000000000" pitchFamily="2" charset="2"/>
              <a:buChar char=""/>
              <a:tabLst>
                <a:tab pos="457200" algn="l"/>
              </a:tabLst>
            </a:pPr>
            <a:r>
              <a:rPr lang="nl-BE" sz="2800" u="sng" dirty="0">
                <a:solidFill>
                  <a:srgbClr val="212529"/>
                </a:solidFill>
                <a:effectLst/>
                <a:latin typeface="Nunito"/>
                <a:ea typeface="Times New Roman" panose="02020603050405020304" pitchFamily="18" charset="0"/>
                <a:cs typeface="Segoe UI" panose="020B0502040204020203" pitchFamily="34" charset="0"/>
              </a:rPr>
              <a:t>Looptechniek </a:t>
            </a:r>
          </a:p>
          <a:p>
            <a:pPr marL="342900" lvl="0" indent="-342900" algn="ctr">
              <a:spcAft>
                <a:spcPts val="500"/>
              </a:spcAft>
              <a:buSzPts val="1000"/>
              <a:buFont typeface="Wingdings" panose="05000000000000000000" pitchFamily="2" charset="2"/>
              <a:buChar char=""/>
              <a:tabLst>
                <a:tab pos="457200" algn="l"/>
              </a:tabLst>
            </a:pPr>
            <a:endParaRPr lang="nl-BE" sz="2800" dirty="0">
              <a:effectLst/>
              <a:latin typeface="Symbol" panose="05050102010706020507" pitchFamily="18" charset="2"/>
              <a:ea typeface="Calibri" panose="020F0502020204030204" pitchFamily="34" charset="0"/>
              <a:cs typeface="Times New Roman" panose="02020603050405020304" pitchFamily="18" charset="0"/>
            </a:endParaRPr>
          </a:p>
          <a:p>
            <a:pPr marL="342900" lvl="0" indent="-342900" algn="ctr">
              <a:spcAft>
                <a:spcPts val="500"/>
              </a:spcAft>
              <a:buSzPts val="1000"/>
              <a:buFont typeface="Wingdings" panose="05000000000000000000" pitchFamily="2" charset="2"/>
              <a:buChar char=""/>
              <a:tabLst>
                <a:tab pos="457200" algn="l"/>
              </a:tabLst>
            </a:pPr>
            <a:r>
              <a:rPr lang="nl-BE" sz="2800" u="sng" dirty="0">
                <a:solidFill>
                  <a:srgbClr val="212529"/>
                </a:solidFill>
                <a:effectLst/>
                <a:latin typeface="Nunito"/>
                <a:ea typeface="Times New Roman" panose="02020603050405020304" pitchFamily="18" charset="0"/>
                <a:cs typeface="Segoe UI" panose="020B0502040204020203" pitchFamily="34" charset="0"/>
              </a:rPr>
              <a:t>Posities overnemen </a:t>
            </a:r>
          </a:p>
          <a:p>
            <a:pPr marL="342900" lvl="0" indent="-342900" algn="ctr">
              <a:spcAft>
                <a:spcPts val="500"/>
              </a:spcAft>
              <a:buSzPts val="1000"/>
              <a:buFont typeface="Wingdings" panose="05000000000000000000" pitchFamily="2" charset="2"/>
              <a:buChar char=""/>
              <a:tabLst>
                <a:tab pos="457200" algn="l"/>
              </a:tabLst>
            </a:pPr>
            <a:endParaRPr lang="nl-BE" sz="2800" dirty="0">
              <a:effectLst/>
              <a:latin typeface="Symbol" panose="05050102010706020507" pitchFamily="18" charset="2"/>
              <a:ea typeface="Calibri" panose="020F0502020204030204" pitchFamily="34" charset="0"/>
              <a:cs typeface="Times New Roman" panose="02020603050405020304" pitchFamily="18" charset="0"/>
            </a:endParaRPr>
          </a:p>
          <a:p>
            <a:pPr marL="342900" lvl="0" indent="-342900" algn="ctr">
              <a:spcAft>
                <a:spcPts val="500"/>
              </a:spcAft>
              <a:buSzPts val="1000"/>
              <a:buFont typeface="Wingdings" panose="05000000000000000000" pitchFamily="2" charset="2"/>
              <a:buChar char=""/>
              <a:tabLst>
                <a:tab pos="457200" algn="l"/>
              </a:tabLst>
            </a:pPr>
            <a:r>
              <a:rPr lang="nl-BE" sz="2800" dirty="0">
                <a:solidFill>
                  <a:srgbClr val="212529"/>
                </a:solidFill>
                <a:effectLst/>
                <a:latin typeface="Nunito"/>
                <a:ea typeface="Times New Roman" panose="02020603050405020304" pitchFamily="18" charset="0"/>
                <a:cs typeface="Segoe UI" panose="020B0502040204020203" pitchFamily="34" charset="0"/>
              </a:rPr>
              <a:t>Passing </a:t>
            </a:r>
          </a:p>
          <a:p>
            <a:pPr marL="342900" lvl="0" indent="-342900" algn="ctr">
              <a:spcAft>
                <a:spcPts val="500"/>
              </a:spcAft>
              <a:buSzPts val="1000"/>
              <a:buFont typeface="Wingdings" panose="05000000000000000000" pitchFamily="2" charset="2"/>
              <a:buChar char=""/>
              <a:tabLst>
                <a:tab pos="457200" algn="l"/>
              </a:tabLst>
            </a:pPr>
            <a:endParaRPr lang="nl-BE" sz="2800" dirty="0">
              <a:effectLst/>
              <a:latin typeface="Symbol" panose="05050102010706020507" pitchFamily="18" charset="2"/>
              <a:ea typeface="Calibri" panose="020F0502020204030204" pitchFamily="34" charset="0"/>
              <a:cs typeface="Times New Roman" panose="02020603050405020304" pitchFamily="18" charset="0"/>
            </a:endParaRPr>
          </a:p>
          <a:p>
            <a:pPr marL="342900" lvl="0" indent="-342900" algn="ctr">
              <a:spcAft>
                <a:spcPts val="500"/>
              </a:spcAft>
              <a:buSzPts val="1000"/>
              <a:buFont typeface="Wingdings" panose="05000000000000000000" pitchFamily="2" charset="2"/>
              <a:buChar char=""/>
              <a:tabLst>
                <a:tab pos="457200" algn="l"/>
              </a:tabLst>
            </a:pPr>
            <a:r>
              <a:rPr lang="nl-BE" sz="2800" dirty="0">
                <a:solidFill>
                  <a:srgbClr val="212529"/>
                </a:solidFill>
                <a:effectLst/>
                <a:latin typeface="Nunito"/>
                <a:ea typeface="Times New Roman" panose="02020603050405020304" pitchFamily="18" charset="0"/>
                <a:cs typeface="Segoe UI" panose="020B0502040204020203" pitchFamily="34" charset="0"/>
              </a:rPr>
              <a:t>Offensieve principes (</a:t>
            </a:r>
            <a:r>
              <a:rPr lang="nl-BE" sz="2800" dirty="0" err="1">
                <a:solidFill>
                  <a:srgbClr val="212529"/>
                </a:solidFill>
                <a:effectLst/>
                <a:latin typeface="Nunito"/>
                <a:ea typeface="Times New Roman" panose="02020603050405020304" pitchFamily="18" charset="0"/>
                <a:cs typeface="Segoe UI" panose="020B0502040204020203" pitchFamily="34" charset="0"/>
              </a:rPr>
              <a:t>come</a:t>
            </a:r>
            <a:r>
              <a:rPr lang="nl-BE" sz="2800" dirty="0">
                <a:solidFill>
                  <a:srgbClr val="212529"/>
                </a:solidFill>
                <a:effectLst/>
                <a:latin typeface="Nunito"/>
                <a:ea typeface="Times New Roman" panose="02020603050405020304" pitchFamily="18" charset="0"/>
                <a:cs typeface="Segoe UI" panose="020B0502040204020203" pitchFamily="34" charset="0"/>
              </a:rPr>
              <a:t> &amp; go)</a:t>
            </a:r>
          </a:p>
          <a:p>
            <a:pPr marL="342900" lvl="0" indent="-342900" algn="ctr">
              <a:spcAft>
                <a:spcPts val="500"/>
              </a:spcAft>
              <a:buSzPts val="1000"/>
              <a:buFont typeface="Wingdings" panose="05000000000000000000" pitchFamily="2" charset="2"/>
              <a:buChar char=""/>
              <a:tabLst>
                <a:tab pos="457200" algn="l"/>
              </a:tabLst>
            </a:pPr>
            <a:r>
              <a:rPr lang="nl-BE" sz="2800" dirty="0">
                <a:solidFill>
                  <a:srgbClr val="212529"/>
                </a:solidFill>
                <a:effectLst/>
                <a:latin typeface="Nunito"/>
                <a:ea typeface="Times New Roman" panose="02020603050405020304" pitchFamily="18" charset="0"/>
                <a:cs typeface="Segoe UI" panose="020B0502040204020203" pitchFamily="34" charset="0"/>
              </a:rPr>
              <a:t> </a:t>
            </a:r>
            <a:endParaRPr lang="nl-BE" sz="2800" dirty="0">
              <a:effectLst/>
              <a:latin typeface="Symbol" panose="05050102010706020507" pitchFamily="18" charset="2"/>
              <a:ea typeface="Calibri" panose="020F0502020204030204" pitchFamily="34" charset="0"/>
              <a:cs typeface="Times New Roman" panose="02020603050405020304" pitchFamily="18" charset="0"/>
            </a:endParaRPr>
          </a:p>
          <a:p>
            <a:pPr marL="457200" algn="ctr">
              <a:spcAft>
                <a:spcPts val="500"/>
              </a:spcAft>
            </a:pPr>
            <a:r>
              <a:rPr lang="nl-BE" sz="2800" u="sng" dirty="0">
                <a:solidFill>
                  <a:srgbClr val="404040"/>
                </a:solidFill>
                <a:effectLst/>
                <a:latin typeface="Nunito"/>
                <a:ea typeface="Times New Roman" panose="02020603050405020304" pitchFamily="18" charset="0"/>
                <a:cs typeface="Segoe UI" panose="020B0502040204020203" pitchFamily="34" charset="0"/>
                <a:hlinkClick r:id="rId3"/>
              </a:rPr>
              <a:t>Ontdek cyclus 3</a:t>
            </a:r>
            <a:r>
              <a:rPr lang="nl-BE" sz="2800" dirty="0">
                <a:solidFill>
                  <a:srgbClr val="212529"/>
                </a:solidFill>
                <a:effectLst/>
                <a:latin typeface="Nunito"/>
                <a:ea typeface="Times New Roman" panose="02020603050405020304" pitchFamily="18" charset="0"/>
                <a:cs typeface="Segoe UI" panose="020B0502040204020203" pitchFamily="34" charset="0"/>
              </a:rPr>
              <a:t> </a:t>
            </a:r>
            <a:endParaRPr lang="nl-BE" sz="2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p:cNvSpPr/>
          <p:nvPr/>
        </p:nvSpPr>
        <p:spPr>
          <a:xfrm>
            <a:off x="1895707" y="303070"/>
            <a:ext cx="8374566" cy="5259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a:spcBef>
                <a:spcPts val="805"/>
              </a:spcBef>
              <a:spcAft>
                <a:spcPts val="805"/>
              </a:spcAft>
            </a:pPr>
            <a:r>
              <a:rPr lang="nl-BE" sz="3600" b="1" kern="150" dirty="0">
                <a:solidFill>
                  <a:schemeClr val="bg1"/>
                </a:solidFill>
                <a:effectLst/>
                <a:latin typeface="Roboto"/>
                <a:ea typeface="Times New Roman" panose="02020603050405020304" pitchFamily="18" charset="0"/>
                <a:cs typeface="Arial" panose="020B0604020202020204" pitchFamily="34" charset="0"/>
              </a:rPr>
              <a:t>6 cycli – deel 3</a:t>
            </a:r>
            <a:endParaRPr lang="nl-BE" sz="3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Afbeelding 6">
            <a:extLst>
              <a:ext uri="{FF2B5EF4-FFF2-40B4-BE49-F238E27FC236}">
                <a16:creationId xmlns:a16="http://schemas.microsoft.com/office/drawing/2014/main" id="{E3A414C6-798F-3A49-BCBA-B5465C90C678}"/>
              </a:ext>
            </a:extLst>
          </p:cNvPr>
          <p:cNvPicPr>
            <a:picLocks/>
          </p:cNvPicPr>
          <p:nvPr/>
        </p:nvPicPr>
        <p:blipFill>
          <a:blip r:embed="rId4">
            <a:extLst>
              <a:ext uri="{BEBA8EAE-BF5A-486C-A8C5-ECC9F3942E4B}">
                <a14:imgProps xmlns:a14="http://schemas.microsoft.com/office/drawing/2010/main">
                  <a14:imgLayer>
                    <a14:imgEffect>
                      <a14:saturation sat="114000"/>
                    </a14:imgEffect>
                  </a14:imgLayer>
                </a14:imgProps>
              </a:ext>
            </a:extLst>
          </a:blip>
          <a:stretch>
            <a:fillRect/>
          </a:stretch>
        </p:blipFill>
        <p:spPr>
          <a:xfrm>
            <a:off x="94322" y="121684"/>
            <a:ext cx="936000" cy="1117360"/>
          </a:xfrm>
          <a:prstGeom prst="rect">
            <a:avLst/>
          </a:prstGeom>
          <a:noFill/>
        </p:spPr>
      </p:pic>
      <p:pic>
        <p:nvPicPr>
          <p:cNvPr id="8" name="Afbeelding 7">
            <a:extLst>
              <a:ext uri="{FF2B5EF4-FFF2-40B4-BE49-F238E27FC236}">
                <a16:creationId xmlns:a16="http://schemas.microsoft.com/office/drawing/2014/main" id="{914C01E0-D951-1A4E-AFED-222BAA4A2E3F}"/>
              </a:ext>
            </a:extLst>
          </p:cNvPr>
          <p:cNvPicPr>
            <a:picLocks/>
          </p:cNvPicPr>
          <p:nvPr/>
        </p:nvPicPr>
        <p:blipFill>
          <a:blip r:embed="rId4">
            <a:extLst>
              <a:ext uri="{BEBA8EAE-BF5A-486C-A8C5-ECC9F3942E4B}">
                <a14:imgProps xmlns:a14="http://schemas.microsoft.com/office/drawing/2010/main">
                  <a14:imgLayer>
                    <a14:imgEffect>
                      <a14:saturation sat="114000"/>
                    </a14:imgEffect>
                  </a14:imgLayer>
                </a14:imgProps>
              </a:ext>
            </a:extLst>
          </a:blip>
          <a:stretch>
            <a:fillRect/>
          </a:stretch>
        </p:blipFill>
        <p:spPr>
          <a:xfrm>
            <a:off x="11240428" y="0"/>
            <a:ext cx="936000" cy="1117360"/>
          </a:xfrm>
          <a:prstGeom prst="rect">
            <a:avLst/>
          </a:prstGeom>
          <a:noFill/>
        </p:spPr>
      </p:pic>
    </p:spTree>
    <p:extLst>
      <p:ext uri="{BB962C8B-B14F-4D97-AF65-F5344CB8AC3E}">
        <p14:creationId xmlns:p14="http://schemas.microsoft.com/office/powerpoint/2010/main" val="40767965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895707" y="1124744"/>
            <a:ext cx="8374566" cy="5375831"/>
          </a:xfrm>
          <a:prstGeom prst="rect">
            <a:avLst/>
          </a:prstGeom>
          <a:noFill/>
          <a:ln>
            <a:noFill/>
          </a:ln>
        </p:spPr>
        <p:txBody>
          <a:bodyPr wrap="square" rtlCol="0">
            <a:spAutoFit/>
          </a:bodyPr>
          <a:lstStyle/>
          <a:p>
            <a:pPr marL="457200">
              <a:spcAft>
                <a:spcPts val="1800"/>
              </a:spcAft>
            </a:pPr>
            <a:r>
              <a:rPr lang="nl-BE" sz="2800" dirty="0">
                <a:solidFill>
                  <a:srgbClr val="212529"/>
                </a:solidFill>
                <a:effectLst/>
                <a:latin typeface="Nunito"/>
                <a:ea typeface="Times New Roman" panose="02020603050405020304" pitchFamily="18" charset="0"/>
                <a:cs typeface="Segoe UI" panose="020B0502040204020203" pitchFamily="34" charset="0"/>
              </a:rPr>
              <a:t>Onze derde cyclus. </a:t>
            </a:r>
            <a:endParaRPr lang="nl-BE" sz="2800" dirty="0">
              <a:effectLst/>
              <a:latin typeface="Calibri" panose="020F0502020204030204" pitchFamily="34" charset="0"/>
              <a:ea typeface="Calibri" panose="020F0502020204030204" pitchFamily="34" charset="0"/>
              <a:cs typeface="Times New Roman" panose="02020603050405020304" pitchFamily="18" charset="0"/>
            </a:endParaRPr>
          </a:p>
          <a:p>
            <a:pPr marL="457200">
              <a:spcAft>
                <a:spcPts val="1800"/>
              </a:spcAft>
            </a:pPr>
            <a:r>
              <a:rPr lang="nl-BE" sz="2800" dirty="0">
                <a:solidFill>
                  <a:srgbClr val="212529"/>
                </a:solidFill>
                <a:effectLst/>
                <a:latin typeface="Nunito"/>
                <a:ea typeface="Times New Roman" panose="02020603050405020304" pitchFamily="18" charset="0"/>
                <a:cs typeface="Segoe UI" panose="020B0502040204020203" pitchFamily="34" charset="0"/>
              </a:rPr>
              <a:t>Je activatie krijgt in deze cyclus een belangrijke focus </a:t>
            </a:r>
            <a:r>
              <a:rPr lang="nl-BE" sz="2800" dirty="0" err="1">
                <a:solidFill>
                  <a:srgbClr val="212529"/>
                </a:solidFill>
                <a:effectLst/>
                <a:latin typeface="Nunito"/>
                <a:ea typeface="Times New Roman" panose="02020603050405020304" pitchFamily="18" charset="0"/>
                <a:cs typeface="Segoe UI" panose="020B0502040204020203" pitchFamily="34" charset="0"/>
              </a:rPr>
              <a:t>i.f.v</a:t>
            </a:r>
            <a:r>
              <a:rPr lang="nl-BE" sz="2800" dirty="0">
                <a:solidFill>
                  <a:srgbClr val="212529"/>
                </a:solidFill>
                <a:effectLst/>
                <a:latin typeface="Nunito"/>
                <a:ea typeface="Times New Roman" panose="02020603050405020304" pitchFamily="18" charset="0"/>
                <a:cs typeface="Segoe UI" panose="020B0502040204020203" pitchFamily="34" charset="0"/>
              </a:rPr>
              <a:t>. looptechniek.</a:t>
            </a:r>
            <a:br>
              <a:rPr lang="nl-BE" sz="2800" dirty="0">
                <a:solidFill>
                  <a:srgbClr val="212529"/>
                </a:solidFill>
                <a:effectLst/>
                <a:latin typeface="Nunito"/>
                <a:ea typeface="Times New Roman" panose="02020603050405020304" pitchFamily="18" charset="0"/>
                <a:cs typeface="Segoe UI" panose="020B0502040204020203" pitchFamily="34" charset="0"/>
              </a:rPr>
            </a:br>
            <a:r>
              <a:rPr lang="nl-BE" sz="2800" dirty="0">
                <a:solidFill>
                  <a:srgbClr val="212529"/>
                </a:solidFill>
                <a:effectLst/>
                <a:latin typeface="Nunito"/>
                <a:ea typeface="Times New Roman" panose="02020603050405020304" pitchFamily="18" charset="0"/>
                <a:cs typeface="Segoe UI" panose="020B0502040204020203" pitchFamily="34" charset="0"/>
              </a:rPr>
              <a:t>De 4 hoofdcomponenten zijn nog steeds de basis van elke training:</a:t>
            </a:r>
            <a:endParaRPr lang="nl-BE"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800" dirty="0">
                <a:solidFill>
                  <a:srgbClr val="212529"/>
                </a:solidFill>
                <a:effectLst/>
                <a:latin typeface="Nunito"/>
                <a:ea typeface="Times New Roman" panose="02020603050405020304" pitchFamily="18" charset="0"/>
                <a:cs typeface="Segoe UI" panose="020B0502040204020203" pitchFamily="34" charset="0"/>
              </a:rPr>
              <a:t>positiespel</a:t>
            </a:r>
            <a:endParaRPr lang="nl-BE" sz="28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800" dirty="0">
                <a:solidFill>
                  <a:srgbClr val="212529"/>
                </a:solidFill>
                <a:effectLst/>
                <a:latin typeface="Nunito"/>
                <a:ea typeface="Times New Roman" panose="02020603050405020304" pitchFamily="18" charset="0"/>
                <a:cs typeface="Segoe UI" panose="020B0502040204020203" pitchFamily="34" charset="0"/>
              </a:rPr>
              <a:t>techniek</a:t>
            </a:r>
            <a:endParaRPr lang="nl-BE" sz="28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800" dirty="0">
                <a:solidFill>
                  <a:srgbClr val="212529"/>
                </a:solidFill>
                <a:effectLst/>
                <a:latin typeface="Nunito"/>
                <a:ea typeface="Times New Roman" panose="02020603050405020304" pitchFamily="18" charset="0"/>
                <a:cs typeface="Segoe UI" panose="020B0502040204020203" pitchFamily="34" charset="0"/>
              </a:rPr>
              <a:t>spelsituatie</a:t>
            </a:r>
            <a:endParaRPr lang="nl-BE" sz="28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800" dirty="0">
                <a:solidFill>
                  <a:srgbClr val="212529"/>
                </a:solidFill>
                <a:effectLst/>
                <a:latin typeface="Nunito"/>
                <a:ea typeface="Times New Roman" panose="02020603050405020304" pitchFamily="18" charset="0"/>
                <a:cs typeface="Segoe UI" panose="020B0502040204020203" pitchFamily="34" charset="0"/>
              </a:rPr>
              <a:t>wedstrijdvorm</a:t>
            </a:r>
            <a:endParaRPr lang="nl-BE" sz="28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457200">
              <a:spcAft>
                <a:spcPts val="1800"/>
              </a:spcAft>
            </a:pPr>
            <a:r>
              <a:rPr lang="nl-BE" sz="2800" dirty="0">
                <a:solidFill>
                  <a:srgbClr val="212529"/>
                </a:solidFill>
                <a:effectLst/>
                <a:latin typeface="Nunito"/>
                <a:ea typeface="Times New Roman" panose="02020603050405020304" pitchFamily="18" charset="0"/>
                <a:cs typeface="Segoe UI" panose="020B0502040204020203" pitchFamily="34" charset="0"/>
              </a:rPr>
              <a:t>Elke training eindigt met een leuke </a:t>
            </a:r>
            <a:r>
              <a:rPr lang="nl-BE" sz="2800" dirty="0" err="1">
                <a:solidFill>
                  <a:srgbClr val="212529"/>
                </a:solidFill>
                <a:effectLst/>
                <a:latin typeface="Nunito"/>
                <a:ea typeface="Times New Roman" panose="02020603050405020304" pitchFamily="18" charset="0"/>
                <a:cs typeface="Segoe UI" panose="020B0502040204020203" pitchFamily="34" charset="0"/>
              </a:rPr>
              <a:t>cooling</a:t>
            </a:r>
            <a:r>
              <a:rPr lang="nl-BE" sz="2800" dirty="0">
                <a:solidFill>
                  <a:srgbClr val="212529"/>
                </a:solidFill>
                <a:effectLst/>
                <a:latin typeface="Nunito"/>
                <a:ea typeface="Times New Roman" panose="02020603050405020304" pitchFamily="18" charset="0"/>
                <a:cs typeface="Segoe UI" panose="020B0502040204020203" pitchFamily="34" charset="0"/>
              </a:rPr>
              <a:t> down.</a:t>
            </a:r>
            <a:endParaRPr lang="nl-BE" sz="2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p:cNvSpPr/>
          <p:nvPr/>
        </p:nvSpPr>
        <p:spPr>
          <a:xfrm>
            <a:off x="1895707" y="303070"/>
            <a:ext cx="8374566" cy="5259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a:spcBef>
                <a:spcPts val="805"/>
              </a:spcBef>
              <a:spcAft>
                <a:spcPts val="805"/>
              </a:spcAft>
            </a:pPr>
            <a:r>
              <a:rPr lang="nl-BE" sz="3600" b="1" kern="150" dirty="0">
                <a:solidFill>
                  <a:schemeClr val="bg1"/>
                </a:solidFill>
                <a:effectLst/>
                <a:latin typeface="Roboto"/>
                <a:ea typeface="Times New Roman" panose="02020603050405020304" pitchFamily="18" charset="0"/>
                <a:cs typeface="Arial" panose="020B0604020202020204" pitchFamily="34" charset="0"/>
              </a:rPr>
              <a:t>6 cycli – deel 3</a:t>
            </a:r>
            <a:endParaRPr lang="nl-BE" sz="3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Afbeelding 6">
            <a:extLst>
              <a:ext uri="{FF2B5EF4-FFF2-40B4-BE49-F238E27FC236}">
                <a16:creationId xmlns:a16="http://schemas.microsoft.com/office/drawing/2014/main" id="{E3A414C6-798F-3A49-BCBA-B5465C90C678}"/>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94322" y="121684"/>
            <a:ext cx="936000" cy="1117360"/>
          </a:xfrm>
          <a:prstGeom prst="rect">
            <a:avLst/>
          </a:prstGeom>
          <a:noFill/>
        </p:spPr>
      </p:pic>
      <p:pic>
        <p:nvPicPr>
          <p:cNvPr id="8" name="Afbeelding 7">
            <a:extLst>
              <a:ext uri="{FF2B5EF4-FFF2-40B4-BE49-F238E27FC236}">
                <a16:creationId xmlns:a16="http://schemas.microsoft.com/office/drawing/2014/main" id="{914C01E0-D951-1A4E-AFED-222BAA4A2E3F}"/>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240428" y="0"/>
            <a:ext cx="936000" cy="1117360"/>
          </a:xfrm>
          <a:prstGeom prst="rect">
            <a:avLst/>
          </a:prstGeom>
          <a:noFill/>
        </p:spPr>
      </p:pic>
    </p:spTree>
    <p:extLst>
      <p:ext uri="{BB962C8B-B14F-4D97-AF65-F5344CB8AC3E}">
        <p14:creationId xmlns:p14="http://schemas.microsoft.com/office/powerpoint/2010/main" val="21275955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895707" y="1124744"/>
            <a:ext cx="8374566" cy="3913892"/>
          </a:xfrm>
          <a:prstGeom prst="rect">
            <a:avLst/>
          </a:prstGeom>
          <a:noFill/>
          <a:ln>
            <a:noFill/>
          </a:ln>
        </p:spPr>
        <p:txBody>
          <a:bodyPr wrap="square" rtlCol="0">
            <a:spAutoFit/>
          </a:bodyPr>
          <a:lstStyle/>
          <a:p>
            <a:pPr marL="342900" lvl="0" indent="-342900">
              <a:spcBef>
                <a:spcPts val="500"/>
              </a:spcBef>
              <a:spcAft>
                <a:spcPts val="500"/>
              </a:spcAft>
              <a:buFont typeface="+mj-lt"/>
              <a:buAutoNum type="arabicPeriod"/>
            </a:pPr>
            <a:r>
              <a:rPr lang="nl-BE" sz="2400" dirty="0">
                <a:solidFill>
                  <a:srgbClr val="212529"/>
                </a:solidFill>
                <a:effectLst/>
                <a:latin typeface="Nunito"/>
                <a:ea typeface="Times New Roman" panose="02020603050405020304" pitchFamily="18" charset="0"/>
                <a:cs typeface="Segoe UI" panose="020B0502040204020203" pitchFamily="34" charset="0"/>
              </a:rPr>
              <a:t>Activatie</a:t>
            </a:r>
            <a:br>
              <a:rPr lang="nl-BE" sz="2400" dirty="0">
                <a:solidFill>
                  <a:srgbClr val="212529"/>
                </a:solidFill>
                <a:effectLst/>
                <a:latin typeface="Nunito"/>
                <a:ea typeface="Times New Roman" panose="02020603050405020304" pitchFamily="18" charset="0"/>
                <a:cs typeface="Segoe UI" panose="020B0502040204020203" pitchFamily="34" charset="0"/>
              </a:rPr>
            </a:br>
            <a:r>
              <a:rPr lang="nl-BE" sz="2400" dirty="0">
                <a:solidFill>
                  <a:srgbClr val="212529"/>
                </a:solidFill>
                <a:effectLst/>
                <a:latin typeface="Nunito"/>
                <a:ea typeface="Times New Roman" panose="02020603050405020304" pitchFamily="18" charset="0"/>
                <a:cs typeface="Segoe UI" panose="020B0502040204020203" pitchFamily="34" charset="0"/>
              </a:rPr>
              <a:t>Werk tijdens de opwarming aan </a:t>
            </a:r>
            <a:r>
              <a:rPr lang="nl-BE" sz="2400" b="1" dirty="0">
                <a:solidFill>
                  <a:srgbClr val="212529"/>
                </a:solidFill>
                <a:effectLst/>
                <a:latin typeface="Nunito"/>
                <a:ea typeface="Times New Roman" panose="02020603050405020304" pitchFamily="18" charset="0"/>
                <a:cs typeface="Segoe UI" panose="020B0502040204020203" pitchFamily="34" charset="0"/>
              </a:rPr>
              <a:t>looptechniek</a:t>
            </a:r>
            <a:r>
              <a:rPr lang="nl-BE" sz="2400" dirty="0">
                <a:solidFill>
                  <a:srgbClr val="212529"/>
                </a:solidFill>
                <a:effectLst/>
                <a:latin typeface="Nunito"/>
                <a:ea typeface="Times New Roman" panose="02020603050405020304" pitchFamily="18" charset="0"/>
                <a:cs typeface="Segoe UI" panose="020B0502040204020203" pitchFamily="34" charset="0"/>
              </a:rPr>
              <a:t>. Leer je spelers de juiste houding aan. Leer hen op hun voorvoeten trippelen. Een goede looptechniek voorkomt tal van blessures. </a:t>
            </a:r>
            <a:endParaRPr lang="nl-BE"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400" dirty="0">
                <a:solidFill>
                  <a:srgbClr val="212529"/>
                </a:solidFill>
                <a:effectLst/>
                <a:latin typeface="Nunito"/>
                <a:ea typeface="Times New Roman" panose="02020603050405020304" pitchFamily="18" charset="0"/>
                <a:cs typeface="Segoe UI" panose="020B0502040204020203" pitchFamily="34" charset="0"/>
              </a:rPr>
              <a:t>Positiespel</a:t>
            </a:r>
            <a:br>
              <a:rPr lang="nl-BE" sz="2400" dirty="0">
                <a:solidFill>
                  <a:srgbClr val="212529"/>
                </a:solidFill>
                <a:effectLst/>
                <a:latin typeface="Nunito"/>
                <a:ea typeface="Times New Roman" panose="02020603050405020304" pitchFamily="18" charset="0"/>
                <a:cs typeface="Segoe UI" panose="020B0502040204020203" pitchFamily="34" charset="0"/>
              </a:rPr>
            </a:br>
            <a:r>
              <a:rPr lang="nl-BE" sz="2400" dirty="0">
                <a:solidFill>
                  <a:srgbClr val="212529"/>
                </a:solidFill>
                <a:effectLst/>
                <a:latin typeface="Nunito"/>
                <a:ea typeface="Times New Roman" panose="02020603050405020304" pitchFamily="18" charset="0"/>
                <a:cs typeface="Segoe UI" panose="020B0502040204020203" pitchFamily="34" charset="0"/>
              </a:rPr>
              <a:t>Nu onze mannen hun posities kennen, gaan we een stapje verder. Laat spelers </a:t>
            </a:r>
            <a:r>
              <a:rPr lang="nl-BE" sz="2400" b="1" dirty="0">
                <a:solidFill>
                  <a:srgbClr val="212529"/>
                </a:solidFill>
                <a:effectLst/>
                <a:latin typeface="Nunito"/>
                <a:ea typeface="Times New Roman" panose="02020603050405020304" pitchFamily="18" charset="0"/>
                <a:cs typeface="Segoe UI" panose="020B0502040204020203" pitchFamily="34" charset="0"/>
              </a:rPr>
              <a:t>posities overnemen</a:t>
            </a:r>
            <a:r>
              <a:rPr lang="nl-BE" sz="2400" dirty="0">
                <a:solidFill>
                  <a:srgbClr val="212529"/>
                </a:solidFill>
                <a:effectLst/>
                <a:latin typeface="Nunito"/>
                <a:ea typeface="Times New Roman" panose="02020603050405020304" pitchFamily="18" charset="0"/>
                <a:cs typeface="Segoe UI" panose="020B0502040204020203" pitchFamily="34" charset="0"/>
              </a:rPr>
              <a:t> van elkaar. Doe dit in de vorm van vakkenspel. Opgelet! Dit is niet eenvoudig omdat spelers enorm hard moeten opletten en nadenken. Ook voor jou als trainer is dit een uitdaging.</a:t>
            </a:r>
            <a:endParaRPr lang="nl-BE"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p:cNvSpPr/>
          <p:nvPr/>
        </p:nvSpPr>
        <p:spPr>
          <a:xfrm>
            <a:off x="1895707" y="303070"/>
            <a:ext cx="8374566" cy="5259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a:spcAft>
                <a:spcPts val="500"/>
              </a:spcAft>
            </a:pPr>
            <a:r>
              <a:rPr lang="nl-BE" sz="3200" b="1" dirty="0">
                <a:solidFill>
                  <a:schemeClr val="bg1"/>
                </a:solidFill>
                <a:effectLst/>
                <a:latin typeface="Roboto"/>
                <a:ea typeface="Times New Roman" panose="02020603050405020304" pitchFamily="18" charset="0"/>
                <a:cs typeface="Arial" panose="020B0604020202020204" pitchFamily="34" charset="0"/>
              </a:rPr>
              <a:t>U8 - U9 (initiatie) </a:t>
            </a:r>
            <a:endParaRPr lang="nl-BE"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Afbeelding 6">
            <a:extLst>
              <a:ext uri="{FF2B5EF4-FFF2-40B4-BE49-F238E27FC236}">
                <a16:creationId xmlns:a16="http://schemas.microsoft.com/office/drawing/2014/main" id="{E3A414C6-798F-3A49-BCBA-B5465C90C678}"/>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0" y="7384"/>
            <a:ext cx="936000" cy="1117360"/>
          </a:xfrm>
          <a:prstGeom prst="rect">
            <a:avLst/>
          </a:prstGeom>
          <a:noFill/>
        </p:spPr>
      </p:pic>
      <p:pic>
        <p:nvPicPr>
          <p:cNvPr id="8" name="Afbeelding 7">
            <a:extLst>
              <a:ext uri="{FF2B5EF4-FFF2-40B4-BE49-F238E27FC236}">
                <a16:creationId xmlns:a16="http://schemas.microsoft.com/office/drawing/2014/main" id="{914C01E0-D951-1A4E-AFED-222BAA4A2E3F}"/>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240428" y="0"/>
            <a:ext cx="936000" cy="1117360"/>
          </a:xfrm>
          <a:prstGeom prst="rect">
            <a:avLst/>
          </a:prstGeom>
          <a:noFill/>
        </p:spPr>
      </p:pic>
    </p:spTree>
    <p:extLst>
      <p:ext uri="{BB962C8B-B14F-4D97-AF65-F5344CB8AC3E}">
        <p14:creationId xmlns:p14="http://schemas.microsoft.com/office/powerpoint/2010/main" val="19310581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895708" y="303070"/>
            <a:ext cx="8385716" cy="5259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a:spcAft>
                <a:spcPts val="500"/>
              </a:spcAft>
            </a:pPr>
            <a:r>
              <a:rPr lang="nl-BE" sz="3200" b="1">
                <a:solidFill>
                  <a:schemeClr val="bg1"/>
                </a:solidFill>
                <a:effectLst/>
                <a:latin typeface="Roboto"/>
                <a:ea typeface="Times New Roman" panose="02020603050405020304" pitchFamily="18" charset="0"/>
                <a:cs typeface="Arial" panose="020B0604020202020204" pitchFamily="34" charset="0"/>
              </a:rPr>
              <a:t>U8 - U9 (initiatie) </a:t>
            </a:r>
            <a:endParaRPr lang="nl-BE"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Afbeelding 6">
            <a:extLst>
              <a:ext uri="{FF2B5EF4-FFF2-40B4-BE49-F238E27FC236}">
                <a16:creationId xmlns:a16="http://schemas.microsoft.com/office/drawing/2014/main" id="{319F9285-DA37-7C4E-934C-A71E4FA8EE6C}"/>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0" y="7384"/>
            <a:ext cx="936000" cy="1117360"/>
          </a:xfrm>
          <a:prstGeom prst="rect">
            <a:avLst/>
          </a:prstGeom>
          <a:noFill/>
        </p:spPr>
      </p:pic>
      <p:pic>
        <p:nvPicPr>
          <p:cNvPr id="8" name="Afbeelding 7">
            <a:extLst>
              <a:ext uri="{FF2B5EF4-FFF2-40B4-BE49-F238E27FC236}">
                <a16:creationId xmlns:a16="http://schemas.microsoft.com/office/drawing/2014/main" id="{C2695481-DB94-2E43-A14D-81D27A928BD9}"/>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240428" y="0"/>
            <a:ext cx="936000" cy="1117360"/>
          </a:xfrm>
          <a:prstGeom prst="rect">
            <a:avLst/>
          </a:prstGeom>
          <a:noFill/>
        </p:spPr>
      </p:pic>
      <p:sp>
        <p:nvSpPr>
          <p:cNvPr id="9" name="TextBox 3">
            <a:extLst>
              <a:ext uri="{FF2B5EF4-FFF2-40B4-BE49-F238E27FC236}">
                <a16:creationId xmlns:a16="http://schemas.microsoft.com/office/drawing/2014/main" id="{7F6422A8-93F0-CB49-94A9-606666551B94}"/>
              </a:ext>
            </a:extLst>
          </p:cNvPr>
          <p:cNvSpPr txBox="1"/>
          <p:nvPr/>
        </p:nvSpPr>
        <p:spPr>
          <a:xfrm>
            <a:off x="1895707" y="1160223"/>
            <a:ext cx="8374566" cy="5822107"/>
          </a:xfrm>
          <a:prstGeom prst="rect">
            <a:avLst/>
          </a:prstGeom>
          <a:noFill/>
        </p:spPr>
        <p:txBody>
          <a:bodyPr wrap="square" rtlCol="0">
            <a:spAutoFit/>
          </a:bodyPr>
          <a:lstStyle/>
          <a:p>
            <a:pPr lvl="0">
              <a:spcBef>
                <a:spcPts val="500"/>
              </a:spcBef>
              <a:spcAft>
                <a:spcPts val="500"/>
              </a:spcAft>
            </a:pPr>
            <a:r>
              <a:rPr lang="nl-BE" sz="2800" dirty="0">
                <a:solidFill>
                  <a:srgbClr val="212529"/>
                </a:solidFill>
                <a:latin typeface="Nunito"/>
                <a:ea typeface="Times New Roman" panose="02020603050405020304" pitchFamily="18" charset="0"/>
                <a:cs typeface="Segoe UI" panose="020B0502040204020203" pitchFamily="34" charset="0"/>
              </a:rPr>
              <a:t>3. Techniek</a:t>
            </a:r>
            <a:br>
              <a:rPr lang="nl-BE" sz="2800" dirty="0">
                <a:solidFill>
                  <a:srgbClr val="212529"/>
                </a:solidFill>
                <a:effectLst/>
                <a:latin typeface="Nunito"/>
                <a:ea typeface="Times New Roman" panose="02020603050405020304" pitchFamily="18" charset="0"/>
                <a:cs typeface="Segoe UI" panose="020B0502040204020203" pitchFamily="34" charset="0"/>
              </a:rPr>
            </a:br>
            <a:r>
              <a:rPr lang="nl-BE" sz="2800" dirty="0" err="1">
                <a:solidFill>
                  <a:srgbClr val="212529"/>
                </a:solidFill>
                <a:effectLst/>
                <a:latin typeface="Nunito"/>
                <a:ea typeface="Times New Roman" panose="02020603050405020304" pitchFamily="18" charset="0"/>
                <a:cs typeface="Segoe UI" panose="020B0502040204020203" pitchFamily="34" charset="0"/>
              </a:rPr>
              <a:t>Techniek</a:t>
            </a:r>
            <a:r>
              <a:rPr lang="nl-BE" sz="2800" dirty="0">
                <a:solidFill>
                  <a:srgbClr val="212529"/>
                </a:solidFill>
                <a:effectLst/>
                <a:latin typeface="Nunito"/>
                <a:ea typeface="Times New Roman" panose="02020603050405020304" pitchFamily="18" charset="0"/>
                <a:cs typeface="Segoe UI" panose="020B0502040204020203" pitchFamily="34" charset="0"/>
              </a:rPr>
              <a:t> is nu éénmaal enorm belangrijk. Blijf deze in tal van variaties inoefenen. Combineer dit met de </a:t>
            </a:r>
            <a:r>
              <a:rPr lang="nl-BE" sz="2800" b="1" dirty="0">
                <a:solidFill>
                  <a:srgbClr val="212529"/>
                </a:solidFill>
                <a:effectLst/>
                <a:latin typeface="Nunito"/>
                <a:ea typeface="Times New Roman" panose="02020603050405020304" pitchFamily="18" charset="0"/>
                <a:cs typeface="Segoe UI" panose="020B0502040204020203" pitchFamily="34" charset="0"/>
              </a:rPr>
              <a:t>juiste passing</a:t>
            </a:r>
            <a:r>
              <a:rPr lang="nl-BE" sz="2800" dirty="0">
                <a:solidFill>
                  <a:srgbClr val="212529"/>
                </a:solidFill>
                <a:effectLst/>
                <a:latin typeface="Nunito"/>
                <a:ea typeface="Times New Roman" panose="02020603050405020304" pitchFamily="18" charset="0"/>
                <a:cs typeface="Segoe UI" panose="020B0502040204020203" pitchFamily="34" charset="0"/>
              </a:rPr>
              <a:t>. Met juist bedoelen we de richting alsook de snelheid van een bal. Laat hen inzien dat je eigen spelers in </a:t>
            </a:r>
            <a:r>
              <a:rPr lang="nl-BE" sz="2800" dirty="0" err="1">
                <a:solidFill>
                  <a:srgbClr val="212529"/>
                </a:solidFill>
                <a:effectLst/>
                <a:latin typeface="Nunito"/>
                <a:ea typeface="Times New Roman" panose="02020603050405020304" pitchFamily="18" charset="0"/>
                <a:cs typeface="Segoe UI" panose="020B0502040204020203" pitchFamily="34" charset="0"/>
              </a:rPr>
              <a:t>discrediet</a:t>
            </a:r>
            <a:r>
              <a:rPr lang="nl-BE" sz="2800" dirty="0">
                <a:solidFill>
                  <a:srgbClr val="212529"/>
                </a:solidFill>
                <a:effectLst/>
                <a:latin typeface="Nunito"/>
                <a:ea typeface="Times New Roman" panose="02020603050405020304" pitchFamily="18" charset="0"/>
                <a:cs typeface="Segoe UI" panose="020B0502040204020203" pitchFamily="34" charset="0"/>
              </a:rPr>
              <a:t> brengt wanneer de snelheid van de bal niet correct is. Hierdoor kan je medespeler de bal verliezen zonder dat hij er zelf iets aan kan doen.</a:t>
            </a:r>
            <a:endParaRPr lang="nl-BE" sz="2800" dirty="0">
              <a:effectLst/>
              <a:latin typeface="Calibri" panose="020F0502020204030204" pitchFamily="34" charset="0"/>
              <a:ea typeface="Calibri" panose="020F0502020204030204" pitchFamily="34" charset="0"/>
              <a:cs typeface="Times New Roman" panose="02020603050405020304" pitchFamily="18" charset="0"/>
            </a:endParaRPr>
          </a:p>
          <a:p>
            <a:pPr lvl="0">
              <a:spcBef>
                <a:spcPts val="500"/>
              </a:spcBef>
              <a:spcAft>
                <a:spcPts val="500"/>
              </a:spcAft>
            </a:pPr>
            <a:r>
              <a:rPr lang="nl-BE" sz="2800" dirty="0">
                <a:solidFill>
                  <a:srgbClr val="212529"/>
                </a:solidFill>
                <a:effectLst/>
                <a:latin typeface="Nunito"/>
                <a:ea typeface="Times New Roman" panose="02020603050405020304" pitchFamily="18" charset="0"/>
                <a:cs typeface="Segoe UI" panose="020B0502040204020203" pitchFamily="34" charset="0"/>
              </a:rPr>
              <a:t>4.  Spelsituatie</a:t>
            </a:r>
            <a:br>
              <a:rPr lang="nl-BE" sz="2800" dirty="0">
                <a:solidFill>
                  <a:srgbClr val="212529"/>
                </a:solidFill>
                <a:effectLst/>
                <a:latin typeface="Nunito"/>
                <a:ea typeface="Times New Roman" panose="02020603050405020304" pitchFamily="18" charset="0"/>
                <a:cs typeface="Segoe UI" panose="020B0502040204020203" pitchFamily="34" charset="0"/>
              </a:rPr>
            </a:br>
            <a:r>
              <a:rPr lang="nl-BE" sz="2800" dirty="0">
                <a:solidFill>
                  <a:srgbClr val="212529"/>
                </a:solidFill>
                <a:effectLst/>
                <a:latin typeface="Nunito"/>
                <a:ea typeface="Times New Roman" panose="02020603050405020304" pitchFamily="18" charset="0"/>
                <a:cs typeface="Segoe UI" panose="020B0502040204020203" pitchFamily="34" charset="0"/>
              </a:rPr>
              <a:t>Aanval is de beste verdediging. We kiezen voor veel </a:t>
            </a:r>
            <a:r>
              <a:rPr lang="nl-BE" sz="2800" b="1" dirty="0">
                <a:solidFill>
                  <a:srgbClr val="212529"/>
                </a:solidFill>
                <a:effectLst/>
                <a:latin typeface="Nunito"/>
                <a:ea typeface="Times New Roman" panose="02020603050405020304" pitchFamily="18" charset="0"/>
                <a:cs typeface="Segoe UI" panose="020B0502040204020203" pitchFamily="34" charset="0"/>
              </a:rPr>
              <a:t>offensieve principes</a:t>
            </a:r>
            <a:r>
              <a:rPr lang="nl-BE" sz="2800" dirty="0">
                <a:solidFill>
                  <a:srgbClr val="212529"/>
                </a:solidFill>
                <a:effectLst/>
                <a:latin typeface="Nunito"/>
                <a:ea typeface="Times New Roman" panose="02020603050405020304" pitchFamily="18" charset="0"/>
                <a:cs typeface="Segoe UI" panose="020B0502040204020203" pitchFamily="34" charset="0"/>
              </a:rPr>
              <a:t>. Leer waar ze moeten lopen. Verhoog de snelheid  van uitvoering voor het opzetten van een aanval.</a:t>
            </a:r>
            <a:endParaRPr lang="nl-BE"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702978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906859" y="303070"/>
            <a:ext cx="8363414" cy="5259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a:spcAft>
                <a:spcPts val="500"/>
              </a:spcAft>
            </a:pPr>
            <a:r>
              <a:rPr lang="nl-BE" sz="3200" b="1">
                <a:solidFill>
                  <a:schemeClr val="bg1"/>
                </a:solidFill>
                <a:effectLst/>
                <a:latin typeface="Roboto"/>
                <a:ea typeface="Times New Roman" panose="02020603050405020304" pitchFamily="18" charset="0"/>
                <a:cs typeface="Arial" panose="020B0604020202020204" pitchFamily="34" charset="0"/>
              </a:rPr>
              <a:t>U8 - U9 (initiatie) </a:t>
            </a:r>
            <a:endParaRPr lang="nl-BE"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Afbeelding 6">
            <a:extLst>
              <a:ext uri="{FF2B5EF4-FFF2-40B4-BE49-F238E27FC236}">
                <a16:creationId xmlns:a16="http://schemas.microsoft.com/office/drawing/2014/main" id="{113C96BF-E638-9940-9D82-1B996EBBB0B2}"/>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0" y="7384"/>
            <a:ext cx="936000" cy="1117360"/>
          </a:xfrm>
          <a:prstGeom prst="rect">
            <a:avLst/>
          </a:prstGeom>
          <a:noFill/>
        </p:spPr>
      </p:pic>
      <p:pic>
        <p:nvPicPr>
          <p:cNvPr id="8" name="Afbeelding 7">
            <a:extLst>
              <a:ext uri="{FF2B5EF4-FFF2-40B4-BE49-F238E27FC236}">
                <a16:creationId xmlns:a16="http://schemas.microsoft.com/office/drawing/2014/main" id="{05258A08-AC31-FB4E-BEE3-F58C13FD6F1D}"/>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240428" y="0"/>
            <a:ext cx="936000" cy="1117360"/>
          </a:xfrm>
          <a:prstGeom prst="rect">
            <a:avLst/>
          </a:prstGeom>
          <a:noFill/>
        </p:spPr>
      </p:pic>
      <p:sp>
        <p:nvSpPr>
          <p:cNvPr id="9" name="TextBox 3">
            <a:extLst>
              <a:ext uri="{FF2B5EF4-FFF2-40B4-BE49-F238E27FC236}">
                <a16:creationId xmlns:a16="http://schemas.microsoft.com/office/drawing/2014/main" id="{EE87EDE0-9998-CD47-868E-37D87A8479B0}"/>
              </a:ext>
            </a:extLst>
          </p:cNvPr>
          <p:cNvSpPr txBox="1"/>
          <p:nvPr/>
        </p:nvSpPr>
        <p:spPr>
          <a:xfrm>
            <a:off x="1906155" y="1117360"/>
            <a:ext cx="8363414" cy="5391219"/>
          </a:xfrm>
          <a:prstGeom prst="rect">
            <a:avLst/>
          </a:prstGeom>
          <a:noFill/>
          <a:ln>
            <a:noFill/>
          </a:ln>
        </p:spPr>
        <p:txBody>
          <a:bodyPr wrap="square" rtlCol="0">
            <a:spAutoFit/>
          </a:bodyPr>
          <a:lstStyle/>
          <a:p>
            <a:pPr marL="342900" lvl="0" indent="-342900">
              <a:spcBef>
                <a:spcPts val="500"/>
              </a:spcBef>
              <a:spcAft>
                <a:spcPts val="500"/>
              </a:spcAft>
              <a:buAutoNum type="arabicPeriod" startAt="5"/>
            </a:pPr>
            <a:r>
              <a:rPr lang="nl-BE" sz="2800" dirty="0">
                <a:solidFill>
                  <a:srgbClr val="212529"/>
                </a:solidFill>
                <a:effectLst/>
                <a:latin typeface="Nunito"/>
                <a:ea typeface="Times New Roman" panose="02020603050405020304" pitchFamily="18" charset="0"/>
                <a:cs typeface="Segoe UI" panose="020B0502040204020203" pitchFamily="34" charset="0"/>
              </a:rPr>
              <a:t>Wedstrijdvorm</a:t>
            </a:r>
            <a:br>
              <a:rPr lang="nl-BE" sz="2800" dirty="0">
                <a:solidFill>
                  <a:srgbClr val="212529"/>
                </a:solidFill>
                <a:effectLst/>
                <a:latin typeface="Nunito"/>
                <a:ea typeface="Times New Roman" panose="02020603050405020304" pitchFamily="18" charset="0"/>
                <a:cs typeface="Segoe UI" panose="020B0502040204020203" pitchFamily="34" charset="0"/>
              </a:rPr>
            </a:br>
            <a:r>
              <a:rPr lang="nl-BE" sz="2800" dirty="0">
                <a:solidFill>
                  <a:srgbClr val="212529"/>
                </a:solidFill>
                <a:effectLst/>
                <a:latin typeface="Nunito"/>
                <a:ea typeface="Times New Roman" panose="02020603050405020304" pitchFamily="18" charset="0"/>
                <a:cs typeface="Segoe UI" panose="020B0502040204020203" pitchFamily="34" charset="0"/>
              </a:rPr>
              <a:t>Combineer jullie positiespel samen met de spelsituatie in een wedstrijdvorm. Laat de spelers genieten van deze offensieve intenties. Laat ze vreugde ontwikkelen bij het </a:t>
            </a:r>
            <a:r>
              <a:rPr lang="nl-BE" sz="2800" b="1" dirty="0">
                <a:solidFill>
                  <a:srgbClr val="212529"/>
                </a:solidFill>
                <a:effectLst/>
                <a:latin typeface="Nunito"/>
                <a:ea typeface="Times New Roman" panose="02020603050405020304" pitchFamily="18" charset="0"/>
                <a:cs typeface="Segoe UI" panose="020B0502040204020203" pitchFamily="34" charset="0"/>
              </a:rPr>
              <a:t>scoren</a:t>
            </a:r>
            <a:r>
              <a:rPr lang="nl-BE" sz="2800" dirty="0">
                <a:solidFill>
                  <a:srgbClr val="212529"/>
                </a:solidFill>
                <a:effectLst/>
                <a:latin typeface="Nunito"/>
                <a:ea typeface="Times New Roman" panose="02020603050405020304" pitchFamily="18" charset="0"/>
                <a:cs typeface="Segoe UI" panose="020B0502040204020203" pitchFamily="34" charset="0"/>
              </a:rPr>
              <a:t> van een doelpunt. Dit is je kans om het ‘</a:t>
            </a:r>
            <a:r>
              <a:rPr lang="nl-BE" sz="2800" dirty="0" err="1">
                <a:solidFill>
                  <a:srgbClr val="212529"/>
                </a:solidFill>
                <a:effectLst/>
                <a:latin typeface="Nunito"/>
                <a:ea typeface="Times New Roman" panose="02020603050405020304" pitchFamily="18" charset="0"/>
                <a:cs typeface="Segoe UI" panose="020B0502040204020203" pitchFamily="34" charset="0"/>
              </a:rPr>
              <a:t>fun</a:t>
            </a:r>
            <a:r>
              <a:rPr lang="nl-BE" sz="2800" dirty="0">
                <a:solidFill>
                  <a:srgbClr val="212529"/>
                </a:solidFill>
                <a:effectLst/>
                <a:latin typeface="Nunito"/>
                <a:ea typeface="Times New Roman" panose="02020603050405020304" pitchFamily="18" charset="0"/>
                <a:cs typeface="Segoe UI" panose="020B0502040204020203" pitchFamily="34" charset="0"/>
              </a:rPr>
              <a:t>’ gehalte in je training serieus te verhogen.</a:t>
            </a:r>
            <a:endParaRPr lang="nl-BE" sz="2800" dirty="0">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spcBef>
                <a:spcPts val="500"/>
              </a:spcBef>
              <a:spcAft>
                <a:spcPts val="500"/>
              </a:spcAft>
              <a:buAutoNum type="arabicPeriod" startAt="5"/>
            </a:pPr>
            <a:r>
              <a:rPr lang="nl-BE" sz="2800" dirty="0">
                <a:solidFill>
                  <a:srgbClr val="212529"/>
                </a:solidFill>
                <a:effectLst/>
                <a:latin typeface="Nunito"/>
                <a:ea typeface="Times New Roman" panose="02020603050405020304" pitchFamily="18" charset="0"/>
                <a:cs typeface="Segoe UI" panose="020B0502040204020203" pitchFamily="34" charset="0"/>
              </a:rPr>
              <a:t>In de winterperiode mag je stilaan de “</a:t>
            </a:r>
            <a:r>
              <a:rPr lang="nl-BE" sz="2800" dirty="0" err="1">
                <a:solidFill>
                  <a:srgbClr val="212529"/>
                </a:solidFill>
                <a:effectLst/>
                <a:latin typeface="Nunito"/>
                <a:ea typeface="Times New Roman" panose="02020603050405020304" pitchFamily="18" charset="0"/>
                <a:cs typeface="Segoe UI" panose="020B0502040204020203" pitchFamily="34" charset="0"/>
              </a:rPr>
              <a:t>grinta</a:t>
            </a:r>
            <a:r>
              <a:rPr lang="nl-BE" sz="2800" dirty="0">
                <a:solidFill>
                  <a:srgbClr val="212529"/>
                </a:solidFill>
                <a:effectLst/>
                <a:latin typeface="Nunito"/>
                <a:ea typeface="Times New Roman" panose="02020603050405020304" pitchFamily="18" charset="0"/>
                <a:cs typeface="Segoe UI" panose="020B0502040204020203" pitchFamily="34" charset="0"/>
              </a:rPr>
              <a:t>” in jullie trainingen verhogen. </a:t>
            </a:r>
            <a:br>
              <a:rPr lang="nl-BE" sz="2800" dirty="0">
                <a:solidFill>
                  <a:srgbClr val="212529"/>
                </a:solidFill>
                <a:effectLst/>
                <a:latin typeface="Nunito"/>
                <a:ea typeface="Times New Roman" panose="02020603050405020304" pitchFamily="18" charset="0"/>
                <a:cs typeface="Segoe UI" panose="020B0502040204020203" pitchFamily="34" charset="0"/>
              </a:rPr>
            </a:br>
            <a:r>
              <a:rPr lang="nl-BE" sz="2800" dirty="0">
                <a:solidFill>
                  <a:srgbClr val="212529"/>
                </a:solidFill>
                <a:effectLst/>
                <a:latin typeface="Nunito"/>
                <a:ea typeface="Times New Roman" panose="02020603050405020304" pitchFamily="18" charset="0"/>
                <a:cs typeface="Segoe UI" panose="020B0502040204020203" pitchFamily="34" charset="0"/>
              </a:rPr>
              <a:t>Zorg ervoor dat je spelers trainen in lange broek en gepaste kledij tegen regen e.d..</a:t>
            </a:r>
            <a:br>
              <a:rPr lang="nl-BE" sz="2800" dirty="0">
                <a:solidFill>
                  <a:srgbClr val="212529"/>
                </a:solidFill>
                <a:effectLst/>
                <a:latin typeface="Nunito"/>
                <a:ea typeface="Times New Roman" panose="02020603050405020304" pitchFamily="18" charset="0"/>
                <a:cs typeface="Segoe UI" panose="020B0502040204020203" pitchFamily="34" charset="0"/>
              </a:rPr>
            </a:br>
            <a:r>
              <a:rPr lang="nl-BE" sz="2800" dirty="0">
                <a:solidFill>
                  <a:srgbClr val="212529"/>
                </a:solidFill>
                <a:effectLst/>
                <a:latin typeface="Nunito"/>
                <a:ea typeface="Times New Roman" panose="02020603050405020304" pitchFamily="18" charset="0"/>
                <a:cs typeface="Segoe UI" panose="020B0502040204020203" pitchFamily="34" charset="0"/>
              </a:rPr>
              <a:t>Zo voorkom je blessures nadat ze even stil staan. </a:t>
            </a:r>
            <a:endParaRPr lang="nl-BE" sz="28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031382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918009" y="303070"/>
            <a:ext cx="8352263" cy="5259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a:spcAft>
                <a:spcPts val="500"/>
              </a:spcAft>
            </a:pPr>
            <a:r>
              <a:rPr lang="nl-BE" sz="2800" b="1" dirty="0">
                <a:solidFill>
                  <a:schemeClr val="bg1"/>
                </a:solidFill>
                <a:effectLst/>
                <a:latin typeface="Roboto"/>
                <a:ea typeface="Times New Roman" panose="02020603050405020304" pitchFamily="18" charset="0"/>
                <a:cs typeface="Arial" panose="020B0604020202020204" pitchFamily="34" charset="0"/>
              </a:rPr>
              <a:t>U10 - U11 - U12 (pre-formatie)</a:t>
            </a:r>
            <a:endParaRPr lang="nl-BE" sz="2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Afbeelding 6">
            <a:extLst>
              <a:ext uri="{FF2B5EF4-FFF2-40B4-BE49-F238E27FC236}">
                <a16:creationId xmlns:a16="http://schemas.microsoft.com/office/drawing/2014/main" id="{A108DDA9-113C-F64E-9A0D-BD6753BD0B59}"/>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0" y="7384"/>
            <a:ext cx="936000" cy="1117360"/>
          </a:xfrm>
          <a:prstGeom prst="rect">
            <a:avLst/>
          </a:prstGeom>
          <a:noFill/>
        </p:spPr>
      </p:pic>
      <p:pic>
        <p:nvPicPr>
          <p:cNvPr id="8" name="Afbeelding 7">
            <a:extLst>
              <a:ext uri="{FF2B5EF4-FFF2-40B4-BE49-F238E27FC236}">
                <a16:creationId xmlns:a16="http://schemas.microsoft.com/office/drawing/2014/main" id="{DA6BF955-CC9B-F24B-95A4-899905646966}"/>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240428" y="0"/>
            <a:ext cx="936000" cy="1117360"/>
          </a:xfrm>
          <a:prstGeom prst="rect">
            <a:avLst/>
          </a:prstGeom>
          <a:noFill/>
        </p:spPr>
      </p:pic>
      <p:sp>
        <p:nvSpPr>
          <p:cNvPr id="9" name="TextBox 3">
            <a:extLst>
              <a:ext uri="{FF2B5EF4-FFF2-40B4-BE49-F238E27FC236}">
                <a16:creationId xmlns:a16="http://schemas.microsoft.com/office/drawing/2014/main" id="{34C67ED8-0635-D445-9B84-653F0781181D}"/>
              </a:ext>
            </a:extLst>
          </p:cNvPr>
          <p:cNvSpPr txBox="1"/>
          <p:nvPr/>
        </p:nvSpPr>
        <p:spPr>
          <a:xfrm>
            <a:off x="1918008" y="1124744"/>
            <a:ext cx="8352264" cy="5439951"/>
          </a:xfrm>
          <a:prstGeom prst="rect">
            <a:avLst/>
          </a:prstGeom>
          <a:noFill/>
          <a:ln>
            <a:noFill/>
          </a:ln>
        </p:spPr>
        <p:txBody>
          <a:bodyPr wrap="square" rtlCol="0">
            <a:spAutoFit/>
          </a:bodyPr>
          <a:lstStyle/>
          <a:p>
            <a:pPr marL="457200">
              <a:spcAft>
                <a:spcPts val="1800"/>
              </a:spcAft>
            </a:pPr>
            <a:r>
              <a:rPr lang="nl-BE" sz="2000" dirty="0">
                <a:solidFill>
                  <a:srgbClr val="000000"/>
                </a:solidFill>
                <a:effectLst/>
                <a:latin typeface="Nunito"/>
                <a:ea typeface="Times New Roman" panose="02020603050405020304" pitchFamily="18" charset="0"/>
                <a:cs typeface="Segoe UI" panose="020B0502040204020203" pitchFamily="34" charset="0"/>
              </a:rPr>
              <a:t>Kijk of je inspiratie voor je richtlijn uit de “initiatie” kan halen en vul verder aan met onderstaande elementen. Lees zeker werkpunt 6 i.v.m. de weersomstandigheden.</a:t>
            </a:r>
            <a:endParaRPr lang="nl-BE"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000" dirty="0">
                <a:solidFill>
                  <a:srgbClr val="000000"/>
                </a:solidFill>
                <a:effectLst/>
                <a:latin typeface="Nunito"/>
                <a:ea typeface="Times New Roman" panose="02020603050405020304" pitchFamily="18" charset="0"/>
                <a:cs typeface="Segoe UI" panose="020B0502040204020203" pitchFamily="34" charset="0"/>
              </a:rPr>
              <a:t>Activatie</a:t>
            </a:r>
            <a:br>
              <a:rPr lang="nl-BE" sz="2000" dirty="0">
                <a:solidFill>
                  <a:srgbClr val="000000"/>
                </a:solidFill>
                <a:effectLst/>
                <a:latin typeface="Nunito"/>
                <a:ea typeface="Times New Roman" panose="02020603050405020304" pitchFamily="18" charset="0"/>
                <a:cs typeface="Segoe UI" panose="020B0502040204020203" pitchFamily="34" charset="0"/>
              </a:rPr>
            </a:br>
            <a:r>
              <a:rPr lang="nl-BE" sz="2000" b="1" dirty="0">
                <a:solidFill>
                  <a:srgbClr val="000000"/>
                </a:solidFill>
                <a:effectLst/>
                <a:latin typeface="Nunito"/>
                <a:ea typeface="Times New Roman" panose="02020603050405020304" pitchFamily="18" charset="0"/>
                <a:cs typeface="Segoe UI" panose="020B0502040204020203" pitchFamily="34" charset="0"/>
              </a:rPr>
              <a:t>Coördinatieoefeningen</a:t>
            </a:r>
            <a:r>
              <a:rPr lang="nl-BE" sz="2000" dirty="0">
                <a:solidFill>
                  <a:srgbClr val="000000"/>
                </a:solidFill>
                <a:effectLst/>
                <a:latin typeface="Nunito"/>
                <a:ea typeface="Times New Roman" panose="02020603050405020304" pitchFamily="18" charset="0"/>
                <a:cs typeface="Segoe UI" panose="020B0502040204020203" pitchFamily="34" charset="0"/>
              </a:rPr>
              <a:t> zijn bijna net zo belangrijk als technische vaardigheden. Leer je spelers hun </a:t>
            </a:r>
            <a:r>
              <a:rPr lang="nl-BE" sz="2000" b="1" dirty="0">
                <a:solidFill>
                  <a:srgbClr val="000000"/>
                </a:solidFill>
                <a:effectLst/>
                <a:latin typeface="Nunito"/>
                <a:ea typeface="Times New Roman" panose="02020603050405020304" pitchFamily="18" charset="0"/>
                <a:cs typeface="Segoe UI" panose="020B0502040204020203" pitchFamily="34" charset="0"/>
              </a:rPr>
              <a:t>lichaam te beheersen. </a:t>
            </a:r>
            <a:r>
              <a:rPr lang="nl-BE" sz="2000" dirty="0">
                <a:solidFill>
                  <a:srgbClr val="000000"/>
                </a:solidFill>
                <a:effectLst/>
                <a:latin typeface="Nunito"/>
                <a:ea typeface="Times New Roman" panose="02020603050405020304" pitchFamily="18" charset="0"/>
                <a:cs typeface="Segoe UI" panose="020B0502040204020203" pitchFamily="34" charset="0"/>
              </a:rPr>
              <a:t>Leer hen hun lichaam te gebruiken om in de juiste positie te houden wanneer ze een balaanname doen. Hierdoor is hun volgende stap sneller uit te voeren. Vergeet ook niet dat er tal van spelers </a:t>
            </a:r>
            <a:r>
              <a:rPr lang="nl-BE" sz="2000" b="1" dirty="0">
                <a:solidFill>
                  <a:srgbClr val="000000"/>
                </a:solidFill>
                <a:effectLst/>
                <a:latin typeface="Nunito"/>
                <a:ea typeface="Times New Roman" panose="02020603050405020304" pitchFamily="18" charset="0"/>
                <a:cs typeface="Segoe UI" panose="020B0502040204020203" pitchFamily="34" charset="0"/>
              </a:rPr>
              <a:t>technisch</a:t>
            </a:r>
            <a:r>
              <a:rPr lang="nl-BE" sz="2000" dirty="0">
                <a:solidFill>
                  <a:srgbClr val="000000"/>
                </a:solidFill>
                <a:effectLst/>
                <a:latin typeface="Nunito"/>
                <a:ea typeface="Times New Roman" panose="02020603050405020304" pitchFamily="18" charset="0"/>
                <a:cs typeface="Segoe UI" panose="020B0502040204020203" pitchFamily="34" charset="0"/>
              </a:rPr>
              <a:t> niet goed </a:t>
            </a:r>
            <a:r>
              <a:rPr lang="nl-BE" sz="2000" b="1" dirty="0">
                <a:solidFill>
                  <a:srgbClr val="000000"/>
                </a:solidFill>
                <a:effectLst/>
                <a:latin typeface="Nunito"/>
                <a:ea typeface="Times New Roman" panose="02020603050405020304" pitchFamily="18" charset="0"/>
                <a:cs typeface="Segoe UI" panose="020B0502040204020203" pitchFamily="34" charset="0"/>
              </a:rPr>
              <a:t>lopen</a:t>
            </a:r>
            <a:r>
              <a:rPr lang="nl-BE" sz="2000" dirty="0">
                <a:solidFill>
                  <a:srgbClr val="000000"/>
                </a:solidFill>
                <a:effectLst/>
                <a:latin typeface="Nunito"/>
                <a:ea typeface="Times New Roman" panose="02020603050405020304" pitchFamily="18" charset="0"/>
                <a:cs typeface="Segoe UI" panose="020B0502040204020203" pitchFamily="34" charset="0"/>
              </a:rPr>
              <a:t>. Integreer dit in je opwarming.</a:t>
            </a:r>
            <a:endParaRPr lang="nl-BE"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000" dirty="0">
                <a:solidFill>
                  <a:srgbClr val="000000"/>
                </a:solidFill>
                <a:effectLst/>
                <a:latin typeface="Nunito"/>
                <a:ea typeface="Times New Roman" panose="02020603050405020304" pitchFamily="18" charset="0"/>
                <a:cs typeface="Segoe UI" panose="020B0502040204020203" pitchFamily="34" charset="0"/>
              </a:rPr>
              <a:t>Positiespel</a:t>
            </a:r>
            <a:br>
              <a:rPr lang="nl-BE" sz="2000" dirty="0">
                <a:solidFill>
                  <a:srgbClr val="000000"/>
                </a:solidFill>
                <a:effectLst/>
                <a:latin typeface="Nunito"/>
                <a:ea typeface="Times New Roman" panose="02020603050405020304" pitchFamily="18" charset="0"/>
                <a:cs typeface="Segoe UI" panose="020B0502040204020203" pitchFamily="34" charset="0"/>
              </a:rPr>
            </a:br>
            <a:r>
              <a:rPr lang="nl-BE" sz="2000" dirty="0">
                <a:solidFill>
                  <a:srgbClr val="000000"/>
                </a:solidFill>
                <a:effectLst/>
                <a:latin typeface="Nunito"/>
                <a:ea typeface="Times New Roman" panose="02020603050405020304" pitchFamily="18" charset="0"/>
                <a:cs typeface="Segoe UI" panose="020B0502040204020203" pitchFamily="34" charset="0"/>
              </a:rPr>
              <a:t>Jullie ploegen spelen al vrij goed in blokverband. Hierdoor kunnen zij reeds goed verdedigen. Leer hen </a:t>
            </a:r>
            <a:r>
              <a:rPr lang="nl-BE" sz="2000" b="1" dirty="0">
                <a:solidFill>
                  <a:srgbClr val="000000"/>
                </a:solidFill>
                <a:effectLst/>
                <a:latin typeface="Nunito"/>
                <a:ea typeface="Times New Roman" panose="02020603050405020304" pitchFamily="18" charset="0"/>
                <a:cs typeface="Segoe UI" panose="020B0502040204020203" pitchFamily="34" charset="0"/>
              </a:rPr>
              <a:t>opschuiven</a:t>
            </a:r>
            <a:r>
              <a:rPr lang="nl-BE" sz="2000" dirty="0">
                <a:solidFill>
                  <a:srgbClr val="000000"/>
                </a:solidFill>
                <a:effectLst/>
                <a:latin typeface="Nunito"/>
                <a:ea typeface="Times New Roman" panose="02020603050405020304" pitchFamily="18" charset="0"/>
                <a:cs typeface="Segoe UI" panose="020B0502040204020203" pitchFamily="34" charset="0"/>
              </a:rPr>
              <a:t> </a:t>
            </a:r>
            <a:r>
              <a:rPr lang="nl-BE" sz="2000" b="1" dirty="0">
                <a:solidFill>
                  <a:srgbClr val="000000"/>
                </a:solidFill>
                <a:effectLst/>
                <a:latin typeface="Nunito"/>
                <a:ea typeface="Times New Roman" panose="02020603050405020304" pitchFamily="18" charset="0"/>
                <a:cs typeface="Segoe UI" panose="020B0502040204020203" pitchFamily="34" charset="0"/>
              </a:rPr>
              <a:t>vanuit</a:t>
            </a:r>
            <a:r>
              <a:rPr lang="nl-BE" sz="2000" dirty="0">
                <a:solidFill>
                  <a:srgbClr val="000000"/>
                </a:solidFill>
                <a:effectLst/>
                <a:latin typeface="Nunito"/>
                <a:ea typeface="Times New Roman" panose="02020603050405020304" pitchFamily="18" charset="0"/>
                <a:cs typeface="Segoe UI" panose="020B0502040204020203" pitchFamily="34" charset="0"/>
              </a:rPr>
              <a:t> een </a:t>
            </a:r>
            <a:r>
              <a:rPr lang="nl-BE" sz="2000" b="1" dirty="0">
                <a:solidFill>
                  <a:srgbClr val="000000"/>
                </a:solidFill>
                <a:effectLst/>
                <a:latin typeface="Nunito"/>
                <a:ea typeface="Times New Roman" panose="02020603050405020304" pitchFamily="18" charset="0"/>
                <a:cs typeface="Segoe UI" panose="020B0502040204020203" pitchFamily="34" charset="0"/>
              </a:rPr>
              <a:t>verdedigend blok</a:t>
            </a:r>
            <a:r>
              <a:rPr lang="nl-BE" sz="2000" dirty="0">
                <a:solidFill>
                  <a:srgbClr val="000000"/>
                </a:solidFill>
                <a:effectLst/>
                <a:latin typeface="Nunito"/>
                <a:ea typeface="Times New Roman" panose="02020603050405020304" pitchFamily="18" charset="0"/>
                <a:cs typeface="Segoe UI" panose="020B0502040204020203" pitchFamily="34" charset="0"/>
              </a:rPr>
              <a:t> en waar zij moeten lopen, welke lijnen zij dienen te volgen. Vertel hen bij het veroveren van de bal hoe je te werk gaat. Een hele klus maar omdat dit aanvallend is zeer leuk voor jullie spelers.</a:t>
            </a:r>
            <a:endParaRPr lang="nl-BE"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233096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895707" y="1117360"/>
            <a:ext cx="8374566" cy="5273238"/>
          </a:xfrm>
          <a:prstGeom prst="rect">
            <a:avLst/>
          </a:prstGeom>
          <a:noFill/>
        </p:spPr>
        <p:txBody>
          <a:bodyPr wrap="square" rtlCol="0">
            <a:spAutoFit/>
          </a:bodyPr>
          <a:lstStyle/>
          <a:p>
            <a:pPr lvl="0">
              <a:spcBef>
                <a:spcPts val="500"/>
              </a:spcBef>
              <a:spcAft>
                <a:spcPts val="500"/>
              </a:spcAft>
            </a:pPr>
            <a:r>
              <a:rPr lang="nl-BE" sz="2000" dirty="0">
                <a:solidFill>
                  <a:srgbClr val="000000"/>
                </a:solidFill>
                <a:latin typeface="Nunito"/>
                <a:ea typeface="Times New Roman" panose="02020603050405020304" pitchFamily="18" charset="0"/>
                <a:cs typeface="Segoe UI" panose="020B0502040204020203" pitchFamily="34" charset="0"/>
              </a:rPr>
              <a:t>3.  </a:t>
            </a:r>
            <a:r>
              <a:rPr lang="nl-BE" sz="2000" dirty="0">
                <a:solidFill>
                  <a:srgbClr val="000000"/>
                </a:solidFill>
                <a:effectLst/>
                <a:latin typeface="Nunito"/>
                <a:ea typeface="Times New Roman" panose="02020603050405020304" pitchFamily="18" charset="0"/>
                <a:cs typeface="Segoe UI" panose="020B0502040204020203" pitchFamily="34" charset="0"/>
              </a:rPr>
              <a:t>Techniek</a:t>
            </a:r>
            <a:br>
              <a:rPr lang="nl-BE" sz="2000" dirty="0">
                <a:solidFill>
                  <a:srgbClr val="000000"/>
                </a:solidFill>
                <a:effectLst/>
                <a:latin typeface="Nunito"/>
                <a:ea typeface="Times New Roman" panose="02020603050405020304" pitchFamily="18" charset="0"/>
                <a:cs typeface="Segoe UI" panose="020B0502040204020203" pitchFamily="34" charset="0"/>
              </a:rPr>
            </a:br>
            <a:r>
              <a:rPr lang="nl-BE" sz="2000" dirty="0">
                <a:solidFill>
                  <a:srgbClr val="000000"/>
                </a:solidFill>
                <a:effectLst/>
                <a:latin typeface="Nunito"/>
                <a:ea typeface="Times New Roman" panose="02020603050405020304" pitchFamily="18" charset="0"/>
                <a:cs typeface="Segoe UI" panose="020B0502040204020203" pitchFamily="34" charset="0"/>
              </a:rPr>
              <a:t>Het spel kan snel gespeeld worden door de juiste uitvoering er van.</a:t>
            </a:r>
            <a:r>
              <a:rPr lang="nl-BE" sz="2000" b="1" dirty="0">
                <a:solidFill>
                  <a:srgbClr val="000000"/>
                </a:solidFill>
                <a:effectLst/>
                <a:latin typeface="Nunito"/>
                <a:ea typeface="Times New Roman" panose="02020603050405020304" pitchFamily="18" charset="0"/>
                <a:cs typeface="Segoe UI" panose="020B0502040204020203" pitchFamily="34" charset="0"/>
              </a:rPr>
              <a:t> </a:t>
            </a:r>
            <a:r>
              <a:rPr lang="nl-BE" sz="2000" dirty="0">
                <a:solidFill>
                  <a:srgbClr val="000000"/>
                </a:solidFill>
                <a:effectLst/>
                <a:latin typeface="Nunito"/>
                <a:ea typeface="Times New Roman" panose="02020603050405020304" pitchFamily="18" charset="0"/>
                <a:cs typeface="Segoe UI" panose="020B0502040204020203" pitchFamily="34" charset="0"/>
              </a:rPr>
              <a:t>Bij het uitvoeren van een </a:t>
            </a:r>
            <a:r>
              <a:rPr lang="nl-BE" sz="2000" b="1" dirty="0">
                <a:solidFill>
                  <a:srgbClr val="000000"/>
                </a:solidFill>
                <a:effectLst/>
                <a:latin typeface="Nunito"/>
                <a:ea typeface="Times New Roman" panose="02020603050405020304" pitchFamily="18" charset="0"/>
                <a:cs typeface="Segoe UI" panose="020B0502040204020203" pitchFamily="34" charset="0"/>
              </a:rPr>
              <a:t>kaats </a:t>
            </a:r>
            <a:r>
              <a:rPr lang="nl-BE" sz="2000" dirty="0">
                <a:solidFill>
                  <a:srgbClr val="000000"/>
                </a:solidFill>
                <a:effectLst/>
                <a:latin typeface="Nunito"/>
                <a:ea typeface="Times New Roman" panose="02020603050405020304" pitchFamily="18" charset="0"/>
                <a:cs typeface="Segoe UI" panose="020B0502040204020203" pitchFamily="34" charset="0"/>
              </a:rPr>
              <a:t>krijg je één tijds voetbal. Leer de spelers een juiste kaats (wat niet hetzelfde is als een één – twee) uitvoeren. Leer hen de volgende bewegingen uitvoeren zodat ze na de kaats ook aangespeeld kunnen worden. (</a:t>
            </a:r>
            <a:r>
              <a:rPr lang="nl-BE" sz="2000" b="1" dirty="0" err="1">
                <a:solidFill>
                  <a:srgbClr val="000000"/>
                </a:solidFill>
                <a:effectLst/>
                <a:latin typeface="Nunito"/>
                <a:ea typeface="Times New Roman" panose="02020603050405020304" pitchFamily="18" charset="0"/>
                <a:cs typeface="Segoe UI" panose="020B0502040204020203" pitchFamily="34" charset="0"/>
              </a:rPr>
              <a:t>come</a:t>
            </a:r>
            <a:r>
              <a:rPr lang="nl-BE" sz="2000" b="1" dirty="0">
                <a:solidFill>
                  <a:srgbClr val="000000"/>
                </a:solidFill>
                <a:effectLst/>
                <a:latin typeface="Nunito"/>
                <a:ea typeface="Times New Roman" panose="02020603050405020304" pitchFamily="18" charset="0"/>
                <a:cs typeface="Segoe UI" panose="020B0502040204020203" pitchFamily="34" charset="0"/>
              </a:rPr>
              <a:t> </a:t>
            </a:r>
            <a:r>
              <a:rPr lang="nl-BE" sz="2000" b="1" dirty="0" err="1">
                <a:solidFill>
                  <a:srgbClr val="000000"/>
                </a:solidFill>
                <a:effectLst/>
                <a:latin typeface="Nunito"/>
                <a:ea typeface="Times New Roman" panose="02020603050405020304" pitchFamily="18" charset="0"/>
                <a:cs typeface="Segoe UI" panose="020B0502040204020203" pitchFamily="34" charset="0"/>
              </a:rPr>
              <a:t>and</a:t>
            </a:r>
            <a:r>
              <a:rPr lang="nl-BE" sz="2000" b="1" dirty="0">
                <a:solidFill>
                  <a:srgbClr val="000000"/>
                </a:solidFill>
                <a:effectLst/>
                <a:latin typeface="Nunito"/>
                <a:ea typeface="Times New Roman" panose="02020603050405020304" pitchFamily="18" charset="0"/>
                <a:cs typeface="Segoe UI" panose="020B0502040204020203" pitchFamily="34" charset="0"/>
              </a:rPr>
              <a:t> go</a:t>
            </a:r>
            <a:r>
              <a:rPr lang="nl-BE" sz="2000" dirty="0">
                <a:solidFill>
                  <a:srgbClr val="000000"/>
                </a:solidFill>
                <a:effectLst/>
                <a:latin typeface="Nunito"/>
                <a:ea typeface="Times New Roman" panose="02020603050405020304" pitchFamily="18" charset="0"/>
                <a:cs typeface="Segoe UI" panose="020B0502040204020203" pitchFamily="34" charset="0"/>
              </a:rPr>
              <a:t>)</a:t>
            </a:r>
            <a:endParaRPr lang="nl-BE" sz="2000" dirty="0">
              <a:effectLst/>
              <a:latin typeface="Calibri" panose="020F0502020204030204" pitchFamily="34" charset="0"/>
              <a:ea typeface="Calibri" panose="020F0502020204030204" pitchFamily="34" charset="0"/>
              <a:cs typeface="Times New Roman" panose="02020603050405020304" pitchFamily="18" charset="0"/>
            </a:endParaRPr>
          </a:p>
          <a:p>
            <a:pPr lvl="0">
              <a:spcBef>
                <a:spcPts val="500"/>
              </a:spcBef>
              <a:spcAft>
                <a:spcPts val="500"/>
              </a:spcAft>
            </a:pPr>
            <a:r>
              <a:rPr lang="nl-BE" sz="2000" dirty="0">
                <a:solidFill>
                  <a:srgbClr val="000000"/>
                </a:solidFill>
                <a:latin typeface="Nunito"/>
                <a:ea typeface="Times New Roman" panose="02020603050405020304" pitchFamily="18" charset="0"/>
                <a:cs typeface="Segoe UI" panose="020B0502040204020203" pitchFamily="34" charset="0"/>
              </a:rPr>
              <a:t>4.  </a:t>
            </a:r>
            <a:r>
              <a:rPr lang="nl-BE" sz="2000" dirty="0">
                <a:solidFill>
                  <a:srgbClr val="000000"/>
                </a:solidFill>
                <a:effectLst/>
                <a:latin typeface="Nunito"/>
                <a:ea typeface="Times New Roman" panose="02020603050405020304" pitchFamily="18" charset="0"/>
                <a:cs typeface="Segoe UI" panose="020B0502040204020203" pitchFamily="34" charset="0"/>
              </a:rPr>
              <a:t>Spelsituatie</a:t>
            </a:r>
            <a:br>
              <a:rPr lang="nl-BE" sz="2000" dirty="0">
                <a:solidFill>
                  <a:srgbClr val="000000"/>
                </a:solidFill>
                <a:effectLst/>
                <a:latin typeface="Nunito"/>
                <a:ea typeface="Times New Roman" panose="02020603050405020304" pitchFamily="18" charset="0"/>
                <a:cs typeface="Segoe UI" panose="020B0502040204020203" pitchFamily="34" charset="0"/>
              </a:rPr>
            </a:br>
            <a:r>
              <a:rPr lang="nl-BE" sz="2000" dirty="0">
                <a:solidFill>
                  <a:srgbClr val="000000"/>
                </a:solidFill>
                <a:effectLst/>
                <a:latin typeface="Nunito"/>
                <a:ea typeface="Times New Roman" panose="02020603050405020304" pitchFamily="18" charset="0"/>
                <a:cs typeface="Segoe UI" panose="020B0502040204020203" pitchFamily="34" charset="0"/>
              </a:rPr>
              <a:t>Steeds leuk voor spelers, scoren. Maar waar moet wie nu gaan staan. Niet alleen op stilstaande fases is dit belangrijk, maar ook tijdens de wedstrijd. Een </a:t>
            </a:r>
            <a:r>
              <a:rPr lang="nl-BE" sz="2000" b="1" dirty="0">
                <a:solidFill>
                  <a:srgbClr val="000000"/>
                </a:solidFill>
                <a:effectLst/>
                <a:latin typeface="Nunito"/>
                <a:ea typeface="Times New Roman" panose="02020603050405020304" pitchFamily="18" charset="0"/>
                <a:cs typeface="Segoe UI" panose="020B0502040204020203" pitchFamily="34" charset="0"/>
              </a:rPr>
              <a:t>efficiënte veldbezetting voor doel </a:t>
            </a:r>
            <a:r>
              <a:rPr lang="nl-BE" sz="2000" dirty="0">
                <a:solidFill>
                  <a:srgbClr val="000000"/>
                </a:solidFill>
                <a:effectLst/>
                <a:latin typeface="Nunito"/>
                <a:ea typeface="Times New Roman" panose="02020603050405020304" pitchFamily="18" charset="0"/>
                <a:cs typeface="Segoe UI" panose="020B0502040204020203" pitchFamily="34" charset="0"/>
              </a:rPr>
              <a:t>kan doelpunten opleveren. Geef hen mee hoe, waar en wanneer ze deze positie moeten gaan innemen.</a:t>
            </a:r>
            <a:endParaRPr lang="nl-BE" sz="2000" dirty="0">
              <a:effectLst/>
              <a:latin typeface="Calibri" panose="020F0502020204030204" pitchFamily="34" charset="0"/>
              <a:ea typeface="Calibri" panose="020F0502020204030204" pitchFamily="34" charset="0"/>
              <a:cs typeface="Times New Roman" panose="02020603050405020304" pitchFamily="18" charset="0"/>
            </a:endParaRPr>
          </a:p>
          <a:p>
            <a:pPr lvl="0">
              <a:spcBef>
                <a:spcPts val="500"/>
              </a:spcBef>
              <a:spcAft>
                <a:spcPts val="500"/>
              </a:spcAft>
            </a:pPr>
            <a:r>
              <a:rPr lang="nl-BE" sz="2000" dirty="0">
                <a:solidFill>
                  <a:srgbClr val="000000"/>
                </a:solidFill>
                <a:latin typeface="Nunito"/>
                <a:ea typeface="Times New Roman" panose="02020603050405020304" pitchFamily="18" charset="0"/>
                <a:cs typeface="Segoe UI" panose="020B0502040204020203" pitchFamily="34" charset="0"/>
              </a:rPr>
              <a:t>5.   </a:t>
            </a:r>
            <a:r>
              <a:rPr lang="nl-BE" sz="2000" dirty="0">
                <a:solidFill>
                  <a:srgbClr val="000000"/>
                </a:solidFill>
                <a:effectLst/>
                <a:latin typeface="Nunito"/>
                <a:ea typeface="Times New Roman" panose="02020603050405020304" pitchFamily="18" charset="0"/>
                <a:cs typeface="Segoe UI" panose="020B0502040204020203" pitchFamily="34" charset="0"/>
              </a:rPr>
              <a:t> Wedstrijdvorm</a:t>
            </a:r>
            <a:br>
              <a:rPr lang="nl-BE" sz="2000" dirty="0">
                <a:solidFill>
                  <a:srgbClr val="000000"/>
                </a:solidFill>
                <a:effectLst/>
                <a:latin typeface="Nunito"/>
                <a:ea typeface="Times New Roman" panose="02020603050405020304" pitchFamily="18" charset="0"/>
                <a:cs typeface="Segoe UI" panose="020B0502040204020203" pitchFamily="34" charset="0"/>
              </a:rPr>
            </a:br>
            <a:r>
              <a:rPr lang="nl-BE" sz="2000" dirty="0">
                <a:solidFill>
                  <a:srgbClr val="000000"/>
                </a:solidFill>
                <a:effectLst/>
                <a:latin typeface="Nunito"/>
                <a:ea typeface="Times New Roman" panose="02020603050405020304" pitchFamily="18" charset="0"/>
                <a:cs typeface="Segoe UI" panose="020B0502040204020203" pitchFamily="34" charset="0"/>
              </a:rPr>
              <a:t>Scoren, daar draait het vaak om. Maar zonder op doel te trappen, lukt dit niet. Leer de spelers </a:t>
            </a:r>
            <a:r>
              <a:rPr lang="nl-BE" sz="2000" b="1" dirty="0">
                <a:solidFill>
                  <a:srgbClr val="000000"/>
                </a:solidFill>
                <a:effectLst/>
                <a:latin typeface="Nunito"/>
                <a:ea typeface="Times New Roman" panose="02020603050405020304" pitchFamily="18" charset="0"/>
                <a:cs typeface="Segoe UI" panose="020B0502040204020203" pitchFamily="34" charset="0"/>
              </a:rPr>
              <a:t>snel afwerken op doel,</a:t>
            </a:r>
            <a:r>
              <a:rPr lang="nl-BE" sz="2000" dirty="0">
                <a:solidFill>
                  <a:srgbClr val="000000"/>
                </a:solidFill>
                <a:effectLst/>
                <a:latin typeface="Nunito"/>
                <a:ea typeface="Times New Roman" panose="02020603050405020304" pitchFamily="18" charset="0"/>
                <a:cs typeface="Segoe UI" panose="020B0502040204020203" pitchFamily="34" charset="0"/>
              </a:rPr>
              <a:t> maar leer hen ook dat dit zeker niet van te ver dient te gebeuren. Ik merk vaak dat er spelers bij zijn die graag met de bal in het doel willen lopen. Raadt dit aan hen af, efficiëntie is belangrijk.</a:t>
            </a:r>
            <a:endParaRPr lang="nl-BE"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p:cNvSpPr/>
          <p:nvPr/>
        </p:nvSpPr>
        <p:spPr>
          <a:xfrm>
            <a:off x="1895707" y="295686"/>
            <a:ext cx="8374566" cy="5259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a:spcAft>
                <a:spcPts val="500"/>
              </a:spcAft>
            </a:pPr>
            <a:r>
              <a:rPr lang="nl-BE" sz="3200" b="1">
                <a:solidFill>
                  <a:schemeClr val="bg1"/>
                </a:solidFill>
                <a:effectLst/>
                <a:latin typeface="Roboto"/>
                <a:ea typeface="Times New Roman" panose="02020603050405020304" pitchFamily="18" charset="0"/>
                <a:cs typeface="Arial" panose="020B0604020202020204" pitchFamily="34" charset="0"/>
              </a:rPr>
              <a:t>U10 - U11 - U12 (pre-formatie)</a:t>
            </a:r>
            <a:endParaRPr lang="nl-BE"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Afbeelding 5">
            <a:extLst>
              <a:ext uri="{FF2B5EF4-FFF2-40B4-BE49-F238E27FC236}">
                <a16:creationId xmlns:a16="http://schemas.microsoft.com/office/drawing/2014/main" id="{AAE95AC7-34EB-B541-A961-CDC9D7CBF5F1}"/>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00362" y="0"/>
            <a:ext cx="936000" cy="1117360"/>
          </a:xfrm>
          <a:prstGeom prst="rect">
            <a:avLst/>
          </a:prstGeom>
          <a:noFill/>
        </p:spPr>
      </p:pic>
      <p:pic>
        <p:nvPicPr>
          <p:cNvPr id="8" name="Afbeelding 7">
            <a:extLst>
              <a:ext uri="{FF2B5EF4-FFF2-40B4-BE49-F238E27FC236}">
                <a16:creationId xmlns:a16="http://schemas.microsoft.com/office/drawing/2014/main" id="{0ACA9272-502F-984B-829A-3A2A8EE3C9FE}"/>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221845" y="38186"/>
            <a:ext cx="936000" cy="1117360"/>
          </a:xfrm>
          <a:prstGeom prst="rect">
            <a:avLst/>
          </a:prstGeom>
          <a:noFill/>
        </p:spPr>
      </p:pic>
    </p:spTree>
    <p:extLst>
      <p:ext uri="{BB962C8B-B14F-4D97-AF65-F5344CB8AC3E}">
        <p14:creationId xmlns:p14="http://schemas.microsoft.com/office/powerpoint/2010/main" val="39525926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06859" y="1128226"/>
            <a:ext cx="8363414" cy="5686172"/>
          </a:xfrm>
          <a:prstGeom prst="rect">
            <a:avLst/>
          </a:prstGeom>
          <a:noFill/>
          <a:ln>
            <a:noFill/>
          </a:ln>
        </p:spPr>
        <p:txBody>
          <a:bodyPr wrap="square" rtlCol="0">
            <a:spAutoFit/>
          </a:bodyPr>
          <a:lstStyle/>
          <a:p>
            <a:pPr marL="457200">
              <a:spcAft>
                <a:spcPts val="1800"/>
              </a:spcAft>
            </a:pPr>
            <a:r>
              <a:rPr lang="nl-BE" sz="2400" dirty="0">
                <a:solidFill>
                  <a:srgbClr val="212529"/>
                </a:solidFill>
                <a:effectLst/>
                <a:latin typeface="Nunito"/>
                <a:ea typeface="Times New Roman" panose="02020603050405020304" pitchFamily="18" charset="0"/>
                <a:cs typeface="Segoe UI" panose="020B0502040204020203" pitchFamily="34" charset="0"/>
              </a:rPr>
              <a:t>Neem eerst de werkpunten voor de vorige formaties door en vul nog verder aan met onderstaande elementen.</a:t>
            </a:r>
            <a:endParaRPr lang="nl-BE"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400" dirty="0">
                <a:solidFill>
                  <a:srgbClr val="212529"/>
                </a:solidFill>
                <a:effectLst/>
                <a:latin typeface="Nunito"/>
                <a:ea typeface="Times New Roman" panose="02020603050405020304" pitchFamily="18" charset="0"/>
                <a:cs typeface="Segoe UI" panose="020B0502040204020203" pitchFamily="34" charset="0"/>
              </a:rPr>
              <a:t>Positiespel</a:t>
            </a:r>
            <a:br>
              <a:rPr lang="nl-BE" sz="2400" dirty="0">
                <a:solidFill>
                  <a:srgbClr val="212529"/>
                </a:solidFill>
                <a:effectLst/>
                <a:latin typeface="Nunito"/>
                <a:ea typeface="Times New Roman" panose="02020603050405020304" pitchFamily="18" charset="0"/>
                <a:cs typeface="Segoe UI" panose="020B0502040204020203" pitchFamily="34" charset="0"/>
              </a:rPr>
            </a:br>
            <a:r>
              <a:rPr lang="nl-BE" sz="2400" dirty="0">
                <a:solidFill>
                  <a:srgbClr val="212529"/>
                </a:solidFill>
                <a:effectLst/>
                <a:latin typeface="Nunito"/>
                <a:ea typeface="Times New Roman" panose="02020603050405020304" pitchFamily="18" charset="0"/>
                <a:cs typeface="Segoe UI" panose="020B0502040204020203" pitchFamily="34" charset="0"/>
              </a:rPr>
              <a:t>Wanneer spelers enkel op hun positie blijven, is dit eenvoudig te verdedigen. Zet spelers niet op hun positie maar </a:t>
            </a:r>
            <a:r>
              <a:rPr lang="nl-BE" sz="2400" b="1" dirty="0">
                <a:solidFill>
                  <a:srgbClr val="212529"/>
                </a:solidFill>
                <a:effectLst/>
                <a:latin typeface="Nunito"/>
                <a:ea typeface="Times New Roman" panose="02020603050405020304" pitchFamily="18" charset="0"/>
                <a:cs typeface="Segoe UI" panose="020B0502040204020203" pitchFamily="34" charset="0"/>
              </a:rPr>
              <a:t>laat ze in hun positie komen</a:t>
            </a:r>
            <a:r>
              <a:rPr lang="nl-BE" sz="2400" dirty="0">
                <a:solidFill>
                  <a:srgbClr val="212529"/>
                </a:solidFill>
                <a:effectLst/>
                <a:latin typeface="Nunito"/>
                <a:ea typeface="Times New Roman" panose="02020603050405020304" pitchFamily="18" charset="0"/>
                <a:cs typeface="Segoe UI" panose="020B0502040204020203" pitchFamily="34" charset="0"/>
              </a:rPr>
              <a:t>. Leer ze aan hoe en wanneer ze naar de bal moeten gaan, hoe deze te vragen door een </a:t>
            </a:r>
            <a:r>
              <a:rPr lang="nl-BE" sz="2400" b="1" dirty="0">
                <a:solidFill>
                  <a:srgbClr val="212529"/>
                </a:solidFill>
                <a:effectLst/>
                <a:latin typeface="Nunito"/>
                <a:ea typeface="Times New Roman" panose="02020603050405020304" pitchFamily="18" charset="0"/>
                <a:cs typeface="Segoe UI" panose="020B0502040204020203" pitchFamily="34" charset="0"/>
              </a:rPr>
              <a:t>looplijn</a:t>
            </a:r>
            <a:r>
              <a:rPr lang="nl-BE" sz="2400" dirty="0">
                <a:solidFill>
                  <a:srgbClr val="212529"/>
                </a:solidFill>
                <a:effectLst/>
                <a:latin typeface="Nunito"/>
                <a:ea typeface="Times New Roman" panose="02020603050405020304" pitchFamily="18" charset="0"/>
                <a:cs typeface="Segoe UI" panose="020B0502040204020203" pitchFamily="34" charset="0"/>
              </a:rPr>
              <a:t> te maken.</a:t>
            </a:r>
            <a:endParaRPr lang="nl-BE"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400" dirty="0">
                <a:solidFill>
                  <a:srgbClr val="212529"/>
                </a:solidFill>
                <a:effectLst/>
                <a:latin typeface="Nunito"/>
                <a:ea typeface="Times New Roman" panose="02020603050405020304" pitchFamily="18" charset="0"/>
                <a:cs typeface="Segoe UI" panose="020B0502040204020203" pitchFamily="34" charset="0"/>
              </a:rPr>
              <a:t>Techniek</a:t>
            </a:r>
            <a:br>
              <a:rPr lang="nl-BE" sz="2400" dirty="0">
                <a:solidFill>
                  <a:srgbClr val="212529"/>
                </a:solidFill>
                <a:effectLst/>
                <a:latin typeface="Nunito"/>
                <a:ea typeface="Times New Roman" panose="02020603050405020304" pitchFamily="18" charset="0"/>
                <a:cs typeface="Segoe UI" panose="020B0502040204020203" pitchFamily="34" charset="0"/>
              </a:rPr>
            </a:br>
            <a:r>
              <a:rPr lang="nl-BE" sz="2400" dirty="0" err="1">
                <a:solidFill>
                  <a:srgbClr val="212529"/>
                </a:solidFill>
                <a:effectLst/>
                <a:latin typeface="Nunito"/>
                <a:ea typeface="Times New Roman" panose="02020603050405020304" pitchFamily="18" charset="0"/>
                <a:cs typeface="Segoe UI" panose="020B0502040204020203" pitchFamily="34" charset="0"/>
              </a:rPr>
              <a:t>Techniek</a:t>
            </a:r>
            <a:r>
              <a:rPr lang="nl-BE" sz="2400" dirty="0">
                <a:solidFill>
                  <a:srgbClr val="212529"/>
                </a:solidFill>
                <a:effectLst/>
                <a:latin typeface="Nunito"/>
                <a:ea typeface="Times New Roman" panose="02020603050405020304" pitchFamily="18" charset="0"/>
                <a:cs typeface="Segoe UI" panose="020B0502040204020203" pitchFamily="34" charset="0"/>
              </a:rPr>
              <a:t> is zo uitgebreid, dat dit niet stopt bij een man uit te schakelen. Ook een inworp kan tot balverlies leiden. Leer daarom minimum </a:t>
            </a:r>
            <a:r>
              <a:rPr lang="nl-BE" sz="2400" b="1" dirty="0">
                <a:solidFill>
                  <a:srgbClr val="212529"/>
                </a:solidFill>
                <a:effectLst/>
                <a:latin typeface="Nunito"/>
                <a:ea typeface="Times New Roman" panose="02020603050405020304" pitchFamily="18" charset="0"/>
                <a:cs typeface="Segoe UI" panose="020B0502040204020203" pitchFamily="34" charset="0"/>
              </a:rPr>
              <a:t>3 verschillende inworpen</a:t>
            </a:r>
            <a:r>
              <a:rPr lang="nl-BE" sz="2400" dirty="0">
                <a:solidFill>
                  <a:srgbClr val="212529"/>
                </a:solidFill>
                <a:effectLst/>
                <a:latin typeface="Nunito"/>
                <a:ea typeface="Times New Roman" panose="02020603050405020304" pitchFamily="18" charset="0"/>
                <a:cs typeface="Segoe UI" panose="020B0502040204020203" pitchFamily="34" charset="0"/>
              </a:rPr>
              <a:t> aan die op de juiste voet van de medespeler wordt gegooid. Laat hen ook inzien dat dit enorm belangrijk is voor de verdere opbouw van het spel.</a:t>
            </a:r>
            <a:endParaRPr lang="nl-BE"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p:cNvSpPr/>
          <p:nvPr/>
        </p:nvSpPr>
        <p:spPr>
          <a:xfrm>
            <a:off x="1906859" y="303070"/>
            <a:ext cx="8363414" cy="5259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a:spcAft>
                <a:spcPts val="500"/>
              </a:spcAft>
            </a:pPr>
            <a:r>
              <a:rPr lang="nl-BE" sz="3200" b="1" dirty="0">
                <a:solidFill>
                  <a:schemeClr val="bg1"/>
                </a:solidFill>
                <a:effectLst/>
                <a:latin typeface="Roboto"/>
                <a:ea typeface="Times New Roman" panose="02020603050405020304" pitchFamily="18" charset="0"/>
                <a:cs typeface="Arial" panose="020B0604020202020204" pitchFamily="34" charset="0"/>
              </a:rPr>
              <a:t>U13 - U15 (formatie)</a:t>
            </a:r>
            <a:endParaRPr lang="nl-BE"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Afbeelding 6">
            <a:extLst>
              <a:ext uri="{FF2B5EF4-FFF2-40B4-BE49-F238E27FC236}">
                <a16:creationId xmlns:a16="http://schemas.microsoft.com/office/drawing/2014/main" id="{113C96BF-E638-9940-9D82-1B996EBBB0B2}"/>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0" y="7384"/>
            <a:ext cx="936000" cy="1117360"/>
          </a:xfrm>
          <a:prstGeom prst="rect">
            <a:avLst/>
          </a:prstGeom>
          <a:noFill/>
        </p:spPr>
      </p:pic>
      <p:pic>
        <p:nvPicPr>
          <p:cNvPr id="8" name="Afbeelding 7">
            <a:extLst>
              <a:ext uri="{FF2B5EF4-FFF2-40B4-BE49-F238E27FC236}">
                <a16:creationId xmlns:a16="http://schemas.microsoft.com/office/drawing/2014/main" id="{05258A08-AC31-FB4E-BEE3-F58C13FD6F1D}"/>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240428" y="0"/>
            <a:ext cx="936000" cy="1117360"/>
          </a:xfrm>
          <a:prstGeom prst="rect">
            <a:avLst/>
          </a:prstGeom>
          <a:noFill/>
        </p:spPr>
      </p:pic>
    </p:spTree>
    <p:extLst>
      <p:ext uri="{BB962C8B-B14F-4D97-AF65-F5344CB8AC3E}">
        <p14:creationId xmlns:p14="http://schemas.microsoft.com/office/powerpoint/2010/main" val="6741226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18008" y="1124744"/>
            <a:ext cx="8352264" cy="5519460"/>
          </a:xfrm>
          <a:prstGeom prst="rect">
            <a:avLst/>
          </a:prstGeom>
          <a:noFill/>
          <a:ln>
            <a:noFill/>
          </a:ln>
        </p:spPr>
        <p:txBody>
          <a:bodyPr wrap="square" rtlCol="0">
            <a:spAutoFit/>
          </a:bodyPr>
          <a:lstStyle/>
          <a:p>
            <a:pPr lvl="0">
              <a:spcBef>
                <a:spcPts val="500"/>
              </a:spcBef>
              <a:spcAft>
                <a:spcPts val="500"/>
              </a:spcAft>
            </a:pPr>
            <a:r>
              <a:rPr lang="nl-BE" sz="2800" dirty="0">
                <a:solidFill>
                  <a:srgbClr val="212529"/>
                </a:solidFill>
                <a:latin typeface="Nunito"/>
                <a:ea typeface="Times New Roman" panose="02020603050405020304" pitchFamily="18" charset="0"/>
                <a:cs typeface="Segoe UI" panose="020B0502040204020203" pitchFamily="34" charset="0"/>
              </a:rPr>
              <a:t>3. </a:t>
            </a:r>
            <a:r>
              <a:rPr lang="nl-BE" sz="2800" dirty="0">
                <a:solidFill>
                  <a:srgbClr val="212529"/>
                </a:solidFill>
                <a:effectLst/>
                <a:latin typeface="Nunito"/>
                <a:ea typeface="Times New Roman" panose="02020603050405020304" pitchFamily="18" charset="0"/>
                <a:cs typeface="Segoe UI" panose="020B0502040204020203" pitchFamily="34" charset="0"/>
              </a:rPr>
              <a:t>Spelsituatie</a:t>
            </a:r>
          </a:p>
          <a:p>
            <a:pPr lvl="0">
              <a:spcBef>
                <a:spcPts val="500"/>
              </a:spcBef>
              <a:spcAft>
                <a:spcPts val="500"/>
              </a:spcAft>
            </a:pPr>
            <a:br>
              <a:rPr lang="nl-BE" sz="2800" dirty="0">
                <a:solidFill>
                  <a:srgbClr val="212529"/>
                </a:solidFill>
                <a:effectLst/>
                <a:latin typeface="Nunito"/>
                <a:ea typeface="Times New Roman" panose="02020603050405020304" pitchFamily="18" charset="0"/>
                <a:cs typeface="Segoe UI" panose="020B0502040204020203" pitchFamily="34" charset="0"/>
              </a:rPr>
            </a:br>
            <a:r>
              <a:rPr lang="nl-BE" sz="2800" dirty="0">
                <a:solidFill>
                  <a:srgbClr val="212529"/>
                </a:solidFill>
                <a:effectLst/>
                <a:latin typeface="Nunito"/>
                <a:ea typeface="Times New Roman" panose="02020603050405020304" pitchFamily="18" charset="0"/>
                <a:cs typeface="Segoe UI" panose="020B0502040204020203" pitchFamily="34" charset="0"/>
              </a:rPr>
              <a:t>Stilaan gaan we bij de U13 denken aan een groter veld. Hierdoor komt er meer, en krijgt men meer, ruimte. Leer hen nu al het </a:t>
            </a:r>
            <a:r>
              <a:rPr lang="nl-BE" sz="2800" b="1" dirty="0">
                <a:solidFill>
                  <a:srgbClr val="212529"/>
                </a:solidFill>
                <a:effectLst/>
                <a:latin typeface="Nunito"/>
                <a:ea typeface="Times New Roman" panose="02020603050405020304" pitchFamily="18" charset="0"/>
                <a:cs typeface="Segoe UI" panose="020B0502040204020203" pitchFamily="34" charset="0"/>
              </a:rPr>
              <a:t>driehoekspel en kantelen</a:t>
            </a:r>
            <a:r>
              <a:rPr lang="nl-BE" sz="2800" dirty="0">
                <a:solidFill>
                  <a:srgbClr val="212529"/>
                </a:solidFill>
                <a:effectLst/>
                <a:latin typeface="Nunito"/>
                <a:ea typeface="Times New Roman" panose="02020603050405020304" pitchFamily="18" charset="0"/>
                <a:cs typeface="Segoe UI" panose="020B0502040204020203" pitchFamily="34" charset="0"/>
              </a:rPr>
              <a:t> aan. Driehoekspel bevordert de mogelijkheid om meerdere personen aan te spelen. Het kantelen is de volgende stap, zodat het veld meerdere opties heeft om dit driehoekspel uit te voeren.</a:t>
            </a:r>
            <a:endParaRPr lang="nl-BE" sz="2800" dirty="0">
              <a:latin typeface="Calibri" panose="020F0502020204030204" pitchFamily="34" charset="0"/>
              <a:ea typeface="Times New Roman" panose="02020603050405020304" pitchFamily="18" charset="0"/>
              <a:cs typeface="Times New Roman" panose="02020603050405020304" pitchFamily="18" charset="0"/>
            </a:endParaRPr>
          </a:p>
          <a:p>
            <a:pPr lvl="0">
              <a:spcBef>
                <a:spcPts val="500"/>
              </a:spcBef>
              <a:spcAft>
                <a:spcPts val="500"/>
              </a:spcAft>
            </a:pPr>
            <a:r>
              <a:rPr lang="nl-BE" sz="2800" dirty="0">
                <a:solidFill>
                  <a:srgbClr val="212529"/>
                </a:solidFill>
                <a:latin typeface="Calibri" panose="020F0502020204030204" pitchFamily="34" charset="0"/>
                <a:ea typeface="Times New Roman" panose="02020603050405020304" pitchFamily="18" charset="0"/>
                <a:cs typeface="Times New Roman" panose="02020603050405020304" pitchFamily="18" charset="0"/>
              </a:rPr>
              <a:t>4. </a:t>
            </a:r>
            <a:r>
              <a:rPr lang="nl-BE" sz="2800" dirty="0">
                <a:solidFill>
                  <a:srgbClr val="212529"/>
                </a:solidFill>
                <a:effectLst/>
                <a:latin typeface="Calibri" panose="020F0502020204030204" pitchFamily="34" charset="0"/>
                <a:ea typeface="Times New Roman" panose="02020603050405020304" pitchFamily="18" charset="0"/>
                <a:cs typeface="Times New Roman" panose="02020603050405020304" pitchFamily="18" charset="0"/>
              </a:rPr>
              <a:t> </a:t>
            </a:r>
            <a:r>
              <a:rPr lang="nl-BE" sz="2800" dirty="0">
                <a:solidFill>
                  <a:srgbClr val="212529"/>
                </a:solidFill>
                <a:effectLst/>
                <a:latin typeface="Nunito"/>
                <a:ea typeface="Times New Roman" panose="02020603050405020304" pitchFamily="18" charset="0"/>
                <a:cs typeface="Segoe UI" panose="020B0502040204020203" pitchFamily="34" charset="0"/>
              </a:rPr>
              <a:t>Wedstrijdvorm</a:t>
            </a:r>
            <a:br>
              <a:rPr lang="nl-BE" sz="2800" dirty="0">
                <a:solidFill>
                  <a:srgbClr val="212529"/>
                </a:solidFill>
                <a:effectLst/>
                <a:latin typeface="Nunito"/>
                <a:ea typeface="Times New Roman" panose="02020603050405020304" pitchFamily="18" charset="0"/>
                <a:cs typeface="Segoe UI" panose="020B0502040204020203" pitchFamily="34" charset="0"/>
              </a:rPr>
            </a:br>
            <a:r>
              <a:rPr lang="nl-BE" sz="2800" b="1" dirty="0">
                <a:solidFill>
                  <a:srgbClr val="212529"/>
                </a:solidFill>
                <a:effectLst/>
                <a:latin typeface="Nunito"/>
                <a:ea typeface="Times New Roman" panose="02020603050405020304" pitchFamily="18" charset="0"/>
                <a:cs typeface="Segoe UI" panose="020B0502040204020203" pitchFamily="34" charset="0"/>
              </a:rPr>
              <a:t>Integreer heel veel wedstrijdvormen</a:t>
            </a:r>
            <a:r>
              <a:rPr lang="nl-BE" sz="2800" dirty="0">
                <a:solidFill>
                  <a:srgbClr val="212529"/>
                </a:solidFill>
                <a:effectLst/>
                <a:latin typeface="Nunito"/>
                <a:ea typeface="Times New Roman" panose="02020603050405020304" pitchFamily="18" charset="0"/>
                <a:cs typeface="Segoe UI" panose="020B0502040204020203" pitchFamily="34" charset="0"/>
              </a:rPr>
              <a:t> met tal van oefeningen rond de bovengenoemde spelsituaties. </a:t>
            </a:r>
            <a:endParaRPr lang="nl-BE" sz="2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p:cNvSpPr/>
          <p:nvPr/>
        </p:nvSpPr>
        <p:spPr>
          <a:xfrm>
            <a:off x="1918009" y="303070"/>
            <a:ext cx="8352263" cy="5259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a:spcAft>
                <a:spcPts val="500"/>
              </a:spcAft>
            </a:pPr>
            <a:r>
              <a:rPr lang="nl-BE" sz="3200" b="1">
                <a:solidFill>
                  <a:schemeClr val="bg1"/>
                </a:solidFill>
                <a:effectLst/>
                <a:latin typeface="Roboto"/>
                <a:ea typeface="Times New Roman" panose="02020603050405020304" pitchFamily="18" charset="0"/>
                <a:cs typeface="Arial" panose="020B0604020202020204" pitchFamily="34" charset="0"/>
              </a:rPr>
              <a:t>U13 - U15 (formatie)</a:t>
            </a:r>
            <a:endParaRPr lang="nl-BE"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Afbeelding 6">
            <a:extLst>
              <a:ext uri="{FF2B5EF4-FFF2-40B4-BE49-F238E27FC236}">
                <a16:creationId xmlns:a16="http://schemas.microsoft.com/office/drawing/2014/main" id="{A108DDA9-113C-F64E-9A0D-BD6753BD0B59}"/>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0" y="7384"/>
            <a:ext cx="936000" cy="1117360"/>
          </a:xfrm>
          <a:prstGeom prst="rect">
            <a:avLst/>
          </a:prstGeom>
          <a:noFill/>
        </p:spPr>
      </p:pic>
      <p:pic>
        <p:nvPicPr>
          <p:cNvPr id="8" name="Afbeelding 7">
            <a:extLst>
              <a:ext uri="{FF2B5EF4-FFF2-40B4-BE49-F238E27FC236}">
                <a16:creationId xmlns:a16="http://schemas.microsoft.com/office/drawing/2014/main" id="{DA6BF955-CC9B-F24B-95A4-899905646966}"/>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240428" y="0"/>
            <a:ext cx="936000" cy="1117360"/>
          </a:xfrm>
          <a:prstGeom prst="rect">
            <a:avLst/>
          </a:prstGeom>
          <a:noFill/>
        </p:spPr>
      </p:pic>
    </p:spTree>
    <p:extLst>
      <p:ext uri="{BB962C8B-B14F-4D97-AF65-F5344CB8AC3E}">
        <p14:creationId xmlns:p14="http://schemas.microsoft.com/office/powerpoint/2010/main" val="37692341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69706" y="1916833"/>
            <a:ext cx="8352928" cy="646331"/>
          </a:xfrm>
          <a:prstGeom prst="rect">
            <a:avLst/>
          </a:prstGeom>
        </p:spPr>
        <p:txBody>
          <a:bodyPr wrap="square">
            <a:spAutoFit/>
          </a:bodyPr>
          <a:lstStyle/>
          <a:p>
            <a:endParaRPr lang="en-GB" dirty="0"/>
          </a:p>
          <a:p>
            <a:r>
              <a:rPr lang="nl-NL" dirty="0"/>
              <a:t> </a:t>
            </a:r>
            <a:endParaRPr lang="en-GB" dirty="0"/>
          </a:p>
        </p:txBody>
      </p:sp>
      <p:sp>
        <p:nvSpPr>
          <p:cNvPr id="3" name="Rectangle 2"/>
          <p:cNvSpPr/>
          <p:nvPr/>
        </p:nvSpPr>
        <p:spPr>
          <a:xfrm>
            <a:off x="2343597" y="1137384"/>
            <a:ext cx="7704856" cy="5473293"/>
          </a:xfrm>
          <a:prstGeom prst="rect">
            <a:avLst/>
          </a:prstGeom>
        </p:spPr>
        <p:txBody>
          <a:bodyPr wrap="square">
            <a:spAutoFit/>
          </a:bodyPr>
          <a:lstStyle/>
          <a:p>
            <a:pPr marL="457200" algn="ctr">
              <a:spcAft>
                <a:spcPts val="500"/>
              </a:spcAft>
            </a:pPr>
            <a:r>
              <a:rPr lang="nl-BE" sz="2800" b="1" dirty="0">
                <a:solidFill>
                  <a:srgbClr val="555555"/>
                </a:solidFill>
                <a:effectLst/>
                <a:latin typeface="Nunito"/>
                <a:ea typeface="Times New Roman" panose="02020603050405020304" pitchFamily="18" charset="0"/>
                <a:cs typeface="Segoe UI" panose="020B0502040204020203" pitchFamily="34" charset="0"/>
              </a:rPr>
              <a:t> </a:t>
            </a:r>
            <a:r>
              <a:rPr lang="nl-BE" sz="2800" dirty="0">
                <a:solidFill>
                  <a:srgbClr val="555555"/>
                </a:solidFill>
                <a:effectLst/>
                <a:latin typeface="Nunito"/>
                <a:ea typeface="Times New Roman" panose="02020603050405020304" pitchFamily="18" charset="0"/>
                <a:cs typeface="Segoe UI" panose="020B0502040204020203" pitchFamily="34" charset="0"/>
              </a:rPr>
              <a:t>jan-feb</a:t>
            </a:r>
          </a:p>
          <a:p>
            <a:pPr marL="457200" algn="ctr">
              <a:spcAft>
                <a:spcPts val="500"/>
              </a:spcAft>
            </a:pPr>
            <a:r>
              <a:rPr lang="nl-BE" sz="2800" b="1" dirty="0">
                <a:solidFill>
                  <a:srgbClr val="555555"/>
                </a:solidFill>
                <a:effectLst/>
                <a:latin typeface="Nunito"/>
                <a:ea typeface="Times New Roman" panose="02020603050405020304" pitchFamily="18" charset="0"/>
                <a:cs typeface="Segoe UI" panose="020B0502040204020203" pitchFamily="34" charset="0"/>
              </a:rPr>
              <a:t> </a:t>
            </a:r>
            <a:endParaRPr lang="nl-BE"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ctr">
              <a:spcAft>
                <a:spcPts val="500"/>
              </a:spcAft>
              <a:buSzPts val="1000"/>
              <a:buFont typeface="Wingdings" panose="05000000000000000000" pitchFamily="2" charset="2"/>
              <a:buChar char=""/>
              <a:tabLst>
                <a:tab pos="457200" algn="l"/>
              </a:tabLst>
            </a:pPr>
            <a:r>
              <a:rPr lang="nl-BE" sz="2800" dirty="0">
                <a:solidFill>
                  <a:srgbClr val="212529"/>
                </a:solidFill>
                <a:effectLst/>
                <a:latin typeface="Nunito"/>
                <a:ea typeface="Times New Roman" panose="02020603050405020304" pitchFamily="18" charset="0"/>
                <a:cs typeface="Segoe UI" panose="020B0502040204020203" pitchFamily="34" charset="0"/>
              </a:rPr>
              <a:t>Pass &amp; go</a:t>
            </a:r>
          </a:p>
          <a:p>
            <a:pPr marL="342900" lvl="0" indent="-342900" algn="ctr">
              <a:spcAft>
                <a:spcPts val="500"/>
              </a:spcAft>
              <a:buSzPts val="1000"/>
              <a:buFont typeface="Wingdings" panose="05000000000000000000" pitchFamily="2" charset="2"/>
              <a:buChar char=""/>
              <a:tabLst>
                <a:tab pos="457200" algn="l"/>
              </a:tabLst>
            </a:pPr>
            <a:r>
              <a:rPr lang="nl-BE" sz="2800" dirty="0">
                <a:solidFill>
                  <a:srgbClr val="212529"/>
                </a:solidFill>
                <a:effectLst/>
                <a:latin typeface="Nunito"/>
                <a:ea typeface="Times New Roman" panose="02020603050405020304" pitchFamily="18" charset="0"/>
                <a:cs typeface="Segoe UI" panose="020B0502040204020203" pitchFamily="34" charset="0"/>
              </a:rPr>
              <a:t> </a:t>
            </a:r>
            <a:endParaRPr lang="nl-BE" sz="2800" dirty="0">
              <a:effectLst/>
              <a:latin typeface="Symbol" panose="05050102010706020507" pitchFamily="18" charset="2"/>
              <a:ea typeface="Calibri" panose="020F0502020204030204" pitchFamily="34" charset="0"/>
              <a:cs typeface="Times New Roman" panose="02020603050405020304" pitchFamily="18" charset="0"/>
            </a:endParaRPr>
          </a:p>
          <a:p>
            <a:pPr marL="342900" lvl="0" indent="-342900" algn="ctr">
              <a:spcAft>
                <a:spcPts val="500"/>
              </a:spcAft>
              <a:buSzPts val="1000"/>
              <a:buFont typeface="Wingdings" panose="05000000000000000000" pitchFamily="2" charset="2"/>
              <a:buChar char=""/>
              <a:tabLst>
                <a:tab pos="457200" algn="l"/>
              </a:tabLst>
            </a:pPr>
            <a:r>
              <a:rPr lang="nl-BE" sz="2800" dirty="0">
                <a:solidFill>
                  <a:srgbClr val="212529"/>
                </a:solidFill>
                <a:effectLst/>
                <a:latin typeface="Nunito"/>
                <a:ea typeface="Times New Roman" panose="02020603050405020304" pitchFamily="18" charset="0"/>
                <a:cs typeface="Segoe UI" panose="020B0502040204020203" pitchFamily="34" charset="0"/>
              </a:rPr>
              <a:t>Controle halfhoge bal</a:t>
            </a:r>
          </a:p>
          <a:p>
            <a:pPr marL="342900" lvl="0" indent="-342900" algn="ctr">
              <a:spcAft>
                <a:spcPts val="500"/>
              </a:spcAft>
              <a:buSzPts val="1000"/>
              <a:buFont typeface="Wingdings" panose="05000000000000000000" pitchFamily="2" charset="2"/>
              <a:buChar char=""/>
              <a:tabLst>
                <a:tab pos="457200" algn="l"/>
              </a:tabLst>
            </a:pPr>
            <a:r>
              <a:rPr lang="nl-BE" sz="2800" dirty="0">
                <a:solidFill>
                  <a:srgbClr val="212529"/>
                </a:solidFill>
                <a:effectLst/>
                <a:latin typeface="Nunito"/>
                <a:ea typeface="Times New Roman" panose="02020603050405020304" pitchFamily="18" charset="0"/>
                <a:cs typeface="Segoe UI" panose="020B0502040204020203" pitchFamily="34" charset="0"/>
              </a:rPr>
              <a:t> </a:t>
            </a:r>
            <a:endParaRPr lang="nl-BE" sz="2800" dirty="0">
              <a:effectLst/>
              <a:latin typeface="Symbol" panose="05050102010706020507" pitchFamily="18" charset="2"/>
              <a:ea typeface="Calibri" panose="020F0502020204030204" pitchFamily="34" charset="0"/>
              <a:cs typeface="Times New Roman" panose="02020603050405020304" pitchFamily="18" charset="0"/>
            </a:endParaRPr>
          </a:p>
          <a:p>
            <a:pPr marL="342900" lvl="0" indent="-342900" algn="ctr">
              <a:spcAft>
                <a:spcPts val="500"/>
              </a:spcAft>
              <a:buSzPts val="1000"/>
              <a:buFont typeface="Wingdings" panose="05000000000000000000" pitchFamily="2" charset="2"/>
              <a:buChar char=""/>
              <a:tabLst>
                <a:tab pos="457200" algn="l"/>
              </a:tabLst>
            </a:pPr>
            <a:r>
              <a:rPr lang="nl-BE" sz="2800" dirty="0">
                <a:solidFill>
                  <a:srgbClr val="212529"/>
                </a:solidFill>
                <a:effectLst/>
                <a:latin typeface="Nunito"/>
                <a:ea typeface="Times New Roman" panose="02020603050405020304" pitchFamily="18" charset="0"/>
                <a:cs typeface="Segoe UI" panose="020B0502040204020203" pitchFamily="34" charset="0"/>
              </a:rPr>
              <a:t>Afwerking op doel</a:t>
            </a:r>
          </a:p>
          <a:p>
            <a:pPr marL="342900" lvl="0" indent="-342900" algn="ctr">
              <a:spcAft>
                <a:spcPts val="500"/>
              </a:spcAft>
              <a:buSzPts val="1000"/>
              <a:buFont typeface="Wingdings" panose="05000000000000000000" pitchFamily="2" charset="2"/>
              <a:buChar char=""/>
              <a:tabLst>
                <a:tab pos="457200" algn="l"/>
              </a:tabLst>
            </a:pPr>
            <a:r>
              <a:rPr lang="nl-BE" sz="2800" dirty="0">
                <a:solidFill>
                  <a:srgbClr val="212529"/>
                </a:solidFill>
                <a:effectLst/>
                <a:latin typeface="Nunito"/>
                <a:ea typeface="Times New Roman" panose="02020603050405020304" pitchFamily="18" charset="0"/>
                <a:cs typeface="Segoe UI" panose="020B0502040204020203" pitchFamily="34" charset="0"/>
              </a:rPr>
              <a:t> </a:t>
            </a:r>
            <a:endParaRPr lang="nl-BE" sz="2800" dirty="0">
              <a:effectLst/>
              <a:latin typeface="Symbol" panose="05050102010706020507" pitchFamily="18" charset="2"/>
              <a:ea typeface="Calibri" panose="020F0502020204030204" pitchFamily="34" charset="0"/>
              <a:cs typeface="Times New Roman" panose="02020603050405020304" pitchFamily="18" charset="0"/>
            </a:endParaRPr>
          </a:p>
          <a:p>
            <a:pPr marL="342900" lvl="0" indent="-342900" algn="ctr">
              <a:spcAft>
                <a:spcPts val="500"/>
              </a:spcAft>
              <a:buSzPts val="1000"/>
              <a:buFont typeface="Wingdings" panose="05000000000000000000" pitchFamily="2" charset="2"/>
              <a:buChar char=""/>
              <a:tabLst>
                <a:tab pos="457200" algn="l"/>
              </a:tabLst>
            </a:pPr>
            <a:r>
              <a:rPr lang="nl-BE" sz="2800" dirty="0">
                <a:solidFill>
                  <a:srgbClr val="212529"/>
                </a:solidFill>
                <a:effectLst/>
                <a:latin typeface="Nunito"/>
                <a:ea typeface="Times New Roman" panose="02020603050405020304" pitchFamily="18" charset="0"/>
                <a:cs typeface="Segoe UI" panose="020B0502040204020203" pitchFamily="34" charset="0"/>
              </a:rPr>
              <a:t>Omschakeling</a:t>
            </a:r>
          </a:p>
          <a:p>
            <a:pPr marL="342900" lvl="0" indent="-342900" algn="ctr">
              <a:spcAft>
                <a:spcPts val="500"/>
              </a:spcAft>
              <a:buSzPts val="1000"/>
              <a:buFont typeface="Wingdings" panose="05000000000000000000" pitchFamily="2" charset="2"/>
              <a:buChar char=""/>
              <a:tabLst>
                <a:tab pos="457200" algn="l"/>
              </a:tabLst>
            </a:pPr>
            <a:r>
              <a:rPr lang="nl-BE" sz="2800" dirty="0">
                <a:solidFill>
                  <a:srgbClr val="212529"/>
                </a:solidFill>
                <a:effectLst/>
                <a:latin typeface="Nunito"/>
                <a:ea typeface="Times New Roman" panose="02020603050405020304" pitchFamily="18" charset="0"/>
                <a:cs typeface="Segoe UI" panose="020B0502040204020203" pitchFamily="34" charset="0"/>
              </a:rPr>
              <a:t> </a:t>
            </a:r>
            <a:endParaRPr lang="nl-BE" sz="2800" dirty="0">
              <a:effectLst/>
              <a:latin typeface="Symbol" panose="05050102010706020507" pitchFamily="18" charset="2"/>
              <a:ea typeface="Calibri" panose="020F0502020204030204" pitchFamily="34" charset="0"/>
              <a:cs typeface="Times New Roman" panose="02020603050405020304" pitchFamily="18" charset="0"/>
            </a:endParaRPr>
          </a:p>
          <a:p>
            <a:pPr marL="457200" algn="ctr">
              <a:spcAft>
                <a:spcPts val="500"/>
              </a:spcAft>
            </a:pPr>
            <a:r>
              <a:rPr lang="nl-BE" sz="2800" u="sng" dirty="0">
                <a:solidFill>
                  <a:srgbClr val="404040"/>
                </a:solidFill>
                <a:effectLst/>
                <a:latin typeface="Nunito"/>
                <a:ea typeface="Times New Roman" panose="02020603050405020304" pitchFamily="18" charset="0"/>
                <a:cs typeface="Segoe UI" panose="020B0502040204020203" pitchFamily="34" charset="0"/>
                <a:hlinkClick r:id="rId3"/>
              </a:rPr>
              <a:t>Ontdek cyclus 4</a:t>
            </a:r>
            <a:r>
              <a:rPr lang="nl-BE" sz="2800" dirty="0">
                <a:solidFill>
                  <a:srgbClr val="212529"/>
                </a:solidFill>
                <a:effectLst/>
                <a:latin typeface="Nunito"/>
                <a:ea typeface="Times New Roman" panose="02020603050405020304" pitchFamily="18" charset="0"/>
                <a:cs typeface="Segoe UI" panose="020B0502040204020203" pitchFamily="34" charset="0"/>
              </a:rPr>
              <a:t> </a:t>
            </a:r>
            <a:endParaRPr lang="nl-BE" sz="2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p:cNvSpPr/>
          <p:nvPr/>
        </p:nvSpPr>
        <p:spPr>
          <a:xfrm>
            <a:off x="1929985" y="830223"/>
            <a:ext cx="8312742" cy="646331"/>
          </a:xfrm>
          <a:prstGeom prst="rect">
            <a:avLst/>
          </a:prstGeom>
        </p:spPr>
        <p:txBody>
          <a:bodyPr wrap="square">
            <a:spAutoFit/>
          </a:bodyPr>
          <a:lstStyle/>
          <a:p>
            <a:endParaRPr lang="en-GB" dirty="0">
              <a:solidFill>
                <a:srgbClr val="7030A0"/>
              </a:solidFill>
            </a:endParaRPr>
          </a:p>
          <a:p>
            <a:endParaRPr lang="en-GB" dirty="0"/>
          </a:p>
        </p:txBody>
      </p:sp>
      <p:sp>
        <p:nvSpPr>
          <p:cNvPr id="8" name="Rectangle 7"/>
          <p:cNvSpPr/>
          <p:nvPr/>
        </p:nvSpPr>
        <p:spPr>
          <a:xfrm>
            <a:off x="1909892" y="304235"/>
            <a:ext cx="8352928" cy="5259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3200" dirty="0">
                <a:solidFill>
                  <a:schemeClr val="bg1"/>
                </a:solidFill>
              </a:rPr>
              <a:t>CYCLUS 4</a:t>
            </a:r>
          </a:p>
        </p:txBody>
      </p:sp>
      <p:pic>
        <p:nvPicPr>
          <p:cNvPr id="7" name="Afbeelding 6">
            <a:extLst>
              <a:ext uri="{FF2B5EF4-FFF2-40B4-BE49-F238E27FC236}">
                <a16:creationId xmlns:a16="http://schemas.microsoft.com/office/drawing/2014/main" id="{F9E3E406-5156-CE4B-A9AE-FDB3050F32E8}"/>
              </a:ext>
            </a:extLst>
          </p:cNvPr>
          <p:cNvPicPr>
            <a:picLocks/>
          </p:cNvPicPr>
          <p:nvPr/>
        </p:nvPicPr>
        <p:blipFill>
          <a:blip r:embed="rId4">
            <a:extLst>
              <a:ext uri="{BEBA8EAE-BF5A-486C-A8C5-ECC9F3942E4B}">
                <a14:imgProps xmlns:a14="http://schemas.microsoft.com/office/drawing/2010/main">
                  <a14:imgLayer>
                    <a14:imgEffect>
                      <a14:saturation sat="114000"/>
                    </a14:imgEffect>
                  </a14:imgLayer>
                </a14:imgProps>
              </a:ext>
            </a:extLst>
          </a:blip>
          <a:stretch>
            <a:fillRect/>
          </a:stretch>
        </p:blipFill>
        <p:spPr>
          <a:xfrm>
            <a:off x="11153" y="12270"/>
            <a:ext cx="936000" cy="1117360"/>
          </a:xfrm>
          <a:prstGeom prst="rect">
            <a:avLst/>
          </a:prstGeom>
          <a:noFill/>
        </p:spPr>
      </p:pic>
      <p:pic>
        <p:nvPicPr>
          <p:cNvPr id="9" name="Afbeelding 8">
            <a:extLst>
              <a:ext uri="{FF2B5EF4-FFF2-40B4-BE49-F238E27FC236}">
                <a16:creationId xmlns:a16="http://schemas.microsoft.com/office/drawing/2014/main" id="{465C50C1-13B7-4047-A78A-0D68F30518C4}"/>
              </a:ext>
            </a:extLst>
          </p:cNvPr>
          <p:cNvPicPr>
            <a:picLocks/>
          </p:cNvPicPr>
          <p:nvPr/>
        </p:nvPicPr>
        <p:blipFill>
          <a:blip r:embed="rId4">
            <a:extLst>
              <a:ext uri="{BEBA8EAE-BF5A-486C-A8C5-ECC9F3942E4B}">
                <a14:imgProps xmlns:a14="http://schemas.microsoft.com/office/drawing/2010/main">
                  <a14:imgLayer>
                    <a14:imgEffect>
                      <a14:saturation sat="114000"/>
                    </a14:imgEffect>
                  </a14:imgLayer>
                </a14:imgProps>
              </a:ext>
            </a:extLst>
          </a:blip>
          <a:stretch>
            <a:fillRect/>
          </a:stretch>
        </p:blipFill>
        <p:spPr>
          <a:xfrm>
            <a:off x="11225559" y="12270"/>
            <a:ext cx="936000" cy="1117360"/>
          </a:xfrm>
          <a:prstGeom prst="rect">
            <a:avLst/>
          </a:prstGeom>
          <a:noFill/>
        </p:spPr>
      </p:pic>
    </p:spTree>
    <p:extLst>
      <p:ext uri="{BB962C8B-B14F-4D97-AF65-F5344CB8AC3E}">
        <p14:creationId xmlns:p14="http://schemas.microsoft.com/office/powerpoint/2010/main" val="31840362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69706" y="1916833"/>
            <a:ext cx="8352928" cy="646331"/>
          </a:xfrm>
          <a:prstGeom prst="rect">
            <a:avLst/>
          </a:prstGeom>
        </p:spPr>
        <p:txBody>
          <a:bodyPr wrap="square">
            <a:spAutoFit/>
          </a:bodyPr>
          <a:lstStyle/>
          <a:p>
            <a:endParaRPr lang="en-GB" dirty="0"/>
          </a:p>
          <a:p>
            <a:r>
              <a:rPr lang="nl-NL" dirty="0"/>
              <a:t> </a:t>
            </a:r>
            <a:endParaRPr lang="en-GB" dirty="0"/>
          </a:p>
        </p:txBody>
      </p:sp>
      <p:sp>
        <p:nvSpPr>
          <p:cNvPr id="3" name="Rectangle 2"/>
          <p:cNvSpPr/>
          <p:nvPr/>
        </p:nvSpPr>
        <p:spPr>
          <a:xfrm>
            <a:off x="2343597" y="1137384"/>
            <a:ext cx="7704856" cy="369332"/>
          </a:xfrm>
          <a:prstGeom prst="rect">
            <a:avLst/>
          </a:prstGeom>
        </p:spPr>
        <p:txBody>
          <a:bodyPr wrap="square">
            <a:spAutoFit/>
          </a:bodyPr>
          <a:lstStyle/>
          <a:p>
            <a:r>
              <a:rPr lang="nl-NL" dirty="0"/>
              <a:t> </a:t>
            </a:r>
            <a:endParaRPr lang="en-GB" dirty="0"/>
          </a:p>
        </p:txBody>
      </p:sp>
      <p:sp>
        <p:nvSpPr>
          <p:cNvPr id="9" name="Rectangle 8"/>
          <p:cNvSpPr/>
          <p:nvPr/>
        </p:nvSpPr>
        <p:spPr>
          <a:xfrm>
            <a:off x="1869706" y="307956"/>
            <a:ext cx="8352928" cy="5259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a:spcBef>
                <a:spcPts val="805"/>
              </a:spcBef>
              <a:spcAft>
                <a:spcPts val="805"/>
              </a:spcAft>
            </a:pPr>
            <a:r>
              <a:rPr lang="nl-BE" sz="3200" b="1" kern="150" dirty="0">
                <a:solidFill>
                  <a:schemeClr val="bg1"/>
                </a:solidFill>
                <a:effectLst/>
                <a:latin typeface="Roboto"/>
                <a:ea typeface="Times New Roman" panose="02020603050405020304" pitchFamily="18" charset="0"/>
                <a:cs typeface="Arial" panose="020B0604020202020204" pitchFamily="34" charset="0"/>
              </a:rPr>
              <a:t>6 cycli – deel 4</a:t>
            </a:r>
            <a:endParaRPr lang="nl-BE"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Afbeelding 6">
            <a:extLst>
              <a:ext uri="{FF2B5EF4-FFF2-40B4-BE49-F238E27FC236}">
                <a16:creationId xmlns:a16="http://schemas.microsoft.com/office/drawing/2014/main" id="{083FA8A9-E749-AD46-8D99-468CD8EBFD07}"/>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153" y="12270"/>
            <a:ext cx="936000" cy="1117360"/>
          </a:xfrm>
          <a:prstGeom prst="rect">
            <a:avLst/>
          </a:prstGeom>
          <a:noFill/>
        </p:spPr>
      </p:pic>
      <p:pic>
        <p:nvPicPr>
          <p:cNvPr id="10" name="Afbeelding 9">
            <a:extLst>
              <a:ext uri="{FF2B5EF4-FFF2-40B4-BE49-F238E27FC236}">
                <a16:creationId xmlns:a16="http://schemas.microsoft.com/office/drawing/2014/main" id="{F92EE1CD-0397-AD40-98F4-10ABB1F44552}"/>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225559" y="12270"/>
            <a:ext cx="936000" cy="1117360"/>
          </a:xfrm>
          <a:prstGeom prst="rect">
            <a:avLst/>
          </a:prstGeom>
          <a:noFill/>
        </p:spPr>
      </p:pic>
      <p:sp>
        <p:nvSpPr>
          <p:cNvPr id="11" name="Tekstvak 10">
            <a:extLst>
              <a:ext uri="{FF2B5EF4-FFF2-40B4-BE49-F238E27FC236}">
                <a16:creationId xmlns:a16="http://schemas.microsoft.com/office/drawing/2014/main" id="{24072EC9-0B96-4B92-A8D5-B3754AA44845}"/>
              </a:ext>
            </a:extLst>
          </p:cNvPr>
          <p:cNvSpPr txBox="1"/>
          <p:nvPr/>
        </p:nvSpPr>
        <p:spPr>
          <a:xfrm>
            <a:off x="3049361" y="1129630"/>
            <a:ext cx="6098720" cy="4944943"/>
          </a:xfrm>
          <a:prstGeom prst="rect">
            <a:avLst/>
          </a:prstGeom>
          <a:noFill/>
        </p:spPr>
        <p:txBody>
          <a:bodyPr wrap="square">
            <a:spAutoFit/>
          </a:bodyPr>
          <a:lstStyle/>
          <a:p>
            <a:pPr marL="457200">
              <a:spcAft>
                <a:spcPts val="1800"/>
              </a:spcAft>
            </a:pPr>
            <a:r>
              <a:rPr lang="nl-BE" sz="2800" dirty="0">
                <a:solidFill>
                  <a:srgbClr val="212529"/>
                </a:solidFill>
                <a:effectLst/>
                <a:latin typeface="Nunito"/>
                <a:ea typeface="Times New Roman" panose="02020603050405020304" pitchFamily="18" charset="0"/>
                <a:cs typeface="Segoe UI" panose="020B0502040204020203" pitchFamily="34" charset="0"/>
              </a:rPr>
              <a:t>De vierde trainingscyclus. </a:t>
            </a:r>
            <a:endParaRPr lang="nl-BE" sz="2800" dirty="0">
              <a:effectLst/>
              <a:latin typeface="Calibri" panose="020F0502020204030204" pitchFamily="34" charset="0"/>
              <a:ea typeface="Calibri" panose="020F0502020204030204" pitchFamily="34" charset="0"/>
              <a:cs typeface="Times New Roman" panose="02020603050405020304" pitchFamily="18" charset="0"/>
            </a:endParaRPr>
          </a:p>
          <a:p>
            <a:pPr marL="457200">
              <a:spcAft>
                <a:spcPts val="1800"/>
              </a:spcAft>
            </a:pPr>
            <a:r>
              <a:rPr lang="nl-BE" sz="2800" dirty="0">
                <a:solidFill>
                  <a:srgbClr val="212529"/>
                </a:solidFill>
                <a:effectLst/>
                <a:latin typeface="Nunito"/>
                <a:ea typeface="Times New Roman" panose="02020603050405020304" pitchFamily="18" charset="0"/>
                <a:cs typeface="Segoe UI" panose="020B0502040204020203" pitchFamily="34" charset="0"/>
              </a:rPr>
              <a:t>De rode draad van elke training zijn steeds onze 4 hoofdcomponenten:</a:t>
            </a:r>
            <a:endParaRPr lang="nl-BE"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800" dirty="0">
                <a:solidFill>
                  <a:srgbClr val="212529"/>
                </a:solidFill>
                <a:effectLst/>
                <a:latin typeface="Nunito"/>
                <a:ea typeface="Times New Roman" panose="02020603050405020304" pitchFamily="18" charset="0"/>
                <a:cs typeface="Segoe UI" panose="020B0502040204020203" pitchFamily="34" charset="0"/>
              </a:rPr>
              <a:t>techniek</a:t>
            </a:r>
            <a:endParaRPr lang="nl-BE" sz="28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800" dirty="0">
                <a:solidFill>
                  <a:srgbClr val="212529"/>
                </a:solidFill>
                <a:effectLst/>
                <a:latin typeface="Nunito"/>
                <a:ea typeface="Times New Roman" panose="02020603050405020304" pitchFamily="18" charset="0"/>
                <a:cs typeface="Segoe UI" panose="020B0502040204020203" pitchFamily="34" charset="0"/>
              </a:rPr>
              <a:t>positiespel</a:t>
            </a:r>
            <a:endParaRPr lang="nl-BE" sz="28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800" dirty="0">
                <a:solidFill>
                  <a:srgbClr val="212529"/>
                </a:solidFill>
                <a:effectLst/>
                <a:latin typeface="Nunito"/>
                <a:ea typeface="Times New Roman" panose="02020603050405020304" pitchFamily="18" charset="0"/>
                <a:cs typeface="Segoe UI" panose="020B0502040204020203" pitchFamily="34" charset="0"/>
              </a:rPr>
              <a:t>spelsituatie</a:t>
            </a:r>
            <a:endParaRPr lang="nl-BE" sz="28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800" dirty="0">
                <a:solidFill>
                  <a:srgbClr val="212529"/>
                </a:solidFill>
                <a:effectLst/>
                <a:latin typeface="Nunito"/>
                <a:ea typeface="Times New Roman" panose="02020603050405020304" pitchFamily="18" charset="0"/>
                <a:cs typeface="Segoe UI" panose="020B0502040204020203" pitchFamily="34" charset="0"/>
              </a:rPr>
              <a:t>wedstrijdvorm</a:t>
            </a:r>
            <a:endParaRPr lang="nl-BE" sz="28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457200">
              <a:spcAft>
                <a:spcPts val="1800"/>
              </a:spcAft>
            </a:pPr>
            <a:r>
              <a:rPr lang="nl-BE" sz="2800" dirty="0">
                <a:solidFill>
                  <a:srgbClr val="212529"/>
                </a:solidFill>
                <a:effectLst/>
                <a:latin typeface="Nunito"/>
                <a:ea typeface="Times New Roman" panose="02020603050405020304" pitchFamily="18" charset="0"/>
                <a:cs typeface="Segoe UI" panose="020B0502040204020203" pitchFamily="34" charset="0"/>
              </a:rPr>
              <a:t>Elke training eindigt met een leuke </a:t>
            </a:r>
            <a:r>
              <a:rPr lang="nl-BE" sz="2800" dirty="0" err="1">
                <a:solidFill>
                  <a:srgbClr val="212529"/>
                </a:solidFill>
                <a:effectLst/>
                <a:latin typeface="Nunito"/>
                <a:ea typeface="Times New Roman" panose="02020603050405020304" pitchFamily="18" charset="0"/>
                <a:cs typeface="Segoe UI" panose="020B0502040204020203" pitchFamily="34" charset="0"/>
              </a:rPr>
              <a:t>cooling</a:t>
            </a:r>
            <a:r>
              <a:rPr lang="nl-BE" sz="2800" dirty="0">
                <a:solidFill>
                  <a:srgbClr val="212529"/>
                </a:solidFill>
                <a:effectLst/>
                <a:latin typeface="Nunito"/>
                <a:ea typeface="Times New Roman" panose="02020603050405020304" pitchFamily="18" charset="0"/>
                <a:cs typeface="Segoe UI" panose="020B0502040204020203" pitchFamily="34" charset="0"/>
              </a:rPr>
              <a:t> down.</a:t>
            </a:r>
            <a:endParaRPr lang="nl-BE"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264612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69706" y="1916833"/>
            <a:ext cx="8352928" cy="646331"/>
          </a:xfrm>
          <a:prstGeom prst="rect">
            <a:avLst/>
          </a:prstGeom>
        </p:spPr>
        <p:txBody>
          <a:bodyPr wrap="square">
            <a:spAutoFit/>
          </a:bodyPr>
          <a:lstStyle/>
          <a:p>
            <a:endParaRPr lang="en-GB" dirty="0"/>
          </a:p>
          <a:p>
            <a:r>
              <a:rPr lang="nl-NL" dirty="0"/>
              <a:t> </a:t>
            </a:r>
            <a:endParaRPr lang="en-GB" dirty="0"/>
          </a:p>
        </p:txBody>
      </p:sp>
      <p:sp>
        <p:nvSpPr>
          <p:cNvPr id="3" name="Rectangle 2"/>
          <p:cNvSpPr/>
          <p:nvPr/>
        </p:nvSpPr>
        <p:spPr>
          <a:xfrm>
            <a:off x="2343597" y="1137384"/>
            <a:ext cx="7704856" cy="369332"/>
          </a:xfrm>
          <a:prstGeom prst="rect">
            <a:avLst/>
          </a:prstGeom>
        </p:spPr>
        <p:txBody>
          <a:bodyPr wrap="square">
            <a:spAutoFit/>
          </a:bodyPr>
          <a:lstStyle/>
          <a:p>
            <a:r>
              <a:rPr lang="nl-NL" dirty="0"/>
              <a:t> </a:t>
            </a:r>
            <a:endParaRPr lang="en-GB" dirty="0"/>
          </a:p>
        </p:txBody>
      </p:sp>
      <p:sp>
        <p:nvSpPr>
          <p:cNvPr id="8" name="Rectangle 7"/>
          <p:cNvSpPr/>
          <p:nvPr/>
        </p:nvSpPr>
        <p:spPr>
          <a:xfrm>
            <a:off x="1919536" y="201279"/>
            <a:ext cx="8352928" cy="5259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a:spcAft>
                <a:spcPts val="500"/>
              </a:spcAft>
            </a:pPr>
            <a:r>
              <a:rPr lang="nl-BE" sz="3200" b="1" dirty="0">
                <a:solidFill>
                  <a:schemeClr val="bg1"/>
                </a:solidFill>
                <a:effectLst/>
                <a:latin typeface="Roboto"/>
                <a:ea typeface="Times New Roman" panose="02020603050405020304" pitchFamily="18" charset="0"/>
                <a:cs typeface="Arial" panose="020B0604020202020204" pitchFamily="34" charset="0"/>
              </a:rPr>
              <a:t>U8 - U9 (initiatie) </a:t>
            </a:r>
            <a:endParaRPr lang="nl-BE"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Afbeelding 6">
            <a:extLst>
              <a:ext uri="{FF2B5EF4-FFF2-40B4-BE49-F238E27FC236}">
                <a16:creationId xmlns:a16="http://schemas.microsoft.com/office/drawing/2014/main" id="{D467A763-43A9-264A-A370-C64137FBF9F2}"/>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153" y="12270"/>
            <a:ext cx="936000" cy="1117360"/>
          </a:xfrm>
          <a:prstGeom prst="rect">
            <a:avLst/>
          </a:prstGeom>
          <a:noFill/>
        </p:spPr>
      </p:pic>
      <p:pic>
        <p:nvPicPr>
          <p:cNvPr id="9" name="Afbeelding 8">
            <a:extLst>
              <a:ext uri="{FF2B5EF4-FFF2-40B4-BE49-F238E27FC236}">
                <a16:creationId xmlns:a16="http://schemas.microsoft.com/office/drawing/2014/main" id="{352C1FAF-30B3-2747-86E7-4565118D3477}"/>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225559" y="12270"/>
            <a:ext cx="936000" cy="1117360"/>
          </a:xfrm>
          <a:prstGeom prst="rect">
            <a:avLst/>
          </a:prstGeom>
          <a:noFill/>
        </p:spPr>
      </p:pic>
      <p:sp>
        <p:nvSpPr>
          <p:cNvPr id="10" name="Tekstvak 9">
            <a:extLst>
              <a:ext uri="{FF2B5EF4-FFF2-40B4-BE49-F238E27FC236}">
                <a16:creationId xmlns:a16="http://schemas.microsoft.com/office/drawing/2014/main" id="{D9A2B5E4-BC16-4EB9-A88B-271A377CC054}"/>
              </a:ext>
            </a:extLst>
          </p:cNvPr>
          <p:cNvSpPr txBox="1"/>
          <p:nvPr/>
        </p:nvSpPr>
        <p:spPr>
          <a:xfrm>
            <a:off x="1969366" y="1073141"/>
            <a:ext cx="8513577" cy="5152693"/>
          </a:xfrm>
          <a:prstGeom prst="rect">
            <a:avLst/>
          </a:prstGeom>
          <a:noFill/>
        </p:spPr>
        <p:txBody>
          <a:bodyPr wrap="square">
            <a:spAutoFit/>
          </a:bodyPr>
          <a:lstStyle/>
          <a:p>
            <a:pPr marL="342900" lvl="0" indent="-342900">
              <a:spcBef>
                <a:spcPts val="500"/>
              </a:spcBef>
              <a:spcAft>
                <a:spcPts val="500"/>
              </a:spcAft>
              <a:buFont typeface="+mj-lt"/>
              <a:buAutoNum type="arabicPeriod"/>
            </a:pPr>
            <a:r>
              <a:rPr lang="nl-BE" sz="2800" dirty="0">
                <a:solidFill>
                  <a:srgbClr val="212529"/>
                </a:solidFill>
                <a:effectLst/>
                <a:latin typeface="Nunito"/>
                <a:ea typeface="Times New Roman" panose="02020603050405020304" pitchFamily="18" charset="0"/>
                <a:cs typeface="Segoe UI" panose="020B0502040204020203" pitchFamily="34" charset="0"/>
              </a:rPr>
              <a:t>Techniek</a:t>
            </a:r>
            <a:br>
              <a:rPr lang="nl-BE" sz="2800" dirty="0">
                <a:solidFill>
                  <a:srgbClr val="212529"/>
                </a:solidFill>
                <a:effectLst/>
                <a:latin typeface="Nunito"/>
                <a:ea typeface="Times New Roman" panose="02020603050405020304" pitchFamily="18" charset="0"/>
                <a:cs typeface="Segoe UI" panose="020B0502040204020203" pitchFamily="34" charset="0"/>
              </a:rPr>
            </a:br>
            <a:r>
              <a:rPr lang="nl-BE" sz="2800" dirty="0">
                <a:solidFill>
                  <a:srgbClr val="212529"/>
                </a:solidFill>
                <a:effectLst/>
                <a:latin typeface="Nunito"/>
                <a:ea typeface="Times New Roman" panose="02020603050405020304" pitchFamily="18" charset="0"/>
                <a:cs typeface="Segoe UI" panose="020B0502040204020203" pitchFamily="34" charset="0"/>
              </a:rPr>
              <a:t>Dribbel met schijnbeweging met rug naar de tegenstander.</a:t>
            </a:r>
            <a:br>
              <a:rPr lang="nl-BE" sz="2800" dirty="0">
                <a:solidFill>
                  <a:srgbClr val="212529"/>
                </a:solidFill>
                <a:effectLst/>
                <a:latin typeface="Nunito"/>
                <a:ea typeface="Times New Roman" panose="02020603050405020304" pitchFamily="18" charset="0"/>
                <a:cs typeface="Segoe UI" panose="020B0502040204020203" pitchFamily="34" charset="0"/>
              </a:rPr>
            </a:br>
            <a:r>
              <a:rPr lang="nl-BE" sz="2800" b="1" dirty="0">
                <a:solidFill>
                  <a:srgbClr val="212529"/>
                </a:solidFill>
                <a:effectLst/>
                <a:latin typeface="Nunito"/>
                <a:ea typeface="Times New Roman" panose="02020603050405020304" pitchFamily="18" charset="0"/>
                <a:cs typeface="Segoe UI" panose="020B0502040204020203" pitchFamily="34" charset="0"/>
              </a:rPr>
              <a:t>Controle op halfhoge bal</a:t>
            </a:r>
            <a:r>
              <a:rPr lang="nl-BE" sz="2800" dirty="0">
                <a:solidFill>
                  <a:srgbClr val="212529"/>
                </a:solidFill>
                <a:effectLst/>
                <a:latin typeface="Nunito"/>
                <a:ea typeface="Times New Roman" panose="02020603050405020304" pitchFamily="18" charset="0"/>
                <a:cs typeface="Segoe UI" panose="020B0502040204020203" pitchFamily="34" charset="0"/>
              </a:rPr>
              <a:t>.</a:t>
            </a:r>
            <a:endParaRPr lang="nl-BE"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800" dirty="0">
                <a:solidFill>
                  <a:srgbClr val="212529"/>
                </a:solidFill>
                <a:effectLst/>
                <a:latin typeface="Nunito"/>
                <a:ea typeface="Times New Roman" panose="02020603050405020304" pitchFamily="18" charset="0"/>
                <a:cs typeface="Segoe UI" panose="020B0502040204020203" pitchFamily="34" charset="0"/>
              </a:rPr>
              <a:t>Positiespel</a:t>
            </a:r>
            <a:br>
              <a:rPr lang="nl-BE" sz="2800" dirty="0">
                <a:solidFill>
                  <a:srgbClr val="212529"/>
                </a:solidFill>
                <a:effectLst/>
                <a:latin typeface="Nunito"/>
                <a:ea typeface="Times New Roman" panose="02020603050405020304" pitchFamily="18" charset="0"/>
                <a:cs typeface="Segoe UI" panose="020B0502040204020203" pitchFamily="34" charset="0"/>
              </a:rPr>
            </a:br>
            <a:r>
              <a:rPr lang="nl-BE" sz="2800" dirty="0">
                <a:solidFill>
                  <a:srgbClr val="212529"/>
                </a:solidFill>
                <a:effectLst/>
                <a:latin typeface="Nunito"/>
                <a:ea typeface="Times New Roman" panose="02020603050405020304" pitchFamily="18" charset="0"/>
                <a:cs typeface="Segoe UI" panose="020B0502040204020203" pitchFamily="34" charset="0"/>
              </a:rPr>
              <a:t>Gerichte balaanname (eerste controle).</a:t>
            </a:r>
            <a:endParaRPr lang="nl-BE" sz="28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800" dirty="0">
                <a:solidFill>
                  <a:srgbClr val="212529"/>
                </a:solidFill>
                <a:effectLst/>
                <a:latin typeface="Nunito"/>
                <a:ea typeface="Times New Roman" panose="02020603050405020304" pitchFamily="18" charset="0"/>
                <a:cs typeface="Segoe UI" panose="020B0502040204020203" pitchFamily="34" charset="0"/>
              </a:rPr>
              <a:t>Spelsituatie</a:t>
            </a:r>
            <a:br>
              <a:rPr lang="nl-BE" sz="2800" dirty="0">
                <a:solidFill>
                  <a:srgbClr val="212529"/>
                </a:solidFill>
                <a:effectLst/>
                <a:latin typeface="Nunito"/>
                <a:ea typeface="Times New Roman" panose="02020603050405020304" pitchFamily="18" charset="0"/>
                <a:cs typeface="Segoe UI" panose="020B0502040204020203" pitchFamily="34" charset="0"/>
              </a:rPr>
            </a:br>
            <a:r>
              <a:rPr lang="nl-BE" sz="2800" b="1" dirty="0">
                <a:solidFill>
                  <a:srgbClr val="212529"/>
                </a:solidFill>
                <a:effectLst/>
                <a:latin typeface="Nunito"/>
                <a:ea typeface="Times New Roman" panose="02020603050405020304" pitchFamily="18" charset="0"/>
                <a:cs typeface="Segoe UI" panose="020B0502040204020203" pitchFamily="34" charset="0"/>
              </a:rPr>
              <a:t>Pass &amp; go</a:t>
            </a:r>
            <a:r>
              <a:rPr lang="nl-BE" sz="2800" dirty="0">
                <a:solidFill>
                  <a:srgbClr val="212529"/>
                </a:solidFill>
                <a:effectLst/>
                <a:latin typeface="Nunito"/>
                <a:ea typeface="Times New Roman" panose="02020603050405020304" pitchFamily="18" charset="0"/>
                <a:cs typeface="Segoe UI" panose="020B0502040204020203" pitchFamily="34" charset="0"/>
              </a:rPr>
              <a:t> (zachte pas, in de loop).</a:t>
            </a:r>
            <a:endParaRPr lang="nl-BE" sz="2800" dirty="0">
              <a:effectLst/>
              <a:latin typeface="Calibri" panose="020F0502020204030204" pitchFamily="34" charset="0"/>
              <a:ea typeface="Calibri" panose="020F0502020204030204" pitchFamily="34" charset="0"/>
              <a:cs typeface="Times New Roman" panose="02020603050405020304" pitchFamily="18" charset="0"/>
            </a:endParaRPr>
          </a:p>
          <a:p>
            <a:r>
              <a:rPr lang="nl-BE" sz="2800" dirty="0">
                <a:solidFill>
                  <a:srgbClr val="212529"/>
                </a:solidFill>
                <a:effectLst/>
                <a:latin typeface="Nunito"/>
                <a:ea typeface="Times New Roman" panose="02020603050405020304" pitchFamily="18" charset="0"/>
                <a:cs typeface="Segoe UI" panose="020B0502040204020203" pitchFamily="34" charset="0"/>
              </a:rPr>
              <a:t>Wedstrijdvorm</a:t>
            </a:r>
            <a:br>
              <a:rPr lang="nl-BE" sz="2800" dirty="0">
                <a:solidFill>
                  <a:srgbClr val="212529"/>
                </a:solidFill>
                <a:effectLst/>
                <a:latin typeface="Nunito"/>
                <a:ea typeface="Times New Roman" panose="02020603050405020304" pitchFamily="18" charset="0"/>
                <a:cs typeface="Segoe UI" panose="020B0502040204020203" pitchFamily="34" charset="0"/>
              </a:rPr>
            </a:br>
            <a:r>
              <a:rPr lang="nl-BE" sz="2800" dirty="0">
                <a:solidFill>
                  <a:srgbClr val="212529"/>
                </a:solidFill>
                <a:effectLst/>
                <a:latin typeface="Nunito"/>
                <a:ea typeface="Times New Roman" panose="02020603050405020304" pitchFamily="18" charset="0"/>
                <a:cs typeface="Segoe UI" panose="020B0502040204020203" pitchFamily="34" charset="0"/>
              </a:rPr>
              <a:t>Speel wedstrijdjes met aandacht voor</a:t>
            </a:r>
            <a:r>
              <a:rPr lang="nl-BE" sz="2800" b="1" dirty="0">
                <a:solidFill>
                  <a:srgbClr val="212529"/>
                </a:solidFill>
                <a:effectLst/>
                <a:latin typeface="Nunito"/>
                <a:ea typeface="Times New Roman" panose="02020603050405020304" pitchFamily="18" charset="0"/>
                <a:cs typeface="Segoe UI" panose="020B0502040204020203" pitchFamily="34" charset="0"/>
              </a:rPr>
              <a:t> afwerking op doel</a:t>
            </a:r>
            <a:r>
              <a:rPr lang="nl-BE" sz="2800" dirty="0">
                <a:solidFill>
                  <a:srgbClr val="212529"/>
                </a:solidFill>
                <a:effectLst/>
                <a:latin typeface="Nunito"/>
                <a:ea typeface="Times New Roman" panose="02020603050405020304" pitchFamily="18" charset="0"/>
                <a:cs typeface="Segoe UI" panose="020B0502040204020203" pitchFamily="34" charset="0"/>
              </a:rPr>
              <a:t>, na voorzet, in 1 </a:t>
            </a:r>
            <a:endParaRPr lang="nl-BE" sz="2800" dirty="0"/>
          </a:p>
        </p:txBody>
      </p:sp>
    </p:spTree>
    <p:extLst>
      <p:ext uri="{BB962C8B-B14F-4D97-AF65-F5344CB8AC3E}">
        <p14:creationId xmlns:p14="http://schemas.microsoft.com/office/powerpoint/2010/main" val="39910865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95600" y="1772816"/>
            <a:ext cx="7272808" cy="369332"/>
          </a:xfrm>
          <a:prstGeom prst="rect">
            <a:avLst/>
          </a:prstGeom>
          <a:noFill/>
        </p:spPr>
        <p:txBody>
          <a:bodyPr wrap="square" rtlCol="0">
            <a:spAutoFit/>
          </a:bodyPr>
          <a:lstStyle/>
          <a:p>
            <a:pPr marL="755650" lvl="1" indent="-285750">
              <a:buFont typeface="Arial" pitchFamily="34" charset="0"/>
              <a:buChar char="•"/>
            </a:pPr>
            <a:endParaRPr lang="nl-BE" dirty="0">
              <a:solidFill>
                <a:schemeClr val="tx2">
                  <a:lumMod val="75000"/>
                </a:schemeClr>
              </a:solidFill>
              <a:latin typeface="Calibri Light" pitchFamily="34" charset="0"/>
            </a:endParaRPr>
          </a:p>
        </p:txBody>
      </p:sp>
      <p:sp>
        <p:nvSpPr>
          <p:cNvPr id="7" name="Rectangle 6"/>
          <p:cNvSpPr/>
          <p:nvPr/>
        </p:nvSpPr>
        <p:spPr>
          <a:xfrm>
            <a:off x="1973766" y="307956"/>
            <a:ext cx="8129239" cy="5259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a:spcAft>
                <a:spcPts val="500"/>
              </a:spcAft>
            </a:pPr>
            <a:r>
              <a:rPr lang="nl-BE" sz="3200" b="1" dirty="0">
                <a:solidFill>
                  <a:schemeClr val="bg1"/>
                </a:solidFill>
                <a:effectLst/>
                <a:latin typeface="Roboto"/>
                <a:ea typeface="Times New Roman" panose="02020603050405020304" pitchFamily="18" charset="0"/>
                <a:cs typeface="Arial" panose="020B0604020202020204" pitchFamily="34" charset="0"/>
              </a:rPr>
              <a:t>U10 - U11 - U12 (pre-formatie)</a:t>
            </a:r>
            <a:endParaRPr lang="nl-BE"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Afbeelding 7">
            <a:extLst>
              <a:ext uri="{FF2B5EF4-FFF2-40B4-BE49-F238E27FC236}">
                <a16:creationId xmlns:a16="http://schemas.microsoft.com/office/drawing/2014/main" id="{974F656E-9746-BD41-AAF4-3A6F897FEA3B}"/>
              </a:ext>
            </a:extLst>
          </p:cNvPr>
          <p:cNvPicPr>
            <a:picLocks/>
          </p:cNvPicPr>
          <p:nvPr/>
        </p:nvPicPr>
        <p:blipFill>
          <a:blip r:embed="rId2">
            <a:extLst>
              <a:ext uri="{BEBA8EAE-BF5A-486C-A8C5-ECC9F3942E4B}">
                <a14:imgProps xmlns:a14="http://schemas.microsoft.com/office/drawing/2010/main">
                  <a14:imgLayer>
                    <a14:imgEffect>
                      <a14:saturation sat="114000"/>
                    </a14:imgEffect>
                  </a14:imgLayer>
                </a14:imgProps>
              </a:ext>
            </a:extLst>
          </a:blip>
          <a:stretch>
            <a:fillRect/>
          </a:stretch>
        </p:blipFill>
        <p:spPr>
          <a:xfrm>
            <a:off x="47517" y="12270"/>
            <a:ext cx="936000" cy="1117360"/>
          </a:xfrm>
          <a:prstGeom prst="rect">
            <a:avLst/>
          </a:prstGeom>
          <a:noFill/>
        </p:spPr>
      </p:pic>
      <p:pic>
        <p:nvPicPr>
          <p:cNvPr id="9" name="Afbeelding 8">
            <a:extLst>
              <a:ext uri="{FF2B5EF4-FFF2-40B4-BE49-F238E27FC236}">
                <a16:creationId xmlns:a16="http://schemas.microsoft.com/office/drawing/2014/main" id="{FFC0DF1A-32C5-DC4B-AF06-33F260CF9691}"/>
              </a:ext>
            </a:extLst>
          </p:cNvPr>
          <p:cNvPicPr>
            <a:picLocks/>
          </p:cNvPicPr>
          <p:nvPr/>
        </p:nvPicPr>
        <p:blipFill>
          <a:blip r:embed="rId2">
            <a:extLst>
              <a:ext uri="{BEBA8EAE-BF5A-486C-A8C5-ECC9F3942E4B}">
                <a14:imgProps xmlns:a14="http://schemas.microsoft.com/office/drawing/2010/main">
                  <a14:imgLayer>
                    <a14:imgEffect>
                      <a14:saturation sat="114000"/>
                    </a14:imgEffect>
                  </a14:imgLayer>
                </a14:imgProps>
              </a:ext>
            </a:extLst>
          </a:blip>
          <a:stretch>
            <a:fillRect/>
          </a:stretch>
        </p:blipFill>
        <p:spPr>
          <a:xfrm>
            <a:off x="11147503" y="129468"/>
            <a:ext cx="936000" cy="1117360"/>
          </a:xfrm>
          <a:prstGeom prst="rect">
            <a:avLst/>
          </a:prstGeom>
          <a:noFill/>
        </p:spPr>
      </p:pic>
      <p:sp>
        <p:nvSpPr>
          <p:cNvPr id="10" name="Tekstvak 9">
            <a:extLst>
              <a:ext uri="{FF2B5EF4-FFF2-40B4-BE49-F238E27FC236}">
                <a16:creationId xmlns:a16="http://schemas.microsoft.com/office/drawing/2014/main" id="{64C03CDA-F72D-43C8-8BC9-79980A9A805C}"/>
              </a:ext>
            </a:extLst>
          </p:cNvPr>
          <p:cNvSpPr txBox="1"/>
          <p:nvPr/>
        </p:nvSpPr>
        <p:spPr>
          <a:xfrm>
            <a:off x="2028015" y="1014414"/>
            <a:ext cx="8129239" cy="5952912"/>
          </a:xfrm>
          <a:prstGeom prst="rect">
            <a:avLst/>
          </a:prstGeom>
          <a:noFill/>
        </p:spPr>
        <p:txBody>
          <a:bodyPr wrap="square">
            <a:spAutoFit/>
          </a:bodyPr>
          <a:lstStyle/>
          <a:p>
            <a:pPr marL="342900" lvl="0" indent="-342900">
              <a:spcBef>
                <a:spcPts val="500"/>
              </a:spcBef>
              <a:spcAft>
                <a:spcPts val="500"/>
              </a:spcAft>
              <a:buFont typeface="+mj-lt"/>
              <a:buAutoNum type="arabicPeriod"/>
            </a:pPr>
            <a:r>
              <a:rPr lang="nl-BE" sz="2400" dirty="0">
                <a:solidFill>
                  <a:srgbClr val="212529"/>
                </a:solidFill>
                <a:effectLst/>
                <a:latin typeface="Nunito"/>
                <a:ea typeface="Times New Roman" panose="02020603050405020304" pitchFamily="18" charset="0"/>
                <a:cs typeface="Segoe UI" panose="020B0502040204020203" pitchFamily="34" charset="0"/>
              </a:rPr>
              <a:t>Techniek</a:t>
            </a:r>
            <a:br>
              <a:rPr lang="nl-BE" sz="2400" dirty="0">
                <a:solidFill>
                  <a:srgbClr val="212529"/>
                </a:solidFill>
                <a:effectLst/>
                <a:latin typeface="Nunito"/>
                <a:ea typeface="Times New Roman" panose="02020603050405020304" pitchFamily="18" charset="0"/>
                <a:cs typeface="Segoe UI" panose="020B0502040204020203" pitchFamily="34" charset="0"/>
              </a:rPr>
            </a:br>
            <a:r>
              <a:rPr lang="nl-BE" sz="2400" b="1" dirty="0" err="1">
                <a:solidFill>
                  <a:srgbClr val="212529"/>
                </a:solidFill>
                <a:effectLst/>
                <a:latin typeface="Nunito"/>
                <a:ea typeface="Times New Roman" panose="02020603050405020304" pitchFamily="18" charset="0"/>
                <a:cs typeface="Segoe UI" panose="020B0502040204020203" pitchFamily="34" charset="0"/>
              </a:rPr>
              <a:t>Jonglage</a:t>
            </a:r>
            <a:r>
              <a:rPr lang="nl-BE" sz="2400" b="1" dirty="0">
                <a:solidFill>
                  <a:srgbClr val="212529"/>
                </a:solidFill>
                <a:effectLst/>
                <a:latin typeface="Nunito"/>
                <a:ea typeface="Times New Roman" panose="02020603050405020304" pitchFamily="18" charset="0"/>
                <a:cs typeface="Segoe UI" panose="020B0502040204020203" pitchFamily="34" charset="0"/>
              </a:rPr>
              <a:t>.</a:t>
            </a:r>
            <a:br>
              <a:rPr lang="nl-BE" sz="2400" dirty="0">
                <a:solidFill>
                  <a:srgbClr val="212529"/>
                </a:solidFill>
                <a:effectLst/>
                <a:latin typeface="Nunito"/>
                <a:ea typeface="Times New Roman" panose="02020603050405020304" pitchFamily="18" charset="0"/>
                <a:cs typeface="Segoe UI" panose="020B0502040204020203" pitchFamily="34" charset="0"/>
              </a:rPr>
            </a:br>
            <a:r>
              <a:rPr lang="nl-BE" sz="2400" dirty="0">
                <a:solidFill>
                  <a:srgbClr val="212529"/>
                </a:solidFill>
                <a:effectLst/>
                <a:latin typeface="Nunito"/>
                <a:ea typeface="Times New Roman" panose="02020603050405020304" pitchFamily="18" charset="0"/>
                <a:cs typeface="Segoe UI" panose="020B0502040204020203" pitchFamily="34" charset="0"/>
              </a:rPr>
              <a:t>Werk ook op de controle van een halfhoge bal, net zoals initiatie, maar breng dan een versnelling richting doel bij in de oefeningen.</a:t>
            </a:r>
            <a:endParaRPr lang="nl-BE"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400" dirty="0">
                <a:solidFill>
                  <a:srgbClr val="212529"/>
                </a:solidFill>
                <a:effectLst/>
                <a:latin typeface="Nunito"/>
                <a:ea typeface="Times New Roman" panose="02020603050405020304" pitchFamily="18" charset="0"/>
                <a:cs typeface="Segoe UI" panose="020B0502040204020203" pitchFamily="34" charset="0"/>
              </a:rPr>
              <a:t>Positiespel</a:t>
            </a:r>
            <a:br>
              <a:rPr lang="nl-BE" sz="2400" dirty="0">
                <a:solidFill>
                  <a:srgbClr val="212529"/>
                </a:solidFill>
                <a:effectLst/>
                <a:latin typeface="Nunito"/>
                <a:ea typeface="Times New Roman" panose="02020603050405020304" pitchFamily="18" charset="0"/>
                <a:cs typeface="Segoe UI" panose="020B0502040204020203" pitchFamily="34" charset="0"/>
              </a:rPr>
            </a:br>
            <a:r>
              <a:rPr lang="nl-BE" sz="2400" dirty="0">
                <a:solidFill>
                  <a:srgbClr val="212529"/>
                </a:solidFill>
                <a:effectLst/>
                <a:latin typeface="Nunito"/>
                <a:ea typeface="Times New Roman" panose="02020603050405020304" pitchFamily="18" charset="0"/>
                <a:cs typeface="Segoe UI" panose="020B0502040204020203" pitchFamily="34" charset="0"/>
              </a:rPr>
              <a:t>Eliminerende pas buitenkant voet. </a:t>
            </a:r>
            <a:br>
              <a:rPr lang="nl-BE" sz="2400" dirty="0">
                <a:solidFill>
                  <a:srgbClr val="212529"/>
                </a:solidFill>
                <a:effectLst/>
                <a:latin typeface="Nunito"/>
                <a:ea typeface="Times New Roman" panose="02020603050405020304" pitchFamily="18" charset="0"/>
                <a:cs typeface="Segoe UI" panose="020B0502040204020203" pitchFamily="34" charset="0"/>
              </a:rPr>
            </a:br>
            <a:r>
              <a:rPr lang="nl-BE" sz="2400" b="1" dirty="0">
                <a:solidFill>
                  <a:srgbClr val="212529"/>
                </a:solidFill>
                <a:effectLst/>
                <a:latin typeface="Nunito"/>
                <a:ea typeface="Times New Roman" panose="02020603050405020304" pitchFamily="18" charset="0"/>
                <a:cs typeface="Segoe UI" panose="020B0502040204020203" pitchFamily="34" charset="0"/>
              </a:rPr>
              <a:t>Driehoek </a:t>
            </a:r>
            <a:r>
              <a:rPr lang="nl-BE" sz="2400" dirty="0">
                <a:solidFill>
                  <a:srgbClr val="212529"/>
                </a:solidFill>
                <a:effectLst/>
                <a:latin typeface="Nunito"/>
                <a:ea typeface="Times New Roman" panose="02020603050405020304" pitchFamily="18" charset="0"/>
                <a:cs typeface="Segoe UI" panose="020B0502040204020203" pitchFamily="34" charset="0"/>
              </a:rPr>
              <a:t>en infiltratie zonder bal.</a:t>
            </a:r>
            <a:endParaRPr lang="nl-BE"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400" dirty="0">
                <a:solidFill>
                  <a:srgbClr val="212529"/>
                </a:solidFill>
                <a:effectLst/>
                <a:latin typeface="Nunito"/>
                <a:ea typeface="Times New Roman" panose="02020603050405020304" pitchFamily="18" charset="0"/>
                <a:cs typeface="Segoe UI" panose="020B0502040204020203" pitchFamily="34" charset="0"/>
              </a:rPr>
              <a:t>Spelsituatie</a:t>
            </a:r>
            <a:br>
              <a:rPr lang="nl-BE" sz="2400" dirty="0">
                <a:solidFill>
                  <a:srgbClr val="212529"/>
                </a:solidFill>
                <a:effectLst/>
                <a:latin typeface="Nunito"/>
                <a:ea typeface="Times New Roman" panose="02020603050405020304" pitchFamily="18" charset="0"/>
                <a:cs typeface="Segoe UI" panose="020B0502040204020203" pitchFamily="34" charset="0"/>
              </a:rPr>
            </a:br>
            <a:r>
              <a:rPr lang="nl-BE" sz="2400" dirty="0">
                <a:solidFill>
                  <a:srgbClr val="212529"/>
                </a:solidFill>
                <a:effectLst/>
                <a:latin typeface="Nunito"/>
                <a:ea typeface="Times New Roman" panose="02020603050405020304" pitchFamily="18" charset="0"/>
                <a:cs typeface="Segoe UI" panose="020B0502040204020203" pitchFamily="34" charset="0"/>
              </a:rPr>
              <a:t>Controle met rug naar doel en indirecte versnelling.</a:t>
            </a:r>
            <a:br>
              <a:rPr lang="nl-BE" sz="2400" dirty="0">
                <a:solidFill>
                  <a:srgbClr val="212529"/>
                </a:solidFill>
                <a:effectLst/>
                <a:latin typeface="Nunito"/>
                <a:ea typeface="Times New Roman" panose="02020603050405020304" pitchFamily="18" charset="0"/>
                <a:cs typeface="Segoe UI" panose="020B0502040204020203" pitchFamily="34" charset="0"/>
              </a:rPr>
            </a:br>
            <a:r>
              <a:rPr lang="nl-BE" sz="2400" b="1" dirty="0">
                <a:solidFill>
                  <a:srgbClr val="212529"/>
                </a:solidFill>
                <a:effectLst/>
                <a:latin typeface="Nunito"/>
                <a:ea typeface="Times New Roman" panose="02020603050405020304" pitchFamily="18" charset="0"/>
                <a:cs typeface="Segoe UI" panose="020B0502040204020203" pitchFamily="34" charset="0"/>
              </a:rPr>
              <a:t>Infiltratie zonder bal.</a:t>
            </a:r>
            <a:r>
              <a:rPr lang="nl-BE" sz="2400" dirty="0">
                <a:solidFill>
                  <a:srgbClr val="212529"/>
                </a:solidFill>
                <a:effectLst/>
                <a:latin typeface="Nunito"/>
                <a:ea typeface="Times New Roman" panose="02020603050405020304" pitchFamily="18" charset="0"/>
                <a:cs typeface="Segoe UI" panose="020B0502040204020203" pitchFamily="34" charset="0"/>
              </a:rPr>
              <a:t> </a:t>
            </a:r>
            <a:endParaRPr lang="nl-BE" sz="2400" dirty="0">
              <a:effectLst/>
              <a:latin typeface="Calibri" panose="020F0502020204030204" pitchFamily="34" charset="0"/>
              <a:ea typeface="Calibri" panose="020F0502020204030204" pitchFamily="34" charset="0"/>
              <a:cs typeface="Times New Roman" panose="02020603050405020304" pitchFamily="18" charset="0"/>
            </a:endParaRPr>
          </a:p>
          <a:p>
            <a:r>
              <a:rPr lang="nl-BE" sz="2400" dirty="0">
                <a:solidFill>
                  <a:srgbClr val="212529"/>
                </a:solidFill>
                <a:effectLst/>
                <a:latin typeface="Nunito"/>
                <a:ea typeface="Times New Roman" panose="02020603050405020304" pitchFamily="18" charset="0"/>
                <a:cs typeface="Segoe UI" panose="020B0502040204020203" pitchFamily="34" charset="0"/>
              </a:rPr>
              <a:t>Wedstrijdvorm</a:t>
            </a:r>
            <a:br>
              <a:rPr lang="nl-BE" sz="2400" dirty="0">
                <a:solidFill>
                  <a:srgbClr val="212529"/>
                </a:solidFill>
                <a:effectLst/>
                <a:latin typeface="Nunito"/>
                <a:ea typeface="Times New Roman" panose="02020603050405020304" pitchFamily="18" charset="0"/>
                <a:cs typeface="Segoe UI" panose="020B0502040204020203" pitchFamily="34" charset="0"/>
              </a:rPr>
            </a:br>
            <a:r>
              <a:rPr lang="nl-BE" sz="2400" dirty="0">
                <a:solidFill>
                  <a:srgbClr val="212529"/>
                </a:solidFill>
                <a:effectLst/>
                <a:latin typeface="Nunito"/>
                <a:ea typeface="Times New Roman" panose="02020603050405020304" pitchFamily="18" charset="0"/>
                <a:cs typeface="Segoe UI" panose="020B0502040204020203" pitchFamily="34" charset="0"/>
              </a:rPr>
              <a:t>Geef in je wedstrijdjes aandacht voor omschakeling. Werk op onmiddellijke </a:t>
            </a:r>
            <a:r>
              <a:rPr lang="nl-BE" sz="2400" b="1" dirty="0">
                <a:solidFill>
                  <a:srgbClr val="212529"/>
                </a:solidFill>
                <a:effectLst/>
                <a:latin typeface="Nunito"/>
                <a:ea typeface="Times New Roman" panose="02020603050405020304" pitchFamily="18" charset="0"/>
                <a:cs typeface="Segoe UI" panose="020B0502040204020203" pitchFamily="34" charset="0"/>
              </a:rPr>
              <a:t>balrecuperatie </a:t>
            </a:r>
            <a:r>
              <a:rPr lang="nl-BE" sz="2400" dirty="0">
                <a:solidFill>
                  <a:srgbClr val="212529"/>
                </a:solidFill>
                <a:effectLst/>
                <a:latin typeface="Nunito"/>
                <a:ea typeface="Times New Roman" panose="02020603050405020304" pitchFamily="18" charset="0"/>
                <a:cs typeface="Segoe UI" panose="020B0502040204020203" pitchFamily="34" charset="0"/>
              </a:rPr>
              <a:t>na de eerste controle van de tegenstander</a:t>
            </a:r>
            <a:endParaRPr lang="nl-BE" sz="2400" dirty="0"/>
          </a:p>
        </p:txBody>
      </p:sp>
    </p:spTree>
    <p:extLst>
      <p:ext uri="{BB962C8B-B14F-4D97-AF65-F5344CB8AC3E}">
        <p14:creationId xmlns:p14="http://schemas.microsoft.com/office/powerpoint/2010/main" val="33761002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95600" y="1772816"/>
            <a:ext cx="7272808" cy="369332"/>
          </a:xfrm>
          <a:prstGeom prst="rect">
            <a:avLst/>
          </a:prstGeom>
          <a:noFill/>
        </p:spPr>
        <p:txBody>
          <a:bodyPr wrap="square" rtlCol="0">
            <a:spAutoFit/>
          </a:bodyPr>
          <a:lstStyle/>
          <a:p>
            <a:pPr marL="755650" lvl="1" indent="-285750">
              <a:buFont typeface="Arial" pitchFamily="34" charset="0"/>
              <a:buChar char="•"/>
            </a:pPr>
            <a:endParaRPr lang="nl-BE" dirty="0">
              <a:solidFill>
                <a:schemeClr val="tx2">
                  <a:lumMod val="75000"/>
                </a:schemeClr>
              </a:solidFill>
              <a:latin typeface="Calibri Light" pitchFamily="34" charset="0"/>
            </a:endParaRPr>
          </a:p>
        </p:txBody>
      </p:sp>
      <p:sp>
        <p:nvSpPr>
          <p:cNvPr id="7" name="Rectangle 6"/>
          <p:cNvSpPr/>
          <p:nvPr/>
        </p:nvSpPr>
        <p:spPr>
          <a:xfrm>
            <a:off x="1973766" y="307956"/>
            <a:ext cx="8129239" cy="5259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a:spcAft>
                <a:spcPts val="500"/>
              </a:spcAft>
            </a:pPr>
            <a:r>
              <a:rPr lang="nl-BE" sz="3200" b="1" dirty="0">
                <a:solidFill>
                  <a:schemeClr val="bg1"/>
                </a:solidFill>
                <a:effectLst/>
                <a:latin typeface="Roboto"/>
                <a:ea typeface="Times New Roman" panose="02020603050405020304" pitchFamily="18" charset="0"/>
                <a:cs typeface="Arial" panose="020B0604020202020204" pitchFamily="34" charset="0"/>
              </a:rPr>
              <a:t>U13 - U15 (formatie)</a:t>
            </a:r>
            <a:endParaRPr lang="nl-BE"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Afbeelding 7">
            <a:extLst>
              <a:ext uri="{FF2B5EF4-FFF2-40B4-BE49-F238E27FC236}">
                <a16:creationId xmlns:a16="http://schemas.microsoft.com/office/drawing/2014/main" id="{974F656E-9746-BD41-AAF4-3A6F897FEA3B}"/>
              </a:ext>
            </a:extLst>
          </p:cNvPr>
          <p:cNvPicPr>
            <a:picLocks/>
          </p:cNvPicPr>
          <p:nvPr/>
        </p:nvPicPr>
        <p:blipFill>
          <a:blip r:embed="rId2">
            <a:extLst>
              <a:ext uri="{BEBA8EAE-BF5A-486C-A8C5-ECC9F3942E4B}">
                <a14:imgProps xmlns:a14="http://schemas.microsoft.com/office/drawing/2010/main">
                  <a14:imgLayer>
                    <a14:imgEffect>
                      <a14:saturation sat="114000"/>
                    </a14:imgEffect>
                  </a14:imgLayer>
                </a14:imgProps>
              </a:ext>
            </a:extLst>
          </a:blip>
          <a:stretch>
            <a:fillRect/>
          </a:stretch>
        </p:blipFill>
        <p:spPr>
          <a:xfrm>
            <a:off x="47517" y="12270"/>
            <a:ext cx="936000" cy="1117360"/>
          </a:xfrm>
          <a:prstGeom prst="rect">
            <a:avLst/>
          </a:prstGeom>
          <a:noFill/>
        </p:spPr>
      </p:pic>
      <p:pic>
        <p:nvPicPr>
          <p:cNvPr id="9" name="Afbeelding 8">
            <a:extLst>
              <a:ext uri="{FF2B5EF4-FFF2-40B4-BE49-F238E27FC236}">
                <a16:creationId xmlns:a16="http://schemas.microsoft.com/office/drawing/2014/main" id="{FFC0DF1A-32C5-DC4B-AF06-33F260CF9691}"/>
              </a:ext>
            </a:extLst>
          </p:cNvPr>
          <p:cNvPicPr>
            <a:picLocks/>
          </p:cNvPicPr>
          <p:nvPr/>
        </p:nvPicPr>
        <p:blipFill>
          <a:blip r:embed="rId2">
            <a:extLst>
              <a:ext uri="{BEBA8EAE-BF5A-486C-A8C5-ECC9F3942E4B}">
                <a14:imgProps xmlns:a14="http://schemas.microsoft.com/office/drawing/2010/main">
                  <a14:imgLayer>
                    <a14:imgEffect>
                      <a14:saturation sat="114000"/>
                    </a14:imgEffect>
                  </a14:imgLayer>
                </a14:imgProps>
              </a:ext>
            </a:extLst>
          </a:blip>
          <a:stretch>
            <a:fillRect/>
          </a:stretch>
        </p:blipFill>
        <p:spPr>
          <a:xfrm>
            <a:off x="11147503" y="129468"/>
            <a:ext cx="936000" cy="1117360"/>
          </a:xfrm>
          <a:prstGeom prst="rect">
            <a:avLst/>
          </a:prstGeom>
          <a:noFill/>
        </p:spPr>
      </p:pic>
      <p:sp>
        <p:nvSpPr>
          <p:cNvPr id="10" name="Tekstvak 9">
            <a:extLst>
              <a:ext uri="{FF2B5EF4-FFF2-40B4-BE49-F238E27FC236}">
                <a16:creationId xmlns:a16="http://schemas.microsoft.com/office/drawing/2014/main" id="{EFD87D50-81BA-41A9-AA96-13C793A5C55F}"/>
              </a:ext>
            </a:extLst>
          </p:cNvPr>
          <p:cNvSpPr txBox="1"/>
          <p:nvPr/>
        </p:nvSpPr>
        <p:spPr>
          <a:xfrm>
            <a:off x="2155372" y="1196067"/>
            <a:ext cx="8588828" cy="5280933"/>
          </a:xfrm>
          <a:prstGeom prst="rect">
            <a:avLst/>
          </a:prstGeom>
          <a:noFill/>
        </p:spPr>
        <p:txBody>
          <a:bodyPr wrap="square">
            <a:spAutoFit/>
          </a:bodyPr>
          <a:lstStyle/>
          <a:p>
            <a:pPr marL="342900" lvl="0" indent="-342900">
              <a:spcBef>
                <a:spcPts val="500"/>
              </a:spcBef>
              <a:spcAft>
                <a:spcPts val="500"/>
              </a:spcAft>
              <a:buFont typeface="+mj-lt"/>
              <a:buAutoNum type="arabicPeriod"/>
            </a:pPr>
            <a:r>
              <a:rPr lang="nl-BE" sz="2800" dirty="0">
                <a:solidFill>
                  <a:srgbClr val="212529"/>
                </a:solidFill>
                <a:effectLst/>
                <a:latin typeface="Nunito"/>
                <a:ea typeface="Times New Roman" panose="02020603050405020304" pitchFamily="18" charset="0"/>
                <a:cs typeface="Segoe UI" panose="020B0502040204020203" pitchFamily="34" charset="0"/>
              </a:rPr>
              <a:t>Techniek</a:t>
            </a:r>
            <a:br>
              <a:rPr lang="nl-BE" sz="2800" dirty="0">
                <a:solidFill>
                  <a:srgbClr val="212529"/>
                </a:solidFill>
                <a:effectLst/>
                <a:latin typeface="Nunito"/>
                <a:ea typeface="Times New Roman" panose="02020603050405020304" pitchFamily="18" charset="0"/>
                <a:cs typeface="Segoe UI" panose="020B0502040204020203" pitchFamily="34" charset="0"/>
              </a:rPr>
            </a:br>
            <a:r>
              <a:rPr lang="nl-BE" sz="2800" dirty="0">
                <a:solidFill>
                  <a:srgbClr val="212529"/>
                </a:solidFill>
                <a:effectLst/>
                <a:latin typeface="Nunito"/>
                <a:ea typeface="Times New Roman" panose="02020603050405020304" pitchFamily="18" charset="0"/>
                <a:cs typeface="Segoe UI" panose="020B0502040204020203" pitchFamily="34" charset="0"/>
              </a:rPr>
              <a:t>Aandacht voor efficiëntie bij afwerking.</a:t>
            </a:r>
            <a:endParaRPr lang="nl-BE" sz="28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800" dirty="0">
                <a:solidFill>
                  <a:srgbClr val="212529"/>
                </a:solidFill>
                <a:effectLst/>
                <a:latin typeface="Nunito"/>
                <a:ea typeface="Times New Roman" panose="02020603050405020304" pitchFamily="18" charset="0"/>
                <a:cs typeface="Segoe UI" panose="020B0502040204020203" pitchFamily="34" charset="0"/>
              </a:rPr>
              <a:t>Positiespel</a:t>
            </a:r>
            <a:br>
              <a:rPr lang="nl-BE" sz="2800" dirty="0">
                <a:solidFill>
                  <a:srgbClr val="212529"/>
                </a:solidFill>
                <a:effectLst/>
                <a:latin typeface="Nunito"/>
                <a:ea typeface="Times New Roman" panose="02020603050405020304" pitchFamily="18" charset="0"/>
                <a:cs typeface="Segoe UI" panose="020B0502040204020203" pitchFamily="34" charset="0"/>
              </a:rPr>
            </a:br>
            <a:r>
              <a:rPr lang="nl-BE" sz="2800" dirty="0">
                <a:solidFill>
                  <a:srgbClr val="212529"/>
                </a:solidFill>
                <a:effectLst/>
                <a:latin typeface="Nunito"/>
                <a:ea typeface="Times New Roman" panose="02020603050405020304" pitchFamily="18" charset="0"/>
                <a:cs typeface="Segoe UI" panose="020B0502040204020203" pitchFamily="34" charset="0"/>
              </a:rPr>
              <a:t>Aanleren van de verschillende soorten </a:t>
            </a:r>
            <a:r>
              <a:rPr lang="nl-BE" sz="2800" b="1" dirty="0">
                <a:solidFill>
                  <a:srgbClr val="212529"/>
                </a:solidFill>
                <a:effectLst/>
                <a:latin typeface="Nunito"/>
                <a:ea typeface="Times New Roman" panose="02020603050405020304" pitchFamily="18" charset="0"/>
                <a:cs typeface="Segoe UI" panose="020B0502040204020203" pitchFamily="34" charset="0"/>
              </a:rPr>
              <a:t>pressing </a:t>
            </a:r>
            <a:r>
              <a:rPr lang="nl-BE" sz="2800" dirty="0">
                <a:solidFill>
                  <a:srgbClr val="212529"/>
                </a:solidFill>
                <a:effectLst/>
                <a:latin typeface="Nunito"/>
                <a:ea typeface="Times New Roman" panose="02020603050405020304" pitchFamily="18" charset="0"/>
                <a:cs typeface="Segoe UI" panose="020B0502040204020203" pitchFamily="34" charset="0"/>
              </a:rPr>
              <a:t>(horizontaal – verticaal – diagonaal).</a:t>
            </a:r>
            <a:endParaRPr lang="nl-BE"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800" dirty="0">
                <a:solidFill>
                  <a:srgbClr val="212529"/>
                </a:solidFill>
                <a:effectLst/>
                <a:latin typeface="Nunito"/>
                <a:ea typeface="Times New Roman" panose="02020603050405020304" pitchFamily="18" charset="0"/>
                <a:cs typeface="Segoe UI" panose="020B0502040204020203" pitchFamily="34" charset="0"/>
              </a:rPr>
              <a:t>Spelsituatie</a:t>
            </a:r>
            <a:br>
              <a:rPr lang="nl-BE" sz="2800" dirty="0">
                <a:solidFill>
                  <a:srgbClr val="212529"/>
                </a:solidFill>
                <a:effectLst/>
                <a:latin typeface="Nunito"/>
                <a:ea typeface="Times New Roman" panose="02020603050405020304" pitchFamily="18" charset="0"/>
                <a:cs typeface="Segoe UI" panose="020B0502040204020203" pitchFamily="34" charset="0"/>
              </a:rPr>
            </a:br>
            <a:r>
              <a:rPr lang="nl-BE" sz="2800" b="1" dirty="0">
                <a:solidFill>
                  <a:srgbClr val="212529"/>
                </a:solidFill>
                <a:effectLst/>
                <a:latin typeface="Nunito"/>
                <a:ea typeface="Times New Roman" panose="02020603050405020304" pitchFamily="18" charset="0"/>
                <a:cs typeface="Segoe UI" panose="020B0502040204020203" pitchFamily="34" charset="0"/>
              </a:rPr>
              <a:t>Omschakeling</a:t>
            </a:r>
            <a:r>
              <a:rPr lang="nl-BE" sz="2800" dirty="0">
                <a:solidFill>
                  <a:srgbClr val="212529"/>
                </a:solidFill>
                <a:effectLst/>
                <a:latin typeface="Nunito"/>
                <a:ea typeface="Times New Roman" panose="02020603050405020304" pitchFamily="18" charset="0"/>
                <a:cs typeface="Segoe UI" panose="020B0502040204020203" pitchFamily="34" charset="0"/>
              </a:rPr>
              <a:t> balverlies-balbezit.</a:t>
            </a:r>
            <a:br>
              <a:rPr lang="nl-BE" sz="2800" dirty="0">
                <a:solidFill>
                  <a:srgbClr val="212529"/>
                </a:solidFill>
                <a:effectLst/>
                <a:latin typeface="Nunito"/>
                <a:ea typeface="Times New Roman" panose="02020603050405020304" pitchFamily="18" charset="0"/>
                <a:cs typeface="Segoe UI" panose="020B0502040204020203" pitchFamily="34" charset="0"/>
              </a:rPr>
            </a:br>
            <a:r>
              <a:rPr lang="nl-BE" sz="2800" dirty="0">
                <a:solidFill>
                  <a:srgbClr val="212529"/>
                </a:solidFill>
                <a:effectLst/>
                <a:latin typeface="Nunito"/>
                <a:ea typeface="Times New Roman" panose="02020603050405020304" pitchFamily="18" charset="0"/>
                <a:cs typeface="Segoe UI" panose="020B0502040204020203" pitchFamily="34" charset="0"/>
              </a:rPr>
              <a:t>Omschakeling balbezit -balverlies.</a:t>
            </a:r>
            <a:endParaRPr lang="nl-BE"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800" dirty="0">
                <a:solidFill>
                  <a:srgbClr val="212529"/>
                </a:solidFill>
                <a:effectLst/>
                <a:latin typeface="Nunito"/>
                <a:ea typeface="Times New Roman" panose="02020603050405020304" pitchFamily="18" charset="0"/>
                <a:cs typeface="Segoe UI" panose="020B0502040204020203" pitchFamily="34" charset="0"/>
              </a:rPr>
              <a:t>Wedstrijdvorm</a:t>
            </a:r>
            <a:br>
              <a:rPr lang="nl-BE" sz="2800" dirty="0">
                <a:solidFill>
                  <a:srgbClr val="212529"/>
                </a:solidFill>
                <a:effectLst/>
                <a:latin typeface="Nunito"/>
                <a:ea typeface="Times New Roman" panose="02020603050405020304" pitchFamily="18" charset="0"/>
                <a:cs typeface="Segoe UI" panose="020B0502040204020203" pitchFamily="34" charset="0"/>
              </a:rPr>
            </a:br>
            <a:r>
              <a:rPr lang="nl-BE" sz="2800" b="1" dirty="0">
                <a:solidFill>
                  <a:srgbClr val="212529"/>
                </a:solidFill>
                <a:effectLst/>
                <a:latin typeface="Nunito"/>
                <a:ea typeface="Times New Roman" panose="02020603050405020304" pitchFamily="18" charset="0"/>
                <a:cs typeface="Segoe UI" panose="020B0502040204020203" pitchFamily="34" charset="0"/>
              </a:rPr>
              <a:t>In &amp; out</a:t>
            </a:r>
            <a:r>
              <a:rPr lang="nl-BE" sz="2800" dirty="0">
                <a:solidFill>
                  <a:srgbClr val="212529"/>
                </a:solidFill>
                <a:effectLst/>
                <a:latin typeface="Nunito"/>
                <a:ea typeface="Times New Roman" panose="02020603050405020304" pitchFamily="18" charset="0"/>
                <a:cs typeface="Segoe UI" panose="020B0502040204020203" pitchFamily="34" charset="0"/>
              </a:rPr>
              <a:t> 16 meter + </a:t>
            </a:r>
            <a:r>
              <a:rPr lang="nl-BE" sz="2800" dirty="0" err="1">
                <a:solidFill>
                  <a:srgbClr val="212529"/>
                </a:solidFill>
                <a:effectLst/>
                <a:latin typeface="Nunito"/>
                <a:ea typeface="Times New Roman" panose="02020603050405020304" pitchFamily="18" charset="0"/>
                <a:cs typeface="Segoe UI" panose="020B0502040204020203" pitchFamily="34" charset="0"/>
              </a:rPr>
              <a:t>fall</a:t>
            </a:r>
            <a:r>
              <a:rPr lang="nl-BE" sz="2800" dirty="0">
                <a:solidFill>
                  <a:srgbClr val="212529"/>
                </a:solidFill>
                <a:effectLst/>
                <a:latin typeface="Nunito"/>
                <a:ea typeface="Times New Roman" panose="02020603050405020304" pitchFamily="18" charset="0"/>
                <a:cs typeface="Segoe UI" panose="020B0502040204020203" pitchFamily="34" charset="0"/>
              </a:rPr>
              <a:t> back (remmend wijken).</a:t>
            </a:r>
            <a:endParaRPr lang="nl-BE" sz="2800" dirty="0">
              <a:effectLst/>
              <a:latin typeface="Calibri" panose="020F0502020204030204" pitchFamily="34" charset="0"/>
              <a:ea typeface="Calibri" panose="020F0502020204030204" pitchFamily="34" charset="0"/>
              <a:cs typeface="Times New Roman" panose="02020603050405020304" pitchFamily="18" charset="0"/>
            </a:endParaRPr>
          </a:p>
          <a:p>
            <a:pPr marL="457200">
              <a:spcAft>
                <a:spcPts val="500"/>
              </a:spcAft>
            </a:pPr>
            <a:r>
              <a:rPr lang="en-GB" sz="2800" dirty="0">
                <a:effectLst/>
                <a:latin typeface="Calibri" panose="020F0502020204030204" pitchFamily="34" charset="0"/>
                <a:ea typeface="Calibri" panose="020F0502020204030204" pitchFamily="34" charset="0"/>
                <a:cs typeface="Times New Roman" panose="02020603050405020304" pitchFamily="18" charset="0"/>
              </a:rPr>
              <a:t> </a:t>
            </a:r>
            <a:endParaRPr lang="nl-BE"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90570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69706" y="1916833"/>
            <a:ext cx="8352928" cy="646331"/>
          </a:xfrm>
          <a:prstGeom prst="rect">
            <a:avLst/>
          </a:prstGeom>
        </p:spPr>
        <p:txBody>
          <a:bodyPr wrap="square">
            <a:spAutoFit/>
          </a:bodyPr>
          <a:lstStyle/>
          <a:p>
            <a:endParaRPr lang="en-GB" dirty="0"/>
          </a:p>
          <a:p>
            <a:r>
              <a:rPr lang="nl-NL" dirty="0"/>
              <a:t> </a:t>
            </a:r>
            <a:endParaRPr lang="en-GB" dirty="0"/>
          </a:p>
        </p:txBody>
      </p:sp>
      <p:sp>
        <p:nvSpPr>
          <p:cNvPr id="3" name="Rectangle 2"/>
          <p:cNvSpPr/>
          <p:nvPr/>
        </p:nvSpPr>
        <p:spPr>
          <a:xfrm>
            <a:off x="1676738" y="1700808"/>
            <a:ext cx="8712968" cy="369332"/>
          </a:xfrm>
          <a:prstGeom prst="rect">
            <a:avLst/>
          </a:prstGeom>
        </p:spPr>
        <p:txBody>
          <a:bodyPr wrap="square">
            <a:spAutoFit/>
          </a:bodyPr>
          <a:lstStyle/>
          <a:p>
            <a:r>
              <a:rPr lang="nl-NL" dirty="0"/>
              <a:t> </a:t>
            </a:r>
            <a:endParaRPr lang="en-GB" dirty="0"/>
          </a:p>
        </p:txBody>
      </p:sp>
      <p:sp>
        <p:nvSpPr>
          <p:cNvPr id="4" name="Rectangle 3"/>
          <p:cNvSpPr/>
          <p:nvPr/>
        </p:nvSpPr>
        <p:spPr>
          <a:xfrm>
            <a:off x="1909892" y="869865"/>
            <a:ext cx="8401322" cy="584775"/>
          </a:xfrm>
          <a:prstGeom prst="rect">
            <a:avLst/>
          </a:prstGeom>
        </p:spPr>
        <p:txBody>
          <a:bodyPr wrap="square">
            <a:spAutoFit/>
          </a:bodyPr>
          <a:lstStyle/>
          <a:p>
            <a:endParaRPr lang="en-GB" sz="1600" dirty="0">
              <a:solidFill>
                <a:srgbClr val="7030A0"/>
              </a:solidFill>
            </a:endParaRPr>
          </a:p>
          <a:p>
            <a:endParaRPr lang="en-GB" sz="1600" dirty="0"/>
          </a:p>
        </p:txBody>
      </p:sp>
      <p:sp>
        <p:nvSpPr>
          <p:cNvPr id="8" name="Rectangle 7"/>
          <p:cNvSpPr/>
          <p:nvPr/>
        </p:nvSpPr>
        <p:spPr>
          <a:xfrm>
            <a:off x="1909892" y="297555"/>
            <a:ext cx="8352928" cy="5259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3200" dirty="0">
                <a:solidFill>
                  <a:schemeClr val="bg1"/>
                </a:solidFill>
              </a:rPr>
              <a:t>CYCLUS 5</a:t>
            </a:r>
          </a:p>
        </p:txBody>
      </p:sp>
      <p:pic>
        <p:nvPicPr>
          <p:cNvPr id="6" name="Afbeelding 5">
            <a:extLst>
              <a:ext uri="{FF2B5EF4-FFF2-40B4-BE49-F238E27FC236}">
                <a16:creationId xmlns:a16="http://schemas.microsoft.com/office/drawing/2014/main" id="{00F4848A-A682-9A4D-BE1E-31FEFDA422BB}"/>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153" y="12270"/>
            <a:ext cx="936000" cy="1117360"/>
          </a:xfrm>
          <a:prstGeom prst="rect">
            <a:avLst/>
          </a:prstGeom>
          <a:noFill/>
        </p:spPr>
      </p:pic>
      <p:pic>
        <p:nvPicPr>
          <p:cNvPr id="7" name="Afbeelding 6">
            <a:extLst>
              <a:ext uri="{FF2B5EF4-FFF2-40B4-BE49-F238E27FC236}">
                <a16:creationId xmlns:a16="http://schemas.microsoft.com/office/drawing/2014/main" id="{F97F6D8A-7936-CB4F-8DC1-32E75BF2E2EE}"/>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225559" y="12270"/>
            <a:ext cx="936000" cy="1117360"/>
          </a:xfrm>
          <a:prstGeom prst="rect">
            <a:avLst/>
          </a:prstGeom>
          <a:noFill/>
        </p:spPr>
      </p:pic>
      <p:sp>
        <p:nvSpPr>
          <p:cNvPr id="9" name="Tekstvak 8">
            <a:extLst>
              <a:ext uri="{FF2B5EF4-FFF2-40B4-BE49-F238E27FC236}">
                <a16:creationId xmlns:a16="http://schemas.microsoft.com/office/drawing/2014/main" id="{09C6E882-6191-4439-B37B-48A47AE201D9}"/>
              </a:ext>
            </a:extLst>
          </p:cNvPr>
          <p:cNvSpPr txBox="1"/>
          <p:nvPr/>
        </p:nvSpPr>
        <p:spPr>
          <a:xfrm>
            <a:off x="1880786" y="881628"/>
            <a:ext cx="8508919" cy="5844677"/>
          </a:xfrm>
          <a:prstGeom prst="rect">
            <a:avLst/>
          </a:prstGeom>
          <a:noFill/>
        </p:spPr>
        <p:txBody>
          <a:bodyPr wrap="square">
            <a:spAutoFit/>
          </a:bodyPr>
          <a:lstStyle/>
          <a:p>
            <a:pPr marL="457200" algn="ctr">
              <a:spcAft>
                <a:spcPts val="500"/>
              </a:spcAft>
            </a:pPr>
            <a:r>
              <a:rPr lang="nl-BE" sz="4000" b="1" dirty="0">
                <a:solidFill>
                  <a:srgbClr val="555555"/>
                </a:solidFill>
                <a:effectLst/>
                <a:latin typeface="Nunito"/>
                <a:ea typeface="Times New Roman" panose="02020603050405020304" pitchFamily="18" charset="0"/>
                <a:cs typeface="Segoe UI" panose="020B0502040204020203" pitchFamily="34" charset="0"/>
              </a:rPr>
              <a:t> </a:t>
            </a:r>
            <a:r>
              <a:rPr lang="nl-BE" sz="4000" dirty="0">
                <a:solidFill>
                  <a:srgbClr val="555555"/>
                </a:solidFill>
                <a:effectLst/>
                <a:latin typeface="Nunito"/>
                <a:ea typeface="Times New Roman" panose="02020603050405020304" pitchFamily="18" charset="0"/>
                <a:cs typeface="Segoe UI" panose="020B0502040204020203" pitchFamily="34" charset="0"/>
              </a:rPr>
              <a:t>maart-april</a:t>
            </a:r>
            <a:r>
              <a:rPr lang="nl-BE" sz="4000" b="1" dirty="0">
                <a:solidFill>
                  <a:srgbClr val="555555"/>
                </a:solidFill>
                <a:effectLst/>
                <a:latin typeface="Nunito"/>
                <a:ea typeface="Times New Roman" panose="02020603050405020304" pitchFamily="18" charset="0"/>
                <a:cs typeface="Segoe UI" panose="020B0502040204020203" pitchFamily="34" charset="0"/>
              </a:rPr>
              <a:t> </a:t>
            </a:r>
            <a:endParaRPr lang="nl-BE" sz="4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ctr">
              <a:spcAft>
                <a:spcPts val="500"/>
              </a:spcAft>
              <a:buSzPts val="1000"/>
              <a:buFont typeface="Wingdings" panose="05000000000000000000" pitchFamily="2" charset="2"/>
              <a:buChar char=""/>
              <a:tabLst>
                <a:tab pos="457200" algn="l"/>
              </a:tabLst>
            </a:pPr>
            <a:r>
              <a:rPr lang="nl-BE" sz="4000" dirty="0">
                <a:solidFill>
                  <a:srgbClr val="212529"/>
                </a:solidFill>
                <a:effectLst/>
                <a:latin typeface="Nunito"/>
                <a:ea typeface="Times New Roman" panose="02020603050405020304" pitchFamily="18" charset="0"/>
                <a:cs typeface="Segoe UI" panose="020B0502040204020203" pitchFamily="34" charset="0"/>
              </a:rPr>
              <a:t>Coaching op het veld </a:t>
            </a:r>
            <a:endParaRPr lang="nl-BE" sz="4000" dirty="0">
              <a:effectLst/>
              <a:latin typeface="Symbol" panose="05050102010706020507" pitchFamily="18" charset="2"/>
              <a:ea typeface="Calibri" panose="020F0502020204030204" pitchFamily="34" charset="0"/>
              <a:cs typeface="Times New Roman" panose="02020603050405020304" pitchFamily="18" charset="0"/>
            </a:endParaRPr>
          </a:p>
          <a:p>
            <a:pPr marL="342900" lvl="0" indent="-342900" algn="ctr">
              <a:spcAft>
                <a:spcPts val="500"/>
              </a:spcAft>
              <a:buSzPts val="1000"/>
              <a:buFont typeface="Wingdings" panose="05000000000000000000" pitchFamily="2" charset="2"/>
              <a:buChar char=""/>
              <a:tabLst>
                <a:tab pos="457200" algn="l"/>
              </a:tabLst>
            </a:pPr>
            <a:r>
              <a:rPr lang="nl-BE" sz="4000" dirty="0">
                <a:solidFill>
                  <a:srgbClr val="212529"/>
                </a:solidFill>
                <a:effectLst/>
                <a:latin typeface="Nunito"/>
                <a:ea typeface="Times New Roman" panose="02020603050405020304" pitchFamily="18" charset="0"/>
                <a:cs typeface="Segoe UI" panose="020B0502040204020203" pitchFamily="34" charset="0"/>
              </a:rPr>
              <a:t>2 tijden voetbal </a:t>
            </a:r>
            <a:endParaRPr lang="nl-BE" sz="4000" dirty="0">
              <a:effectLst/>
              <a:latin typeface="Symbol" panose="05050102010706020507" pitchFamily="18" charset="2"/>
              <a:ea typeface="Calibri" panose="020F0502020204030204" pitchFamily="34" charset="0"/>
              <a:cs typeface="Times New Roman" panose="02020603050405020304" pitchFamily="18" charset="0"/>
            </a:endParaRPr>
          </a:p>
          <a:p>
            <a:pPr marL="342900" lvl="0" indent="-342900" algn="ctr">
              <a:spcAft>
                <a:spcPts val="500"/>
              </a:spcAft>
              <a:buSzPts val="1000"/>
              <a:buFont typeface="Wingdings" panose="05000000000000000000" pitchFamily="2" charset="2"/>
              <a:buChar char=""/>
              <a:tabLst>
                <a:tab pos="457200" algn="l"/>
              </a:tabLst>
            </a:pPr>
            <a:r>
              <a:rPr lang="nl-BE" sz="4000" dirty="0">
                <a:solidFill>
                  <a:srgbClr val="212529"/>
                </a:solidFill>
                <a:effectLst/>
                <a:latin typeface="Nunito"/>
                <a:ea typeface="Times New Roman" panose="02020603050405020304" pitchFamily="18" charset="0"/>
                <a:cs typeface="Segoe UI" panose="020B0502040204020203" pitchFamily="34" charset="0"/>
              </a:rPr>
              <a:t>Verdedigend intimideren en breed maken </a:t>
            </a:r>
            <a:endParaRPr lang="nl-BE" sz="4000" dirty="0">
              <a:effectLst/>
              <a:latin typeface="Symbol" panose="05050102010706020507" pitchFamily="18" charset="2"/>
              <a:ea typeface="Calibri" panose="020F0502020204030204" pitchFamily="34" charset="0"/>
              <a:cs typeface="Times New Roman" panose="02020603050405020304" pitchFamily="18" charset="0"/>
            </a:endParaRPr>
          </a:p>
          <a:p>
            <a:pPr marL="342900" lvl="0" indent="-342900" algn="ctr">
              <a:spcAft>
                <a:spcPts val="500"/>
              </a:spcAft>
              <a:buSzPts val="1000"/>
              <a:buFont typeface="Wingdings" panose="05000000000000000000" pitchFamily="2" charset="2"/>
              <a:buChar char=""/>
              <a:tabLst>
                <a:tab pos="457200" algn="l"/>
              </a:tabLst>
            </a:pPr>
            <a:r>
              <a:rPr lang="nl-BE" sz="4000" dirty="0">
                <a:solidFill>
                  <a:srgbClr val="212529"/>
                </a:solidFill>
                <a:effectLst/>
                <a:latin typeface="Nunito"/>
                <a:ea typeface="Times New Roman" panose="02020603050405020304" pitchFamily="18" charset="0"/>
                <a:cs typeface="Segoe UI" panose="020B0502040204020203" pitchFamily="34" charset="0"/>
              </a:rPr>
              <a:t>Infiltratie </a:t>
            </a:r>
            <a:endParaRPr lang="nl-BE" sz="4000" dirty="0">
              <a:effectLst/>
              <a:latin typeface="Symbol" panose="05050102010706020507" pitchFamily="18" charset="2"/>
              <a:ea typeface="Calibri" panose="020F0502020204030204" pitchFamily="34" charset="0"/>
              <a:cs typeface="Times New Roman" panose="02020603050405020304" pitchFamily="18" charset="0"/>
            </a:endParaRPr>
          </a:p>
          <a:p>
            <a:pPr marL="457200" algn="ctr">
              <a:spcAft>
                <a:spcPts val="500"/>
              </a:spcAft>
            </a:pPr>
            <a:r>
              <a:rPr lang="nl-BE" sz="4000" dirty="0">
                <a:solidFill>
                  <a:srgbClr val="404040"/>
                </a:solidFill>
                <a:effectLst/>
                <a:latin typeface="Nunito"/>
                <a:ea typeface="Times New Roman" panose="02020603050405020304" pitchFamily="18" charset="0"/>
                <a:cs typeface="Segoe UI" panose="020B0502040204020203" pitchFamily="34" charset="0"/>
                <a:hlinkClick r:id="rId4"/>
              </a:rPr>
              <a:t>Ontdek cyclus 5</a:t>
            </a:r>
            <a:r>
              <a:rPr lang="nl-BE" sz="4000" dirty="0">
                <a:solidFill>
                  <a:srgbClr val="212529"/>
                </a:solidFill>
                <a:effectLst/>
                <a:latin typeface="Nunito"/>
                <a:ea typeface="Times New Roman" panose="02020603050405020304" pitchFamily="18" charset="0"/>
                <a:cs typeface="Segoe UI" panose="020B0502040204020203" pitchFamily="34" charset="0"/>
              </a:rPr>
              <a:t> </a:t>
            </a:r>
            <a:endParaRPr lang="nl-BE" sz="40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ctr">
              <a:lnSpc>
                <a:spcPct val="200000"/>
              </a:lnSpc>
              <a:spcAft>
                <a:spcPts val="500"/>
              </a:spcAft>
            </a:pPr>
            <a:endParaRPr lang="nl-BE" sz="4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315848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69706" y="1916833"/>
            <a:ext cx="8352928" cy="646331"/>
          </a:xfrm>
          <a:prstGeom prst="rect">
            <a:avLst/>
          </a:prstGeom>
        </p:spPr>
        <p:txBody>
          <a:bodyPr wrap="square">
            <a:spAutoFit/>
          </a:bodyPr>
          <a:lstStyle/>
          <a:p>
            <a:endParaRPr lang="en-GB" dirty="0"/>
          </a:p>
          <a:p>
            <a:r>
              <a:rPr lang="nl-NL" dirty="0"/>
              <a:t> </a:t>
            </a:r>
            <a:endParaRPr lang="en-GB" dirty="0"/>
          </a:p>
        </p:txBody>
      </p:sp>
      <p:sp>
        <p:nvSpPr>
          <p:cNvPr id="3" name="Rectangle 2"/>
          <p:cNvSpPr/>
          <p:nvPr/>
        </p:nvSpPr>
        <p:spPr>
          <a:xfrm>
            <a:off x="1676738" y="1700808"/>
            <a:ext cx="8712968" cy="369332"/>
          </a:xfrm>
          <a:prstGeom prst="rect">
            <a:avLst/>
          </a:prstGeom>
        </p:spPr>
        <p:txBody>
          <a:bodyPr wrap="square">
            <a:spAutoFit/>
          </a:bodyPr>
          <a:lstStyle/>
          <a:p>
            <a:r>
              <a:rPr lang="nl-NL" dirty="0"/>
              <a:t> </a:t>
            </a:r>
            <a:endParaRPr lang="en-GB" dirty="0"/>
          </a:p>
        </p:txBody>
      </p:sp>
      <p:sp>
        <p:nvSpPr>
          <p:cNvPr id="8" name="Rectangle 7"/>
          <p:cNvSpPr/>
          <p:nvPr/>
        </p:nvSpPr>
        <p:spPr>
          <a:xfrm>
            <a:off x="1869706" y="26312"/>
            <a:ext cx="8352927" cy="5259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a:spcBef>
                <a:spcPts val="805"/>
              </a:spcBef>
              <a:spcAft>
                <a:spcPts val="805"/>
              </a:spcAft>
            </a:pPr>
            <a:r>
              <a:rPr lang="nl-BE" sz="3200" b="1" kern="150" dirty="0">
                <a:solidFill>
                  <a:schemeClr val="bg1"/>
                </a:solidFill>
                <a:effectLst/>
                <a:latin typeface="Roboto"/>
                <a:ea typeface="Times New Roman" panose="02020603050405020304" pitchFamily="18" charset="0"/>
                <a:cs typeface="Arial" panose="020B0604020202020204" pitchFamily="34" charset="0"/>
              </a:rPr>
              <a:t>6 cycli – deel 5</a:t>
            </a:r>
            <a:endParaRPr lang="nl-BE"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Afbeelding 5">
            <a:extLst>
              <a:ext uri="{FF2B5EF4-FFF2-40B4-BE49-F238E27FC236}">
                <a16:creationId xmlns:a16="http://schemas.microsoft.com/office/drawing/2014/main" id="{833FDFF3-0913-1E42-87F9-24F40BF481AF}"/>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153" y="12270"/>
            <a:ext cx="936000" cy="1117360"/>
          </a:xfrm>
          <a:prstGeom prst="rect">
            <a:avLst/>
          </a:prstGeom>
          <a:noFill/>
        </p:spPr>
      </p:pic>
      <p:pic>
        <p:nvPicPr>
          <p:cNvPr id="7" name="Afbeelding 6">
            <a:extLst>
              <a:ext uri="{FF2B5EF4-FFF2-40B4-BE49-F238E27FC236}">
                <a16:creationId xmlns:a16="http://schemas.microsoft.com/office/drawing/2014/main" id="{09E630B8-BBFE-1048-8833-1AFE97427A29}"/>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225559" y="12270"/>
            <a:ext cx="936000" cy="1117360"/>
          </a:xfrm>
          <a:prstGeom prst="rect">
            <a:avLst/>
          </a:prstGeom>
          <a:noFill/>
        </p:spPr>
      </p:pic>
      <p:sp>
        <p:nvSpPr>
          <p:cNvPr id="9" name="Tekstvak 8">
            <a:extLst>
              <a:ext uri="{FF2B5EF4-FFF2-40B4-BE49-F238E27FC236}">
                <a16:creationId xmlns:a16="http://schemas.microsoft.com/office/drawing/2014/main" id="{641A5FFE-9A58-48FA-9F86-B77285391BAA}"/>
              </a:ext>
            </a:extLst>
          </p:cNvPr>
          <p:cNvSpPr txBox="1"/>
          <p:nvPr/>
        </p:nvSpPr>
        <p:spPr>
          <a:xfrm>
            <a:off x="1838527" y="552300"/>
            <a:ext cx="8352928" cy="6329938"/>
          </a:xfrm>
          <a:prstGeom prst="rect">
            <a:avLst/>
          </a:prstGeom>
          <a:noFill/>
        </p:spPr>
        <p:txBody>
          <a:bodyPr wrap="square">
            <a:spAutoFit/>
          </a:bodyPr>
          <a:lstStyle/>
          <a:p>
            <a:pPr marL="457200">
              <a:spcAft>
                <a:spcPts val="1800"/>
              </a:spcAft>
            </a:pPr>
            <a:r>
              <a:rPr lang="nl-BE" sz="2400" dirty="0">
                <a:solidFill>
                  <a:srgbClr val="212529"/>
                </a:solidFill>
                <a:effectLst/>
                <a:latin typeface="Nunito"/>
                <a:ea typeface="Times New Roman" panose="02020603050405020304" pitchFamily="18" charset="0"/>
                <a:cs typeface="Segoe UI" panose="020B0502040204020203" pitchFamily="34" charset="0"/>
              </a:rPr>
              <a:t>Onze trainingscyclus nummer vijf. </a:t>
            </a:r>
            <a:endParaRPr lang="nl-BE" sz="2400" dirty="0">
              <a:effectLst/>
              <a:latin typeface="Calibri" panose="020F0502020204030204" pitchFamily="34" charset="0"/>
              <a:ea typeface="Calibri" panose="020F0502020204030204" pitchFamily="34" charset="0"/>
              <a:cs typeface="Times New Roman" panose="02020603050405020304" pitchFamily="18" charset="0"/>
            </a:endParaRPr>
          </a:p>
          <a:p>
            <a:pPr marL="457200">
              <a:spcAft>
                <a:spcPts val="1800"/>
              </a:spcAft>
            </a:pPr>
            <a:r>
              <a:rPr lang="nl-BE" sz="2400" dirty="0">
                <a:solidFill>
                  <a:srgbClr val="212529"/>
                </a:solidFill>
                <a:effectLst/>
                <a:latin typeface="Nunito"/>
                <a:ea typeface="Times New Roman" panose="02020603050405020304" pitchFamily="18" charset="0"/>
                <a:cs typeface="Segoe UI" panose="020B0502040204020203" pitchFamily="34" charset="0"/>
              </a:rPr>
              <a:t>De rode draad van elke training zijn steeds onze 4 hoofdcomponenten:</a:t>
            </a:r>
            <a:endParaRPr lang="nl-BE"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400" dirty="0">
                <a:solidFill>
                  <a:srgbClr val="212529"/>
                </a:solidFill>
                <a:effectLst/>
                <a:latin typeface="Nunito"/>
                <a:ea typeface="Times New Roman" panose="02020603050405020304" pitchFamily="18" charset="0"/>
                <a:cs typeface="Segoe UI" panose="020B0502040204020203" pitchFamily="34" charset="0"/>
              </a:rPr>
              <a:t>techniek</a:t>
            </a:r>
            <a:endParaRPr lang="nl-BE" sz="24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400" dirty="0">
                <a:solidFill>
                  <a:srgbClr val="212529"/>
                </a:solidFill>
                <a:effectLst/>
                <a:latin typeface="Nunito"/>
                <a:ea typeface="Times New Roman" panose="02020603050405020304" pitchFamily="18" charset="0"/>
                <a:cs typeface="Segoe UI" panose="020B0502040204020203" pitchFamily="34" charset="0"/>
              </a:rPr>
              <a:t>positiespel</a:t>
            </a:r>
            <a:endParaRPr lang="nl-BE" sz="24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400" dirty="0">
                <a:solidFill>
                  <a:srgbClr val="212529"/>
                </a:solidFill>
                <a:effectLst/>
                <a:latin typeface="Nunito"/>
                <a:ea typeface="Times New Roman" panose="02020603050405020304" pitchFamily="18" charset="0"/>
                <a:cs typeface="Segoe UI" panose="020B0502040204020203" pitchFamily="34" charset="0"/>
              </a:rPr>
              <a:t>spelsituatie</a:t>
            </a:r>
            <a:endParaRPr lang="nl-BE" sz="24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400" dirty="0">
                <a:solidFill>
                  <a:srgbClr val="212529"/>
                </a:solidFill>
                <a:effectLst/>
                <a:latin typeface="Nunito"/>
                <a:ea typeface="Times New Roman" panose="02020603050405020304" pitchFamily="18" charset="0"/>
                <a:cs typeface="Segoe UI" panose="020B0502040204020203" pitchFamily="34" charset="0"/>
              </a:rPr>
              <a:t>wedstrijdvorm</a:t>
            </a:r>
            <a:endParaRPr lang="nl-BE" sz="24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457200">
              <a:spcAft>
                <a:spcPts val="1800"/>
              </a:spcAft>
            </a:pPr>
            <a:r>
              <a:rPr lang="nl-BE" sz="2400" dirty="0">
                <a:solidFill>
                  <a:srgbClr val="212529"/>
                </a:solidFill>
                <a:effectLst/>
                <a:latin typeface="Nunito"/>
                <a:ea typeface="Times New Roman" panose="02020603050405020304" pitchFamily="18" charset="0"/>
                <a:cs typeface="Segoe UI" panose="020B0502040204020203" pitchFamily="34" charset="0"/>
              </a:rPr>
              <a:t>Elke training eindigt met een leuke </a:t>
            </a:r>
            <a:r>
              <a:rPr lang="nl-BE" sz="2400" dirty="0" err="1">
                <a:solidFill>
                  <a:srgbClr val="212529"/>
                </a:solidFill>
                <a:effectLst/>
                <a:latin typeface="Nunito"/>
                <a:ea typeface="Times New Roman" panose="02020603050405020304" pitchFamily="18" charset="0"/>
                <a:cs typeface="Segoe UI" panose="020B0502040204020203" pitchFamily="34" charset="0"/>
              </a:rPr>
              <a:t>cooling</a:t>
            </a:r>
            <a:r>
              <a:rPr lang="nl-BE" sz="2400" dirty="0">
                <a:solidFill>
                  <a:srgbClr val="212529"/>
                </a:solidFill>
                <a:effectLst/>
                <a:latin typeface="Nunito"/>
                <a:ea typeface="Times New Roman" panose="02020603050405020304" pitchFamily="18" charset="0"/>
                <a:cs typeface="Segoe UI" panose="020B0502040204020203" pitchFamily="34" charset="0"/>
              </a:rPr>
              <a:t> down.</a:t>
            </a:r>
            <a:endParaRPr lang="nl-BE" sz="2400" dirty="0">
              <a:effectLst/>
              <a:latin typeface="Calibri" panose="020F0502020204030204" pitchFamily="34" charset="0"/>
              <a:ea typeface="Calibri" panose="020F0502020204030204" pitchFamily="34" charset="0"/>
              <a:cs typeface="Times New Roman" panose="02020603050405020304" pitchFamily="18" charset="0"/>
            </a:endParaRPr>
          </a:p>
          <a:p>
            <a:pPr marL="457200">
              <a:spcAft>
                <a:spcPts val="1800"/>
              </a:spcAft>
            </a:pPr>
            <a:r>
              <a:rPr lang="nl-BE" sz="2400" dirty="0">
                <a:solidFill>
                  <a:srgbClr val="212529"/>
                </a:solidFill>
                <a:effectLst/>
                <a:latin typeface="Nunito"/>
                <a:ea typeface="Times New Roman" panose="02020603050405020304" pitchFamily="18" charset="0"/>
                <a:cs typeface="Segoe UI" panose="020B0502040204020203" pitchFamily="34" charset="0"/>
              </a:rPr>
              <a:t>Laat zeker de vorige doelstellingen niet vallen. Herhaal deze meermaals naar spelers toe. De opbouw van achteruit alsook je spelers steeds prikkelen dat ze dienen na te denken moeten we blijven aanporren.</a:t>
            </a:r>
            <a:endParaRPr lang="nl-BE" sz="2400" dirty="0">
              <a:effectLst/>
              <a:latin typeface="Calibri" panose="020F0502020204030204" pitchFamily="34" charset="0"/>
              <a:ea typeface="Calibri" panose="020F0502020204030204" pitchFamily="34" charset="0"/>
              <a:cs typeface="Times New Roman" panose="02020603050405020304" pitchFamily="18" charset="0"/>
            </a:endParaRPr>
          </a:p>
          <a:p>
            <a:pPr marL="457200">
              <a:spcAft>
                <a:spcPts val="1800"/>
              </a:spcAft>
            </a:pPr>
            <a:r>
              <a:rPr lang="nl-BE" sz="2400" dirty="0">
                <a:solidFill>
                  <a:srgbClr val="212529"/>
                </a:solidFill>
                <a:effectLst/>
                <a:latin typeface="Nunito"/>
                <a:ea typeface="Times New Roman" panose="02020603050405020304" pitchFamily="18" charset="0"/>
                <a:cs typeface="Segoe UI" panose="020B0502040204020203" pitchFamily="34" charset="0"/>
              </a:rPr>
              <a:t>Ondertussen is ons seizoen reeds ver gevorderd.</a:t>
            </a:r>
            <a:endParaRPr lang="nl-BE"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428341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69706" y="1916411"/>
            <a:ext cx="8352928" cy="646331"/>
          </a:xfrm>
          <a:prstGeom prst="rect">
            <a:avLst/>
          </a:prstGeom>
        </p:spPr>
        <p:txBody>
          <a:bodyPr wrap="square">
            <a:spAutoFit/>
          </a:bodyPr>
          <a:lstStyle/>
          <a:p>
            <a:endParaRPr lang="en-GB" dirty="0"/>
          </a:p>
          <a:p>
            <a:r>
              <a:rPr lang="nl-NL" dirty="0"/>
              <a:t> </a:t>
            </a:r>
            <a:endParaRPr lang="en-GB" dirty="0"/>
          </a:p>
        </p:txBody>
      </p:sp>
      <p:sp>
        <p:nvSpPr>
          <p:cNvPr id="6" name="Rectangle 5"/>
          <p:cNvSpPr/>
          <p:nvPr/>
        </p:nvSpPr>
        <p:spPr>
          <a:xfrm>
            <a:off x="1869706" y="307956"/>
            <a:ext cx="8352928" cy="5259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a:spcAft>
                <a:spcPts val="500"/>
              </a:spcAft>
            </a:pPr>
            <a:r>
              <a:rPr lang="nl-BE" sz="3200" b="1" dirty="0">
                <a:solidFill>
                  <a:schemeClr val="bg1"/>
                </a:solidFill>
                <a:effectLst/>
                <a:latin typeface="Roboto"/>
                <a:ea typeface="Times New Roman" panose="02020603050405020304" pitchFamily="18" charset="0"/>
                <a:cs typeface="Arial" panose="020B0604020202020204" pitchFamily="34" charset="0"/>
              </a:rPr>
              <a:t>U8 - U9 (initiatie) </a:t>
            </a:r>
            <a:endParaRPr lang="nl-BE"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Afbeelding 4">
            <a:extLst>
              <a:ext uri="{FF2B5EF4-FFF2-40B4-BE49-F238E27FC236}">
                <a16:creationId xmlns:a16="http://schemas.microsoft.com/office/drawing/2014/main" id="{D39F7101-4AB6-6D46-8FE0-7D56598260F3}"/>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153" y="12270"/>
            <a:ext cx="936000" cy="1117360"/>
          </a:xfrm>
          <a:prstGeom prst="rect">
            <a:avLst/>
          </a:prstGeom>
          <a:noFill/>
        </p:spPr>
      </p:pic>
      <p:pic>
        <p:nvPicPr>
          <p:cNvPr id="7" name="Afbeelding 6">
            <a:extLst>
              <a:ext uri="{FF2B5EF4-FFF2-40B4-BE49-F238E27FC236}">
                <a16:creationId xmlns:a16="http://schemas.microsoft.com/office/drawing/2014/main" id="{CC00F8C3-7AD1-794F-B847-E34500B01AE5}"/>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225559" y="12270"/>
            <a:ext cx="936000" cy="1117360"/>
          </a:xfrm>
          <a:prstGeom prst="rect">
            <a:avLst/>
          </a:prstGeom>
          <a:noFill/>
        </p:spPr>
      </p:pic>
      <p:sp>
        <p:nvSpPr>
          <p:cNvPr id="8" name="Tekstvak 7">
            <a:extLst>
              <a:ext uri="{FF2B5EF4-FFF2-40B4-BE49-F238E27FC236}">
                <a16:creationId xmlns:a16="http://schemas.microsoft.com/office/drawing/2014/main" id="{27CFDD1E-77DF-48E5-989C-8DF96C70704B}"/>
              </a:ext>
            </a:extLst>
          </p:cNvPr>
          <p:cNvSpPr txBox="1"/>
          <p:nvPr/>
        </p:nvSpPr>
        <p:spPr>
          <a:xfrm>
            <a:off x="1969366" y="1102941"/>
            <a:ext cx="8253268" cy="4901342"/>
          </a:xfrm>
          <a:prstGeom prst="rect">
            <a:avLst/>
          </a:prstGeom>
          <a:noFill/>
        </p:spPr>
        <p:txBody>
          <a:bodyPr wrap="square">
            <a:spAutoFit/>
          </a:bodyPr>
          <a:lstStyle/>
          <a:p>
            <a:pPr marL="342900" lvl="0" indent="-342900">
              <a:spcBef>
                <a:spcPts val="500"/>
              </a:spcBef>
              <a:spcAft>
                <a:spcPts val="500"/>
              </a:spcAft>
              <a:buFont typeface="+mj-lt"/>
              <a:buAutoNum type="arabicPeriod"/>
            </a:pPr>
            <a:r>
              <a:rPr lang="nl-BE" sz="2400" dirty="0">
                <a:solidFill>
                  <a:srgbClr val="212529"/>
                </a:solidFill>
                <a:effectLst/>
                <a:latin typeface="Nunito"/>
                <a:ea typeface="Times New Roman" panose="02020603050405020304" pitchFamily="18" charset="0"/>
                <a:cs typeface="Segoe UI" panose="020B0502040204020203" pitchFamily="34" charset="0"/>
              </a:rPr>
              <a:t>Technische oefeningen:</a:t>
            </a:r>
            <a:endParaRPr lang="nl-BE" sz="24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spcBef>
                <a:spcPts val="500"/>
              </a:spcBef>
              <a:spcAft>
                <a:spcPts val="500"/>
              </a:spcAft>
              <a:buFont typeface="+mj-lt"/>
              <a:buAutoNum type="arabicPeriod"/>
            </a:pPr>
            <a:r>
              <a:rPr lang="nl-BE" sz="2400" dirty="0">
                <a:solidFill>
                  <a:srgbClr val="212529"/>
                </a:solidFill>
                <a:effectLst/>
                <a:latin typeface="Nunito"/>
                <a:ea typeface="Times New Roman" panose="02020603050405020304" pitchFamily="18" charset="0"/>
                <a:cs typeface="Segoe UI" panose="020B0502040204020203" pitchFamily="34" charset="0"/>
              </a:rPr>
              <a:t>Positiespel korte ruimte 3&lt;&gt;3 + 2N of 4&lt;&gt;4 + 2N</a:t>
            </a:r>
            <a:endParaRPr lang="nl-BE" sz="24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spcBef>
                <a:spcPts val="500"/>
              </a:spcBef>
              <a:spcAft>
                <a:spcPts val="500"/>
              </a:spcAft>
              <a:buFont typeface="+mj-lt"/>
              <a:buAutoNum type="arabicPeriod"/>
            </a:pPr>
            <a:r>
              <a:rPr lang="nl-BE" sz="2400" dirty="0" err="1">
                <a:solidFill>
                  <a:srgbClr val="212529"/>
                </a:solidFill>
                <a:effectLst/>
                <a:latin typeface="Nunito"/>
                <a:ea typeface="Times New Roman" panose="02020603050405020304" pitchFamily="18" charset="0"/>
                <a:cs typeface="Segoe UI" panose="020B0502040204020203" pitchFamily="34" charset="0"/>
              </a:rPr>
              <a:t>Crosswide</a:t>
            </a:r>
            <a:r>
              <a:rPr lang="nl-BE" sz="2400" dirty="0">
                <a:solidFill>
                  <a:srgbClr val="212529"/>
                </a:solidFill>
                <a:effectLst/>
                <a:latin typeface="Nunito"/>
                <a:ea typeface="Times New Roman" panose="02020603050405020304" pitchFamily="18" charset="0"/>
                <a:cs typeface="Segoe UI" panose="020B0502040204020203" pitchFamily="34" charset="0"/>
              </a:rPr>
              <a:t> </a:t>
            </a:r>
            <a:r>
              <a:rPr lang="nl-BE" sz="2400" dirty="0" err="1">
                <a:solidFill>
                  <a:srgbClr val="212529"/>
                </a:solidFill>
                <a:effectLst/>
                <a:latin typeface="Nunito"/>
                <a:ea typeface="Times New Roman" panose="02020603050405020304" pitchFamily="18" charset="0"/>
                <a:cs typeface="Segoe UI" panose="020B0502040204020203" pitchFamily="34" charset="0"/>
              </a:rPr>
              <a:t>Positions</a:t>
            </a:r>
            <a:r>
              <a:rPr lang="nl-BE" sz="2400" dirty="0">
                <a:solidFill>
                  <a:srgbClr val="212529"/>
                </a:solidFill>
                <a:effectLst/>
                <a:latin typeface="Nunito"/>
                <a:ea typeface="Times New Roman" panose="02020603050405020304" pitchFamily="18" charset="0"/>
                <a:cs typeface="Segoe UI" panose="020B0502040204020203" pitchFamily="34" charset="0"/>
              </a:rPr>
              <a:t> </a:t>
            </a:r>
            <a:endParaRPr lang="nl-BE" sz="24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spcBef>
                <a:spcPts val="500"/>
              </a:spcBef>
              <a:spcAft>
                <a:spcPts val="500"/>
              </a:spcAft>
              <a:buFont typeface="+mj-lt"/>
              <a:buAutoNum type="arabicPeriod"/>
            </a:pPr>
            <a:r>
              <a:rPr lang="nl-BE" sz="2400" dirty="0">
                <a:solidFill>
                  <a:srgbClr val="212529"/>
                </a:solidFill>
                <a:effectLst/>
                <a:latin typeface="Nunito"/>
                <a:ea typeface="Times New Roman" panose="02020603050405020304" pitchFamily="18" charset="0"/>
                <a:cs typeface="Segoe UI" panose="020B0502040204020203" pitchFamily="34" charset="0"/>
              </a:rPr>
              <a:t>Pas op lopende speler in doorschuifsysteem </a:t>
            </a:r>
            <a:endParaRPr lang="nl-BE" sz="24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spcBef>
                <a:spcPts val="500"/>
              </a:spcBef>
              <a:spcAft>
                <a:spcPts val="1200"/>
              </a:spcAft>
              <a:buFont typeface="+mj-lt"/>
              <a:buAutoNum type="arabicPeriod"/>
            </a:pPr>
            <a:r>
              <a:rPr lang="nl-BE" sz="2400" dirty="0">
                <a:solidFill>
                  <a:srgbClr val="212529"/>
                </a:solidFill>
                <a:effectLst/>
                <a:latin typeface="Nunito"/>
                <a:ea typeface="Times New Roman" panose="02020603050405020304" pitchFamily="18" charset="0"/>
                <a:cs typeface="Segoe UI" panose="020B0502040204020203" pitchFamily="34" charset="0"/>
              </a:rPr>
              <a:t>Eerste aanname + opbouw NA interceptie</a:t>
            </a:r>
            <a:endParaRPr lang="nl-BE" sz="24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400" dirty="0">
                <a:solidFill>
                  <a:srgbClr val="212529"/>
                </a:solidFill>
                <a:effectLst/>
                <a:latin typeface="Nunito"/>
                <a:ea typeface="Times New Roman" panose="02020603050405020304" pitchFamily="18" charset="0"/>
                <a:cs typeface="Segoe UI" panose="020B0502040204020203" pitchFamily="34" charset="0"/>
              </a:rPr>
              <a:t>Positiespel:</a:t>
            </a:r>
            <a:endParaRPr lang="nl-BE" sz="24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spcBef>
                <a:spcPts val="500"/>
              </a:spcBef>
              <a:spcAft>
                <a:spcPts val="500"/>
              </a:spcAft>
              <a:buFont typeface="+mj-lt"/>
              <a:buAutoNum type="arabicPeriod"/>
            </a:pPr>
            <a:r>
              <a:rPr lang="nl-BE" sz="2400" dirty="0">
                <a:solidFill>
                  <a:srgbClr val="212529"/>
                </a:solidFill>
                <a:effectLst/>
                <a:latin typeface="Nunito"/>
                <a:ea typeface="Times New Roman" panose="02020603050405020304" pitchFamily="18" charset="0"/>
                <a:cs typeface="Segoe UI" panose="020B0502040204020203" pitchFamily="34" charset="0"/>
              </a:rPr>
              <a:t>Gerichte Balaanname (First Control!) met 2 voeten</a:t>
            </a:r>
            <a:endParaRPr lang="nl-BE" sz="24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spcBef>
                <a:spcPts val="500"/>
              </a:spcBef>
              <a:spcAft>
                <a:spcPts val="500"/>
              </a:spcAft>
              <a:buFont typeface="+mj-lt"/>
              <a:buAutoNum type="arabicPeriod"/>
            </a:pPr>
            <a:r>
              <a:rPr lang="nl-BE" sz="2400" dirty="0">
                <a:solidFill>
                  <a:srgbClr val="212529"/>
                </a:solidFill>
                <a:effectLst/>
                <a:latin typeface="Nunito"/>
                <a:ea typeface="Times New Roman" panose="02020603050405020304" pitchFamily="18" charset="0"/>
                <a:cs typeface="Segoe UI" panose="020B0502040204020203" pitchFamily="34" charset="0"/>
              </a:rPr>
              <a:t>K+1&lt;&gt;1+K: frontaal, dorsaal, zijwaarts</a:t>
            </a:r>
            <a:endParaRPr lang="nl-BE" sz="24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spcBef>
                <a:spcPts val="500"/>
              </a:spcBef>
              <a:spcAft>
                <a:spcPts val="1200"/>
              </a:spcAft>
              <a:buFont typeface="+mj-lt"/>
              <a:buAutoNum type="arabicPeriod"/>
            </a:pPr>
            <a:r>
              <a:rPr lang="nl-BE" sz="2400" dirty="0">
                <a:solidFill>
                  <a:srgbClr val="212529"/>
                </a:solidFill>
                <a:effectLst/>
                <a:latin typeface="Nunito"/>
                <a:ea typeface="Times New Roman" panose="02020603050405020304" pitchFamily="18" charset="0"/>
                <a:cs typeface="Segoe UI" panose="020B0502040204020203" pitchFamily="34" charset="0"/>
              </a:rPr>
              <a:t>Ingedraaide controle in beweging + korte passing </a:t>
            </a:r>
            <a:r>
              <a:rPr lang="nl-BE" sz="2400" dirty="0" err="1">
                <a:solidFill>
                  <a:srgbClr val="212529"/>
                </a:solidFill>
                <a:effectLst/>
                <a:latin typeface="Nunito"/>
                <a:ea typeface="Times New Roman" panose="02020603050405020304" pitchFamily="18" charset="0"/>
                <a:cs typeface="Segoe UI" panose="020B0502040204020203" pitchFamily="34" charset="0"/>
              </a:rPr>
              <a:t>Li+Re</a:t>
            </a:r>
            <a:r>
              <a:rPr lang="nl-BE" sz="2400" dirty="0">
                <a:solidFill>
                  <a:srgbClr val="212529"/>
                </a:solidFill>
                <a:effectLst/>
                <a:latin typeface="Nunito"/>
                <a:ea typeface="Times New Roman" panose="02020603050405020304" pitchFamily="18" charset="0"/>
                <a:cs typeface="Segoe UI" panose="020B0502040204020203" pitchFamily="34" charset="0"/>
              </a:rPr>
              <a:t>  (zonder en met druk)</a:t>
            </a:r>
            <a:endParaRPr lang="nl-BE" sz="24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198810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95661" y="1582274"/>
            <a:ext cx="7529646" cy="646331"/>
          </a:xfrm>
          <a:prstGeom prst="rect">
            <a:avLst/>
          </a:prstGeom>
          <a:noFill/>
        </p:spPr>
        <p:txBody>
          <a:bodyPr wrap="square" rtlCol="0">
            <a:spAutoFit/>
          </a:bodyPr>
          <a:lstStyle/>
          <a:p>
            <a:pPr marL="12700"/>
            <a:endParaRPr lang="nl-BE" dirty="0"/>
          </a:p>
          <a:p>
            <a:pPr marL="298450" indent="-285750">
              <a:buFont typeface="Arial" pitchFamily="34" charset="0"/>
              <a:buChar char="•"/>
            </a:pPr>
            <a:endParaRPr lang="nl-BE" dirty="0">
              <a:cs typeface="Century Gothic"/>
            </a:endParaRPr>
          </a:p>
        </p:txBody>
      </p:sp>
      <p:sp>
        <p:nvSpPr>
          <p:cNvPr id="6" name="Rectangle 5"/>
          <p:cNvSpPr/>
          <p:nvPr/>
        </p:nvSpPr>
        <p:spPr>
          <a:xfrm>
            <a:off x="2595661" y="307956"/>
            <a:ext cx="7529646" cy="525988"/>
          </a:xfrm>
          <a:prstGeom prst="rect">
            <a:avLst/>
          </a:prstGeom>
          <a:solidFill>
            <a:srgbClr val="7030A0"/>
          </a:solidFill>
          <a:ln/>
        </p:spPr>
        <p:style>
          <a:lnRef idx="0">
            <a:schemeClr val="accent4"/>
          </a:lnRef>
          <a:fillRef idx="3">
            <a:schemeClr val="accent4"/>
          </a:fillRef>
          <a:effectRef idx="3">
            <a:schemeClr val="accent4"/>
          </a:effectRef>
          <a:fontRef idx="minor">
            <a:schemeClr val="lt1"/>
          </a:fontRef>
        </p:style>
        <p:txBody>
          <a:bodyPr rtlCol="0" anchor="ctr"/>
          <a:lstStyle/>
          <a:p>
            <a:pPr marL="457200">
              <a:spcAft>
                <a:spcPts val="500"/>
              </a:spcAft>
            </a:pPr>
            <a:r>
              <a:rPr lang="nl-BE" sz="3200" b="1" dirty="0">
                <a:solidFill>
                  <a:schemeClr val="bg1"/>
                </a:solidFill>
                <a:effectLst/>
                <a:latin typeface="Roboto"/>
                <a:ea typeface="Times New Roman" panose="02020603050405020304" pitchFamily="18" charset="0"/>
                <a:cs typeface="Arial" panose="020B0604020202020204" pitchFamily="34" charset="0"/>
              </a:rPr>
              <a:t>U8 - U9 (initiatie) </a:t>
            </a:r>
            <a:endParaRPr lang="nl-BE"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Afbeelding 4">
            <a:extLst>
              <a:ext uri="{FF2B5EF4-FFF2-40B4-BE49-F238E27FC236}">
                <a16:creationId xmlns:a16="http://schemas.microsoft.com/office/drawing/2014/main" id="{A6163592-E871-7447-80E2-D1FAD92867DD}"/>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89210" y="12270"/>
            <a:ext cx="936000" cy="1117360"/>
          </a:xfrm>
          <a:prstGeom prst="rect">
            <a:avLst/>
          </a:prstGeom>
          <a:noFill/>
        </p:spPr>
      </p:pic>
      <p:pic>
        <p:nvPicPr>
          <p:cNvPr id="8" name="Afbeelding 7">
            <a:extLst>
              <a:ext uri="{FF2B5EF4-FFF2-40B4-BE49-F238E27FC236}">
                <a16:creationId xmlns:a16="http://schemas.microsoft.com/office/drawing/2014/main" id="{8E97D0E3-BFC6-9C44-8E6F-D12C5D3B4DFA}"/>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091747" y="12270"/>
            <a:ext cx="936000" cy="1117360"/>
          </a:xfrm>
          <a:prstGeom prst="rect">
            <a:avLst/>
          </a:prstGeom>
          <a:noFill/>
        </p:spPr>
      </p:pic>
      <p:sp>
        <p:nvSpPr>
          <p:cNvPr id="7" name="Titel 1">
            <a:extLst>
              <a:ext uri="{FF2B5EF4-FFF2-40B4-BE49-F238E27FC236}">
                <a16:creationId xmlns:a16="http://schemas.microsoft.com/office/drawing/2014/main" id="{CB3DAEF8-9B4D-994E-91E6-AABB6748C99D}"/>
              </a:ext>
            </a:extLst>
          </p:cNvPr>
          <p:cNvSpPr txBox="1">
            <a:spLocks/>
          </p:cNvSpPr>
          <p:nvPr/>
        </p:nvSpPr>
        <p:spPr>
          <a:xfrm>
            <a:off x="2595661" y="833944"/>
            <a:ext cx="7529646" cy="60909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nl-NL" sz="2400" dirty="0">
              <a:solidFill>
                <a:srgbClr val="7030A0"/>
              </a:solidFill>
            </a:endParaRPr>
          </a:p>
        </p:txBody>
      </p:sp>
      <p:sp>
        <p:nvSpPr>
          <p:cNvPr id="9" name="Tekstvak 8">
            <a:extLst>
              <a:ext uri="{FF2B5EF4-FFF2-40B4-BE49-F238E27FC236}">
                <a16:creationId xmlns:a16="http://schemas.microsoft.com/office/drawing/2014/main" id="{A80FC4CC-031E-4876-A8DE-CF2B37C7D2B4}"/>
              </a:ext>
            </a:extLst>
          </p:cNvPr>
          <p:cNvSpPr txBox="1"/>
          <p:nvPr/>
        </p:nvSpPr>
        <p:spPr>
          <a:xfrm>
            <a:off x="1562498" y="994474"/>
            <a:ext cx="9046029" cy="5029582"/>
          </a:xfrm>
          <a:prstGeom prst="rect">
            <a:avLst/>
          </a:prstGeom>
          <a:noFill/>
        </p:spPr>
        <p:txBody>
          <a:bodyPr wrap="square">
            <a:spAutoFit/>
          </a:bodyPr>
          <a:lstStyle/>
          <a:p>
            <a:pPr marL="342900" lvl="0" indent="-342900">
              <a:spcBef>
                <a:spcPts val="500"/>
              </a:spcBef>
              <a:spcAft>
                <a:spcPts val="500"/>
              </a:spcAft>
              <a:buFont typeface="+mj-lt"/>
              <a:buAutoNum type="arabicPeriod"/>
            </a:pPr>
            <a:r>
              <a:rPr lang="nl-BE" sz="2400" dirty="0">
                <a:solidFill>
                  <a:srgbClr val="212529"/>
                </a:solidFill>
                <a:effectLst/>
                <a:latin typeface="Nunito"/>
                <a:ea typeface="Times New Roman" panose="02020603050405020304" pitchFamily="18" charset="0"/>
                <a:cs typeface="Segoe UI" panose="020B0502040204020203" pitchFamily="34" charset="0"/>
              </a:rPr>
              <a:t>Spelsituaties</a:t>
            </a:r>
            <a:endParaRPr lang="nl-BE" sz="24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spcBef>
                <a:spcPts val="500"/>
              </a:spcBef>
              <a:spcAft>
                <a:spcPts val="500"/>
              </a:spcAft>
              <a:buFont typeface="+mj-lt"/>
              <a:buAutoNum type="arabicPeriod"/>
            </a:pPr>
            <a:r>
              <a:rPr lang="nl-BE" sz="2400" dirty="0">
                <a:solidFill>
                  <a:srgbClr val="212529"/>
                </a:solidFill>
                <a:effectLst/>
                <a:latin typeface="Nunito"/>
                <a:ea typeface="Times New Roman" panose="02020603050405020304" pitchFamily="18" charset="0"/>
                <a:cs typeface="Segoe UI" panose="020B0502040204020203" pitchFamily="34" charset="0"/>
              </a:rPr>
              <a:t>Speed </a:t>
            </a:r>
            <a:r>
              <a:rPr lang="nl-BE" sz="2400" dirty="0" err="1">
                <a:solidFill>
                  <a:srgbClr val="212529"/>
                </a:solidFill>
                <a:effectLst/>
                <a:latin typeface="Nunito"/>
                <a:ea typeface="Times New Roman" panose="02020603050405020304" pitchFamily="18" charset="0"/>
                <a:cs typeface="Segoe UI" panose="020B0502040204020203" pitchFamily="34" charset="0"/>
              </a:rPr>
              <a:t>and</a:t>
            </a:r>
            <a:r>
              <a:rPr lang="nl-BE" sz="2400" dirty="0">
                <a:solidFill>
                  <a:srgbClr val="212529"/>
                </a:solidFill>
                <a:effectLst/>
                <a:latin typeface="Nunito"/>
                <a:ea typeface="Times New Roman" panose="02020603050405020304" pitchFamily="18" charset="0"/>
                <a:cs typeface="Segoe UI" panose="020B0502040204020203" pitchFamily="34" charset="0"/>
              </a:rPr>
              <a:t> </a:t>
            </a:r>
            <a:r>
              <a:rPr lang="nl-BE" sz="2400" dirty="0" err="1">
                <a:solidFill>
                  <a:srgbClr val="212529"/>
                </a:solidFill>
                <a:effectLst/>
                <a:latin typeface="Nunito"/>
                <a:ea typeface="Times New Roman" panose="02020603050405020304" pitchFamily="18" charset="0"/>
                <a:cs typeface="Segoe UI" panose="020B0502040204020203" pitchFamily="34" charset="0"/>
              </a:rPr>
              <a:t>agility</a:t>
            </a:r>
            <a:endParaRPr lang="nl-BE" sz="24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spcBef>
                <a:spcPts val="500"/>
              </a:spcBef>
              <a:spcAft>
                <a:spcPts val="500"/>
              </a:spcAft>
              <a:buFont typeface="+mj-lt"/>
              <a:buAutoNum type="arabicPeriod"/>
            </a:pPr>
            <a:r>
              <a:rPr lang="nl-BE" sz="2400" dirty="0">
                <a:solidFill>
                  <a:srgbClr val="212529"/>
                </a:solidFill>
                <a:effectLst/>
                <a:latin typeface="Nunito"/>
                <a:ea typeface="Times New Roman" panose="02020603050405020304" pitchFamily="18" charset="0"/>
                <a:cs typeface="Segoe UI" panose="020B0502040204020203" pitchFamily="34" charset="0"/>
              </a:rPr>
              <a:t>K+2&lt;&gt;1+K: passing, </a:t>
            </a:r>
            <a:r>
              <a:rPr lang="nl-BE" sz="2400" dirty="0" err="1">
                <a:solidFill>
                  <a:srgbClr val="212529"/>
                </a:solidFill>
                <a:effectLst/>
                <a:latin typeface="Nunito"/>
                <a:ea typeface="Times New Roman" panose="02020603050405020304" pitchFamily="18" charset="0"/>
                <a:cs typeface="Segoe UI" panose="020B0502040204020203" pitchFamily="34" charset="0"/>
              </a:rPr>
              <a:t>dribbling</a:t>
            </a:r>
            <a:r>
              <a:rPr lang="nl-BE" sz="2400" dirty="0">
                <a:solidFill>
                  <a:srgbClr val="212529"/>
                </a:solidFill>
                <a:effectLst/>
                <a:latin typeface="Nunito"/>
                <a:ea typeface="Times New Roman" panose="02020603050405020304" pitchFamily="18" charset="0"/>
                <a:cs typeface="Segoe UI" panose="020B0502040204020203" pitchFamily="34" charset="0"/>
              </a:rPr>
              <a:t>, </a:t>
            </a:r>
            <a:r>
              <a:rPr lang="nl-BE" sz="2400" dirty="0" err="1">
                <a:solidFill>
                  <a:srgbClr val="212529"/>
                </a:solidFill>
                <a:effectLst/>
                <a:latin typeface="Nunito"/>
                <a:ea typeface="Times New Roman" panose="02020603050405020304" pitchFamily="18" charset="0"/>
                <a:cs typeface="Segoe UI" panose="020B0502040204020203" pitchFamily="34" charset="0"/>
              </a:rPr>
              <a:t>shooting</a:t>
            </a:r>
            <a:endParaRPr lang="nl-BE" sz="24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spcBef>
                <a:spcPts val="500"/>
              </a:spcBef>
              <a:spcAft>
                <a:spcPts val="1200"/>
              </a:spcAft>
              <a:buFont typeface="+mj-lt"/>
              <a:buAutoNum type="arabicPeriod"/>
            </a:pPr>
            <a:r>
              <a:rPr lang="nl-BE" sz="2400" dirty="0">
                <a:solidFill>
                  <a:srgbClr val="212529"/>
                </a:solidFill>
                <a:effectLst/>
                <a:latin typeface="Nunito"/>
                <a:ea typeface="Times New Roman" panose="02020603050405020304" pitchFamily="18" charset="0"/>
                <a:cs typeface="Segoe UI" panose="020B0502040204020203" pitchFamily="34" charset="0"/>
              </a:rPr>
              <a:t>Oplossingen bij naar binnen komen van </a:t>
            </a:r>
            <a:r>
              <a:rPr lang="nl-BE" sz="2400" dirty="0" err="1">
                <a:solidFill>
                  <a:srgbClr val="212529"/>
                </a:solidFill>
                <a:effectLst/>
                <a:latin typeface="Nunito"/>
                <a:ea typeface="Times New Roman" panose="02020603050405020304" pitchFamily="18" charset="0"/>
                <a:cs typeface="Segoe UI" panose="020B0502040204020203" pitchFamily="34" charset="0"/>
              </a:rPr>
              <a:t>FA’s</a:t>
            </a:r>
            <a:endParaRPr lang="nl-BE" sz="24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500"/>
              </a:spcBef>
              <a:spcAft>
                <a:spcPts val="500"/>
              </a:spcAft>
              <a:buFont typeface="+mj-lt"/>
              <a:buAutoNum type="arabicPeriod"/>
            </a:pPr>
            <a:r>
              <a:rPr lang="nl-BE" sz="2400" dirty="0">
                <a:solidFill>
                  <a:srgbClr val="212529"/>
                </a:solidFill>
                <a:effectLst/>
                <a:latin typeface="Nunito"/>
                <a:ea typeface="Times New Roman" panose="02020603050405020304" pitchFamily="18" charset="0"/>
                <a:cs typeface="Segoe UI" panose="020B0502040204020203" pitchFamily="34" charset="0"/>
              </a:rPr>
              <a:t>Wedstrijdvormen:</a:t>
            </a:r>
            <a:endParaRPr lang="nl-BE" sz="24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spcBef>
                <a:spcPts val="500"/>
              </a:spcBef>
              <a:spcAft>
                <a:spcPts val="500"/>
              </a:spcAft>
              <a:buFont typeface="+mj-lt"/>
              <a:buAutoNum type="arabicPeriod"/>
            </a:pPr>
            <a:r>
              <a:rPr lang="nl-BE" sz="2400" dirty="0">
                <a:solidFill>
                  <a:srgbClr val="212529"/>
                </a:solidFill>
                <a:effectLst/>
                <a:latin typeface="Nunito"/>
                <a:ea typeface="Times New Roman" panose="02020603050405020304" pitchFamily="18" charset="0"/>
                <a:cs typeface="Segoe UI" panose="020B0502040204020203" pitchFamily="34" charset="0"/>
              </a:rPr>
              <a:t> </a:t>
            </a:r>
            <a:endParaRPr lang="nl-BE" sz="24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spcBef>
                <a:spcPts val="500"/>
              </a:spcBef>
              <a:spcAft>
                <a:spcPts val="500"/>
              </a:spcAft>
              <a:buFont typeface="+mj-lt"/>
              <a:buAutoNum type="arabicPeriod"/>
            </a:pPr>
            <a:r>
              <a:rPr lang="nl-BE" sz="2400" dirty="0">
                <a:solidFill>
                  <a:srgbClr val="212529"/>
                </a:solidFill>
                <a:effectLst/>
                <a:latin typeface="Nunito"/>
                <a:ea typeface="Times New Roman" panose="02020603050405020304" pitchFamily="18" charset="0"/>
                <a:cs typeface="Segoe UI" panose="020B0502040204020203" pitchFamily="34" charset="0"/>
              </a:rPr>
              <a:t>Afwerken op doel na infiltratie met en zonder bal</a:t>
            </a:r>
            <a:endParaRPr lang="nl-BE" sz="24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spcBef>
                <a:spcPts val="500"/>
              </a:spcBef>
              <a:spcAft>
                <a:spcPts val="500"/>
              </a:spcAft>
              <a:buFont typeface="+mj-lt"/>
              <a:buAutoNum type="arabicPeriod"/>
            </a:pPr>
            <a:r>
              <a:rPr lang="nl-BE" sz="2400" dirty="0" err="1">
                <a:solidFill>
                  <a:srgbClr val="212529"/>
                </a:solidFill>
                <a:effectLst/>
                <a:latin typeface="Nunito"/>
                <a:ea typeface="Times New Roman" panose="02020603050405020304" pitchFamily="18" charset="0"/>
                <a:cs typeface="Segoe UI" panose="020B0502040204020203" pitchFamily="34" charset="0"/>
              </a:rPr>
              <a:t>Decision</a:t>
            </a:r>
            <a:r>
              <a:rPr lang="nl-BE" sz="2400" dirty="0">
                <a:solidFill>
                  <a:srgbClr val="212529"/>
                </a:solidFill>
                <a:effectLst/>
                <a:latin typeface="Nunito"/>
                <a:ea typeface="Times New Roman" panose="02020603050405020304" pitchFamily="18" charset="0"/>
                <a:cs typeface="Segoe UI" panose="020B0502040204020203" pitchFamily="34" charset="0"/>
              </a:rPr>
              <a:t> making: kaatsen of doordraaien in WV</a:t>
            </a:r>
            <a:endParaRPr lang="nl-BE" sz="24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spcBef>
                <a:spcPts val="500"/>
              </a:spcBef>
              <a:spcAft>
                <a:spcPts val="500"/>
              </a:spcAft>
              <a:buFont typeface="+mj-lt"/>
              <a:buAutoNum type="arabicPeriod"/>
            </a:pPr>
            <a:r>
              <a:rPr lang="nl-BE" sz="2400" dirty="0">
                <a:solidFill>
                  <a:srgbClr val="212529"/>
                </a:solidFill>
                <a:effectLst/>
                <a:latin typeface="Nunito"/>
                <a:ea typeface="Times New Roman" panose="02020603050405020304" pitchFamily="18" charset="0"/>
                <a:cs typeface="Segoe UI" panose="020B0502040204020203" pitchFamily="34" charset="0"/>
              </a:rPr>
              <a:t>Afwerken op doel na </a:t>
            </a:r>
            <a:r>
              <a:rPr lang="nl-BE" sz="2400" dirty="0" err="1">
                <a:solidFill>
                  <a:srgbClr val="212529"/>
                </a:solidFill>
                <a:effectLst/>
                <a:latin typeface="Nunito"/>
                <a:ea typeface="Times New Roman" panose="02020603050405020304" pitchFamily="18" charset="0"/>
                <a:cs typeface="Segoe UI" panose="020B0502040204020203" pitchFamily="34" charset="0"/>
              </a:rPr>
              <a:t>balaaname</a:t>
            </a:r>
            <a:endParaRPr lang="nl-BE" sz="24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spcBef>
                <a:spcPts val="500"/>
              </a:spcBef>
              <a:spcAft>
                <a:spcPts val="500"/>
              </a:spcAft>
              <a:buFont typeface="+mj-lt"/>
              <a:buAutoNum type="arabicPeriod"/>
            </a:pPr>
            <a:r>
              <a:rPr lang="nl-BE" sz="2400" dirty="0">
                <a:solidFill>
                  <a:srgbClr val="212529"/>
                </a:solidFill>
                <a:effectLst/>
                <a:latin typeface="Nunito"/>
                <a:ea typeface="Times New Roman" panose="02020603050405020304" pitchFamily="18" charset="0"/>
                <a:cs typeface="Segoe UI" panose="020B0502040204020203" pitchFamily="34" charset="0"/>
              </a:rPr>
              <a:t>Loopcoördinatie en oog-hand-voetcoördinatie</a:t>
            </a:r>
            <a:endParaRPr lang="nl-BE" sz="24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387082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869706" y="295686"/>
            <a:ext cx="8352928" cy="525988"/>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a:spcAft>
                <a:spcPts val="500"/>
              </a:spcAft>
            </a:pPr>
            <a:r>
              <a:rPr lang="nl-BE" sz="3200" b="1" dirty="0">
                <a:solidFill>
                  <a:schemeClr val="bg1"/>
                </a:solidFill>
                <a:effectLst/>
                <a:latin typeface="Roboto"/>
                <a:ea typeface="Times New Roman" panose="02020603050405020304" pitchFamily="18" charset="0"/>
                <a:cs typeface="Arial" panose="020B0604020202020204" pitchFamily="34" charset="0"/>
              </a:rPr>
              <a:t>U10 - U11 - U12 (pre-formatie)</a:t>
            </a:r>
            <a:endParaRPr lang="nl-BE"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Rectangle 1"/>
          <p:cNvSpPr/>
          <p:nvPr/>
        </p:nvSpPr>
        <p:spPr>
          <a:xfrm>
            <a:off x="1869706" y="1916833"/>
            <a:ext cx="8352928" cy="646331"/>
          </a:xfrm>
          <a:prstGeom prst="rect">
            <a:avLst/>
          </a:prstGeom>
        </p:spPr>
        <p:txBody>
          <a:bodyPr wrap="square">
            <a:spAutoFit/>
          </a:bodyPr>
          <a:lstStyle/>
          <a:p>
            <a:endParaRPr lang="en-GB" dirty="0"/>
          </a:p>
          <a:p>
            <a:r>
              <a:rPr lang="nl-NL" dirty="0"/>
              <a:t> </a:t>
            </a:r>
            <a:endParaRPr lang="en-GB" dirty="0"/>
          </a:p>
        </p:txBody>
      </p:sp>
      <p:sp>
        <p:nvSpPr>
          <p:cNvPr id="3" name="Rectangle 2"/>
          <p:cNvSpPr/>
          <p:nvPr/>
        </p:nvSpPr>
        <p:spPr>
          <a:xfrm>
            <a:off x="2199581" y="1689775"/>
            <a:ext cx="7704856" cy="369332"/>
          </a:xfrm>
          <a:prstGeom prst="rect">
            <a:avLst/>
          </a:prstGeom>
        </p:spPr>
        <p:txBody>
          <a:bodyPr wrap="square">
            <a:spAutoFit/>
          </a:bodyPr>
          <a:lstStyle/>
          <a:p>
            <a:r>
              <a:rPr lang="nl-NL" dirty="0"/>
              <a:t> </a:t>
            </a:r>
            <a:endParaRPr lang="en-GB" dirty="0"/>
          </a:p>
        </p:txBody>
      </p:sp>
      <p:sp>
        <p:nvSpPr>
          <p:cNvPr id="6" name="Rectangle 5"/>
          <p:cNvSpPr/>
          <p:nvPr/>
        </p:nvSpPr>
        <p:spPr>
          <a:xfrm>
            <a:off x="1809056" y="980729"/>
            <a:ext cx="8640960" cy="646331"/>
          </a:xfrm>
          <a:prstGeom prst="rect">
            <a:avLst/>
          </a:prstGeom>
        </p:spPr>
        <p:txBody>
          <a:bodyPr wrap="square">
            <a:spAutoFit/>
          </a:bodyPr>
          <a:lstStyle/>
          <a:p>
            <a:endParaRPr lang="en-GB" dirty="0"/>
          </a:p>
          <a:p>
            <a:r>
              <a:rPr lang="nl-NL" dirty="0"/>
              <a:t> </a:t>
            </a:r>
            <a:endParaRPr lang="en-GB" dirty="0"/>
          </a:p>
        </p:txBody>
      </p:sp>
      <p:pic>
        <p:nvPicPr>
          <p:cNvPr id="8" name="Afbeelding 7">
            <a:extLst>
              <a:ext uri="{FF2B5EF4-FFF2-40B4-BE49-F238E27FC236}">
                <a16:creationId xmlns:a16="http://schemas.microsoft.com/office/drawing/2014/main" id="{C0C9BAC0-E153-304B-A91A-CD54D24BC69C}"/>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0" y="0"/>
            <a:ext cx="936000" cy="1117360"/>
          </a:xfrm>
          <a:prstGeom prst="rect">
            <a:avLst/>
          </a:prstGeom>
          <a:noFill/>
        </p:spPr>
      </p:pic>
      <p:pic>
        <p:nvPicPr>
          <p:cNvPr id="9" name="Afbeelding 8">
            <a:extLst>
              <a:ext uri="{FF2B5EF4-FFF2-40B4-BE49-F238E27FC236}">
                <a16:creationId xmlns:a16="http://schemas.microsoft.com/office/drawing/2014/main" id="{16244EEF-2387-714F-8BF3-CB3F0B7126DF}"/>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237354" y="0"/>
            <a:ext cx="936000" cy="1117360"/>
          </a:xfrm>
          <a:prstGeom prst="rect">
            <a:avLst/>
          </a:prstGeom>
          <a:noFill/>
        </p:spPr>
      </p:pic>
      <p:sp>
        <p:nvSpPr>
          <p:cNvPr id="10" name="Tekstvak 9">
            <a:extLst>
              <a:ext uri="{FF2B5EF4-FFF2-40B4-BE49-F238E27FC236}">
                <a16:creationId xmlns:a16="http://schemas.microsoft.com/office/drawing/2014/main" id="{CC81BD4B-D161-4C43-B798-8EB57F818B7F}"/>
              </a:ext>
            </a:extLst>
          </p:cNvPr>
          <p:cNvSpPr txBox="1"/>
          <p:nvPr/>
        </p:nvSpPr>
        <p:spPr>
          <a:xfrm>
            <a:off x="1121812" y="1068502"/>
            <a:ext cx="9608182" cy="5493812"/>
          </a:xfrm>
          <a:prstGeom prst="rect">
            <a:avLst/>
          </a:prstGeom>
          <a:noFill/>
        </p:spPr>
        <p:txBody>
          <a:bodyPr wrap="square">
            <a:spAutoFit/>
          </a:bodyPr>
          <a:lstStyle/>
          <a:p>
            <a:pPr marL="342900" lvl="0" indent="-342900">
              <a:spcAft>
                <a:spcPts val="1800"/>
              </a:spcAft>
              <a:buFont typeface="+mj-lt"/>
              <a:buAutoNum type="arabicPeriod"/>
            </a:pPr>
            <a:r>
              <a:rPr lang="nl-BE" sz="2800" dirty="0">
                <a:solidFill>
                  <a:srgbClr val="212529"/>
                </a:solidFill>
                <a:effectLst/>
                <a:latin typeface="Nunito"/>
                <a:ea typeface="Times New Roman" panose="02020603050405020304" pitchFamily="18" charset="0"/>
                <a:cs typeface="Segoe UI" panose="020B0502040204020203" pitchFamily="34" charset="0"/>
              </a:rPr>
              <a:t>Positiespel: </a:t>
            </a:r>
            <a:br>
              <a:rPr lang="nl-BE" sz="2800" dirty="0">
                <a:solidFill>
                  <a:srgbClr val="212529"/>
                </a:solidFill>
                <a:effectLst/>
                <a:latin typeface="Nunito"/>
                <a:ea typeface="Times New Roman" panose="02020603050405020304" pitchFamily="18" charset="0"/>
                <a:cs typeface="Segoe UI" panose="020B0502040204020203" pitchFamily="34" charset="0"/>
              </a:rPr>
            </a:br>
            <a:r>
              <a:rPr lang="nl-BE" sz="2800" dirty="0">
                <a:solidFill>
                  <a:srgbClr val="212529"/>
                </a:solidFill>
                <a:effectLst/>
                <a:latin typeface="Nunito"/>
                <a:ea typeface="Times New Roman" panose="02020603050405020304" pitchFamily="18" charset="0"/>
                <a:cs typeface="Segoe UI" panose="020B0502040204020203" pitchFamily="34" charset="0"/>
              </a:rPr>
              <a:t>Leer elkaar te helpen d.m.v. </a:t>
            </a:r>
            <a:r>
              <a:rPr lang="nl-BE" sz="2800" b="1" dirty="0">
                <a:solidFill>
                  <a:srgbClr val="212529"/>
                </a:solidFill>
                <a:effectLst/>
                <a:latin typeface="Nunito"/>
                <a:ea typeface="Times New Roman" panose="02020603050405020304" pitchFamily="18" charset="0"/>
                <a:cs typeface="Segoe UI" panose="020B0502040204020203" pitchFamily="34" charset="0"/>
              </a:rPr>
              <a:t>coaching</a:t>
            </a:r>
            <a:r>
              <a:rPr lang="nl-BE" sz="2800" dirty="0">
                <a:solidFill>
                  <a:srgbClr val="212529"/>
                </a:solidFill>
                <a:effectLst/>
                <a:latin typeface="Nunito"/>
                <a:ea typeface="Times New Roman" panose="02020603050405020304" pitchFamily="18" charset="0"/>
                <a:cs typeface="Segoe UI" panose="020B0502040204020203" pitchFamily="34" charset="0"/>
              </a:rPr>
              <a:t>. Er wordt te weinig gesproken op een veld. Help elkaar door de persoon naast je zaken te benoemen die hij zou kunnen/moeten doen. Als tweede ding zou ik de beginselen van een vakkenspel aanleren. Leer ze wie waar kan/moet lopen.</a:t>
            </a:r>
            <a:endParaRPr lang="nl-BE"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1800"/>
              </a:spcAft>
              <a:buFont typeface="+mj-lt"/>
              <a:buAutoNum type="arabicPeriod"/>
            </a:pPr>
            <a:r>
              <a:rPr lang="nl-BE" sz="2800" dirty="0">
                <a:solidFill>
                  <a:srgbClr val="212529"/>
                </a:solidFill>
                <a:effectLst/>
                <a:latin typeface="Nunito"/>
                <a:ea typeface="Times New Roman" panose="02020603050405020304" pitchFamily="18" charset="0"/>
                <a:cs typeface="Segoe UI" panose="020B0502040204020203" pitchFamily="34" charset="0"/>
              </a:rPr>
              <a:t>Techniek: </a:t>
            </a:r>
            <a:br>
              <a:rPr lang="nl-BE" sz="2800" dirty="0">
                <a:solidFill>
                  <a:srgbClr val="212529"/>
                </a:solidFill>
                <a:effectLst/>
                <a:latin typeface="Nunito"/>
                <a:ea typeface="Times New Roman" panose="02020603050405020304" pitchFamily="18" charset="0"/>
                <a:cs typeface="Segoe UI" panose="020B0502040204020203" pitchFamily="34" charset="0"/>
              </a:rPr>
            </a:br>
            <a:r>
              <a:rPr lang="nl-BE" sz="2800" dirty="0">
                <a:solidFill>
                  <a:srgbClr val="212529"/>
                </a:solidFill>
                <a:effectLst/>
                <a:latin typeface="Nunito"/>
                <a:ea typeface="Times New Roman" panose="02020603050405020304" pitchFamily="18" charset="0"/>
                <a:cs typeface="Segoe UI" panose="020B0502040204020203" pitchFamily="34" charset="0"/>
              </a:rPr>
              <a:t>We drijven de handelingssnelheid op door een goede en </a:t>
            </a:r>
            <a:r>
              <a:rPr lang="nl-BE" sz="2800" b="1" dirty="0">
                <a:solidFill>
                  <a:srgbClr val="212529"/>
                </a:solidFill>
                <a:effectLst/>
                <a:latin typeface="Nunito"/>
                <a:ea typeface="Times New Roman" panose="02020603050405020304" pitchFamily="18" charset="0"/>
                <a:cs typeface="Segoe UI" panose="020B0502040204020203" pitchFamily="34" charset="0"/>
              </a:rPr>
              <a:t>snelle balbehandeling</a:t>
            </a:r>
            <a:r>
              <a:rPr lang="nl-BE" sz="2800" dirty="0">
                <a:solidFill>
                  <a:srgbClr val="212529"/>
                </a:solidFill>
                <a:effectLst/>
                <a:latin typeface="Nunito"/>
                <a:ea typeface="Times New Roman" panose="02020603050405020304" pitchFamily="18" charset="0"/>
                <a:cs typeface="Segoe UI" panose="020B0502040204020203" pitchFamily="34" charset="0"/>
              </a:rPr>
              <a:t> zowel links als rechts. Doe dit steeds </a:t>
            </a:r>
            <a:r>
              <a:rPr lang="nl-BE" sz="2800" b="1" dirty="0">
                <a:solidFill>
                  <a:srgbClr val="212529"/>
                </a:solidFill>
                <a:effectLst/>
                <a:latin typeface="Nunito"/>
                <a:ea typeface="Times New Roman" panose="02020603050405020304" pitchFamily="18" charset="0"/>
                <a:cs typeface="Segoe UI" panose="020B0502040204020203" pitchFamily="34" charset="0"/>
              </a:rPr>
              <a:t>in beweging</a:t>
            </a:r>
            <a:r>
              <a:rPr lang="nl-BE" sz="2800" dirty="0">
                <a:solidFill>
                  <a:srgbClr val="212529"/>
                </a:solidFill>
                <a:effectLst/>
                <a:latin typeface="Nunito"/>
                <a:ea typeface="Times New Roman" panose="02020603050405020304" pitchFamily="18" charset="0"/>
                <a:cs typeface="Segoe UI" panose="020B0502040204020203" pitchFamily="34" charset="0"/>
              </a:rPr>
              <a:t>, want in een wedstrijd staan we ook nooit stil. Gebruik ook de flanken die zowel links als rechts een </a:t>
            </a:r>
            <a:r>
              <a:rPr lang="nl-BE" sz="2800" b="1" dirty="0">
                <a:solidFill>
                  <a:srgbClr val="212529"/>
                </a:solidFill>
                <a:effectLst/>
                <a:latin typeface="Nunito"/>
                <a:ea typeface="Times New Roman" panose="02020603050405020304" pitchFamily="18" charset="0"/>
                <a:cs typeface="Segoe UI" panose="020B0502040204020203" pitchFamily="34" charset="0"/>
              </a:rPr>
              <a:t>goede balaanname</a:t>
            </a:r>
            <a:r>
              <a:rPr lang="nl-BE" sz="2800" dirty="0">
                <a:solidFill>
                  <a:srgbClr val="212529"/>
                </a:solidFill>
                <a:effectLst/>
                <a:latin typeface="Nunito"/>
                <a:ea typeface="Times New Roman" panose="02020603050405020304" pitchFamily="18" charset="0"/>
                <a:cs typeface="Segoe UI" panose="020B0502040204020203" pitchFamily="34" charset="0"/>
              </a:rPr>
              <a:t> op passing kunnen uitvoeren.</a:t>
            </a:r>
            <a:endParaRPr lang="nl-BE"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936893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46005" y="866372"/>
            <a:ext cx="10099990" cy="5047536"/>
          </a:xfrm>
          <a:prstGeom prst="rect">
            <a:avLst/>
          </a:prstGeom>
          <a:noFill/>
        </p:spPr>
        <p:txBody>
          <a:bodyPr wrap="square" rtlCol="0">
            <a:spAutoFit/>
          </a:bodyPr>
          <a:lstStyle/>
          <a:p>
            <a:pPr lvl="0">
              <a:spcAft>
                <a:spcPts val="1800"/>
              </a:spcAft>
            </a:pPr>
            <a:r>
              <a:rPr lang="nl-BE" sz="2400" dirty="0">
                <a:solidFill>
                  <a:srgbClr val="212529"/>
                </a:solidFill>
                <a:effectLst/>
                <a:latin typeface="Nunito"/>
                <a:ea typeface="Times New Roman" panose="02020603050405020304" pitchFamily="18" charset="0"/>
                <a:cs typeface="Segoe UI" panose="020B0502040204020203" pitchFamily="34" charset="0"/>
              </a:rPr>
              <a:t>3.Spelsituatie: </a:t>
            </a:r>
            <a:br>
              <a:rPr lang="nl-BE" sz="2400" dirty="0">
                <a:solidFill>
                  <a:srgbClr val="212529"/>
                </a:solidFill>
                <a:effectLst/>
                <a:latin typeface="Nunito"/>
                <a:ea typeface="Times New Roman" panose="02020603050405020304" pitchFamily="18" charset="0"/>
                <a:cs typeface="Segoe UI" panose="020B0502040204020203" pitchFamily="34" charset="0"/>
              </a:rPr>
            </a:br>
            <a:r>
              <a:rPr lang="nl-BE" sz="2400" dirty="0">
                <a:solidFill>
                  <a:srgbClr val="212529"/>
                </a:solidFill>
                <a:effectLst/>
                <a:latin typeface="Nunito"/>
                <a:ea typeface="Times New Roman" panose="02020603050405020304" pitchFamily="18" charset="0"/>
                <a:cs typeface="Segoe UI" panose="020B0502040204020203" pitchFamily="34" charset="0"/>
              </a:rPr>
              <a:t>Leer je spelers alles uit te voeren in maximaal </a:t>
            </a:r>
            <a:r>
              <a:rPr lang="nl-BE" sz="2400" b="1" dirty="0">
                <a:solidFill>
                  <a:srgbClr val="212529"/>
                </a:solidFill>
                <a:effectLst/>
                <a:latin typeface="Nunito"/>
                <a:ea typeface="Times New Roman" panose="02020603050405020304" pitchFamily="18" charset="0"/>
                <a:cs typeface="Segoe UI" panose="020B0502040204020203" pitchFamily="34" charset="0"/>
              </a:rPr>
              <a:t>2 tijden</a:t>
            </a:r>
            <a:r>
              <a:rPr lang="nl-BE" sz="2400" dirty="0">
                <a:solidFill>
                  <a:srgbClr val="212529"/>
                </a:solidFill>
                <a:effectLst/>
                <a:latin typeface="Nunito"/>
                <a:ea typeface="Times New Roman" panose="02020603050405020304" pitchFamily="18" charset="0"/>
                <a:cs typeface="Segoe UI" panose="020B0502040204020203" pitchFamily="34" charset="0"/>
              </a:rPr>
              <a:t>. Laat de spelers ook zien dat </a:t>
            </a:r>
            <a:r>
              <a:rPr lang="nl-BE" sz="2400" b="1" dirty="0">
                <a:solidFill>
                  <a:srgbClr val="212529"/>
                </a:solidFill>
                <a:effectLst/>
                <a:latin typeface="Nunito"/>
                <a:ea typeface="Times New Roman" panose="02020603050405020304" pitchFamily="18" charset="0"/>
                <a:cs typeface="Segoe UI" panose="020B0502040204020203" pitchFamily="34" charset="0"/>
              </a:rPr>
              <a:t>diagonaal vrijlopen</a:t>
            </a:r>
            <a:r>
              <a:rPr lang="nl-BE" sz="2400" dirty="0">
                <a:solidFill>
                  <a:srgbClr val="212529"/>
                </a:solidFill>
                <a:effectLst/>
                <a:latin typeface="Nunito"/>
                <a:ea typeface="Times New Roman" panose="02020603050405020304" pitchFamily="18" charset="0"/>
                <a:cs typeface="Segoe UI" panose="020B0502040204020203" pitchFamily="34" charset="0"/>
              </a:rPr>
              <a:t> een meerwaarde kan betekenen.</a:t>
            </a:r>
            <a:endParaRPr lang="nl-BE" sz="2400" dirty="0">
              <a:effectLst/>
              <a:latin typeface="Calibri" panose="020F0502020204030204" pitchFamily="34" charset="0"/>
              <a:ea typeface="Calibri" panose="020F0502020204030204" pitchFamily="34" charset="0"/>
              <a:cs typeface="Times New Roman" panose="02020603050405020304" pitchFamily="18" charset="0"/>
            </a:endParaRPr>
          </a:p>
          <a:p>
            <a:pPr lvl="0">
              <a:spcAft>
                <a:spcPts val="1800"/>
              </a:spcAft>
            </a:pPr>
            <a:r>
              <a:rPr lang="nl-BE" sz="2400" dirty="0">
                <a:solidFill>
                  <a:srgbClr val="212529"/>
                </a:solidFill>
                <a:effectLst/>
                <a:latin typeface="Nunito"/>
                <a:ea typeface="Times New Roman" panose="02020603050405020304" pitchFamily="18" charset="0"/>
                <a:cs typeface="Segoe UI" panose="020B0502040204020203" pitchFamily="34" charset="0"/>
              </a:rPr>
              <a:t>4.Wedstrijdvorm: </a:t>
            </a:r>
            <a:br>
              <a:rPr lang="nl-BE" sz="2400" dirty="0">
                <a:solidFill>
                  <a:srgbClr val="212529"/>
                </a:solidFill>
                <a:effectLst/>
                <a:latin typeface="Nunito"/>
                <a:ea typeface="Times New Roman" panose="02020603050405020304" pitchFamily="18" charset="0"/>
                <a:cs typeface="Segoe UI" panose="020B0502040204020203" pitchFamily="34" charset="0"/>
              </a:rPr>
            </a:br>
            <a:r>
              <a:rPr lang="nl-BE" sz="2400" dirty="0">
                <a:solidFill>
                  <a:srgbClr val="212529"/>
                </a:solidFill>
                <a:effectLst/>
                <a:latin typeface="Nunito"/>
                <a:ea typeface="Times New Roman" panose="02020603050405020304" pitchFamily="18" charset="0"/>
                <a:cs typeface="Segoe UI" panose="020B0502040204020203" pitchFamily="34" charset="0"/>
              </a:rPr>
              <a:t>We focussen ons vaak op het aanvallend concept. Deze periode geven we iets meer aandacht hoe we moeten </a:t>
            </a:r>
            <a:r>
              <a:rPr lang="nl-BE" sz="2400" b="1" dirty="0">
                <a:solidFill>
                  <a:srgbClr val="212529"/>
                </a:solidFill>
                <a:effectLst/>
                <a:latin typeface="Nunito"/>
                <a:ea typeface="Times New Roman" panose="02020603050405020304" pitchFamily="18" charset="0"/>
                <a:cs typeface="Segoe UI" panose="020B0502040204020203" pitchFamily="34" charset="0"/>
              </a:rPr>
              <a:t>omgaan met balverlies.</a:t>
            </a:r>
            <a:r>
              <a:rPr lang="nl-BE" sz="2400" dirty="0">
                <a:solidFill>
                  <a:srgbClr val="212529"/>
                </a:solidFill>
                <a:effectLst/>
                <a:latin typeface="Nunito"/>
                <a:ea typeface="Times New Roman" panose="02020603050405020304" pitchFamily="18" charset="0"/>
                <a:cs typeface="Segoe UI" panose="020B0502040204020203" pitchFamily="34" charset="0"/>
              </a:rPr>
              <a:t> Laat de spelers bij B- de posities perfect invullen. Wanneer een medespeler uit positie loopt, moeten de anderen weten hoe deze mee in te nemen. Leer ze ook wanneer ze </a:t>
            </a:r>
            <a:r>
              <a:rPr lang="nl-BE" sz="2400" b="1" dirty="0">
                <a:solidFill>
                  <a:srgbClr val="212529"/>
                </a:solidFill>
                <a:effectLst/>
                <a:latin typeface="Nunito"/>
                <a:ea typeface="Times New Roman" panose="02020603050405020304" pitchFamily="18" charset="0"/>
                <a:cs typeface="Segoe UI" panose="020B0502040204020203" pitchFamily="34" charset="0"/>
              </a:rPr>
              <a:t>wijkend of afremmend</a:t>
            </a:r>
            <a:r>
              <a:rPr lang="nl-BE" sz="2400" dirty="0">
                <a:solidFill>
                  <a:srgbClr val="212529"/>
                </a:solidFill>
                <a:effectLst/>
                <a:latin typeface="Nunito"/>
                <a:ea typeface="Times New Roman" panose="02020603050405020304" pitchFamily="18" charset="0"/>
                <a:cs typeface="Segoe UI" panose="020B0502040204020203" pitchFamily="34" charset="0"/>
              </a:rPr>
              <a:t> de tegenstrever moeten </a:t>
            </a:r>
            <a:r>
              <a:rPr lang="nl-BE" sz="2400" b="1" dirty="0">
                <a:solidFill>
                  <a:srgbClr val="212529"/>
                </a:solidFill>
                <a:effectLst/>
                <a:latin typeface="Nunito"/>
                <a:ea typeface="Times New Roman" panose="02020603050405020304" pitchFamily="18" charset="0"/>
                <a:cs typeface="Segoe UI" panose="020B0502040204020203" pitchFamily="34" charset="0"/>
              </a:rPr>
              <a:t>intimideren</a:t>
            </a:r>
            <a:r>
              <a:rPr lang="nl-BE" sz="2400" dirty="0">
                <a:solidFill>
                  <a:srgbClr val="212529"/>
                </a:solidFill>
                <a:effectLst/>
                <a:latin typeface="Nunito"/>
                <a:ea typeface="Times New Roman" panose="02020603050405020304" pitchFamily="18" charset="0"/>
                <a:cs typeface="Segoe UI" panose="020B0502040204020203" pitchFamily="34" charset="0"/>
              </a:rPr>
              <a:t>.</a:t>
            </a:r>
            <a:endParaRPr lang="nl-BE" sz="2400" dirty="0">
              <a:effectLst/>
              <a:latin typeface="Calibri" panose="020F0502020204030204" pitchFamily="34" charset="0"/>
              <a:ea typeface="Calibri" panose="020F0502020204030204" pitchFamily="34" charset="0"/>
              <a:cs typeface="Times New Roman" panose="02020603050405020304" pitchFamily="18" charset="0"/>
            </a:endParaRPr>
          </a:p>
          <a:p>
            <a:pPr lvl="0">
              <a:spcAft>
                <a:spcPts val="1800"/>
              </a:spcAft>
            </a:pPr>
            <a:r>
              <a:rPr lang="nl-BE" sz="2400" dirty="0">
                <a:solidFill>
                  <a:srgbClr val="212529"/>
                </a:solidFill>
                <a:effectLst/>
                <a:latin typeface="Nunito"/>
                <a:ea typeface="Times New Roman" panose="02020603050405020304" pitchFamily="18" charset="0"/>
                <a:cs typeface="Segoe UI" panose="020B0502040204020203" pitchFamily="34" charset="0"/>
              </a:rPr>
              <a:t>5. </a:t>
            </a:r>
            <a:r>
              <a:rPr lang="nl-BE" sz="2400" dirty="0" err="1">
                <a:solidFill>
                  <a:srgbClr val="212529"/>
                </a:solidFill>
                <a:effectLst/>
                <a:latin typeface="Nunito"/>
                <a:ea typeface="Times New Roman" panose="02020603050405020304" pitchFamily="18" charset="0"/>
                <a:cs typeface="Segoe UI" panose="020B0502040204020203" pitchFamily="34" charset="0"/>
              </a:rPr>
              <a:t>Cooling</a:t>
            </a:r>
            <a:r>
              <a:rPr lang="nl-BE" sz="2400" dirty="0">
                <a:solidFill>
                  <a:srgbClr val="212529"/>
                </a:solidFill>
                <a:effectLst/>
                <a:latin typeface="Nunito"/>
                <a:ea typeface="Times New Roman" panose="02020603050405020304" pitchFamily="18" charset="0"/>
                <a:cs typeface="Segoe UI" panose="020B0502040204020203" pitchFamily="34" charset="0"/>
              </a:rPr>
              <a:t> down: </a:t>
            </a:r>
            <a:br>
              <a:rPr lang="nl-BE" sz="2400" dirty="0">
                <a:solidFill>
                  <a:srgbClr val="212529"/>
                </a:solidFill>
                <a:effectLst/>
                <a:latin typeface="Nunito"/>
                <a:ea typeface="Times New Roman" panose="02020603050405020304" pitchFamily="18" charset="0"/>
                <a:cs typeface="Segoe UI" panose="020B0502040204020203" pitchFamily="34" charset="0"/>
              </a:rPr>
            </a:br>
            <a:r>
              <a:rPr lang="nl-BE" sz="2400" dirty="0">
                <a:solidFill>
                  <a:srgbClr val="212529"/>
                </a:solidFill>
                <a:effectLst/>
                <a:latin typeface="Nunito"/>
                <a:ea typeface="Times New Roman" panose="02020603050405020304" pitchFamily="18" charset="0"/>
                <a:cs typeface="Segoe UI" panose="020B0502040204020203" pitchFamily="34" charset="0"/>
              </a:rPr>
              <a:t>Laat spelers niet alleen je materiaal opruimen maar prikkel hen met een uitdaging. Bv kan jij de bal van de kegel trappen</a:t>
            </a:r>
            <a:r>
              <a:rPr lang="nl-BE" sz="2800" dirty="0">
                <a:solidFill>
                  <a:srgbClr val="212529"/>
                </a:solidFill>
                <a:effectLst/>
                <a:latin typeface="Nunito"/>
                <a:ea typeface="Times New Roman" panose="02020603050405020304" pitchFamily="18" charset="0"/>
                <a:cs typeface="Segoe UI" panose="020B0502040204020203" pitchFamily="34" charset="0"/>
              </a:rPr>
              <a:t>? …</a:t>
            </a:r>
            <a:endParaRPr lang="nl-BE" sz="28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p:cNvSpPr/>
          <p:nvPr/>
        </p:nvSpPr>
        <p:spPr>
          <a:xfrm>
            <a:off x="1851102" y="307956"/>
            <a:ext cx="8162693" cy="525988"/>
          </a:xfrm>
          <a:prstGeom prst="rect">
            <a:avLst/>
          </a:prstGeom>
          <a:solidFill>
            <a:srgbClr val="7030A0"/>
          </a:solidFill>
          <a:ln/>
        </p:spPr>
        <p:style>
          <a:lnRef idx="0">
            <a:schemeClr val="accent4"/>
          </a:lnRef>
          <a:fillRef idx="3">
            <a:schemeClr val="accent4"/>
          </a:fillRef>
          <a:effectRef idx="3">
            <a:schemeClr val="accent4"/>
          </a:effectRef>
          <a:fontRef idx="minor">
            <a:schemeClr val="lt1"/>
          </a:fontRef>
        </p:style>
        <p:txBody>
          <a:bodyPr rtlCol="0" anchor="ctr"/>
          <a:lstStyle/>
          <a:p>
            <a:pPr marL="457200">
              <a:spcAft>
                <a:spcPts val="500"/>
              </a:spcAft>
            </a:pPr>
            <a:r>
              <a:rPr lang="nl-BE" sz="3200" b="1">
                <a:solidFill>
                  <a:schemeClr val="bg1"/>
                </a:solidFill>
                <a:effectLst/>
                <a:latin typeface="Roboto"/>
                <a:ea typeface="Times New Roman" panose="02020603050405020304" pitchFamily="18" charset="0"/>
                <a:cs typeface="Arial" panose="020B0604020202020204" pitchFamily="34" charset="0"/>
              </a:rPr>
              <a:t>U10 - U11 - U12 (pre-formatie)</a:t>
            </a:r>
            <a:endParaRPr lang="nl-BE"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Afbeelding 4">
            <a:extLst>
              <a:ext uri="{FF2B5EF4-FFF2-40B4-BE49-F238E27FC236}">
                <a16:creationId xmlns:a16="http://schemas.microsoft.com/office/drawing/2014/main" id="{2594BA48-CB84-CE46-90A0-9ABD0B979038}"/>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78059" y="12270"/>
            <a:ext cx="936000" cy="1117360"/>
          </a:xfrm>
          <a:prstGeom prst="rect">
            <a:avLst/>
          </a:prstGeom>
          <a:noFill/>
        </p:spPr>
      </p:pic>
      <p:pic>
        <p:nvPicPr>
          <p:cNvPr id="6" name="Afbeelding 5">
            <a:extLst>
              <a:ext uri="{FF2B5EF4-FFF2-40B4-BE49-F238E27FC236}">
                <a16:creationId xmlns:a16="http://schemas.microsoft.com/office/drawing/2014/main" id="{2BB1EC95-621B-D44B-8F24-30C74C6C6055}"/>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114049" y="12270"/>
            <a:ext cx="936000" cy="1117360"/>
          </a:xfrm>
          <a:prstGeom prst="rect">
            <a:avLst/>
          </a:prstGeom>
          <a:noFill/>
        </p:spPr>
      </p:pic>
    </p:spTree>
    <p:extLst>
      <p:ext uri="{BB962C8B-B14F-4D97-AF65-F5344CB8AC3E}">
        <p14:creationId xmlns:p14="http://schemas.microsoft.com/office/powerpoint/2010/main" val="19474584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965981" y="307956"/>
            <a:ext cx="8207297" cy="525988"/>
          </a:xfrm>
          <a:prstGeom prst="rect">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a:spcAft>
                <a:spcPts val="500"/>
              </a:spcAft>
            </a:pPr>
            <a:r>
              <a:rPr lang="nl-BE" sz="3200" b="1" dirty="0">
                <a:solidFill>
                  <a:schemeClr val="bg1"/>
                </a:solidFill>
                <a:effectLst/>
                <a:latin typeface="Roboto"/>
                <a:ea typeface="Times New Roman" panose="02020603050405020304" pitchFamily="18" charset="0"/>
                <a:cs typeface="Arial" panose="020B0604020202020204" pitchFamily="34" charset="0"/>
              </a:rPr>
              <a:t>U13 - U15 (formatie)</a:t>
            </a:r>
            <a:endParaRPr lang="nl-BE"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p:cNvSpPr txBox="1"/>
          <p:nvPr/>
        </p:nvSpPr>
        <p:spPr>
          <a:xfrm>
            <a:off x="1918010" y="1341503"/>
            <a:ext cx="8207297" cy="3046988"/>
          </a:xfrm>
          <a:prstGeom prst="rect">
            <a:avLst/>
          </a:prstGeom>
          <a:noFill/>
        </p:spPr>
        <p:txBody>
          <a:bodyPr wrap="square" rtlCol="0">
            <a:spAutoFit/>
          </a:bodyPr>
          <a:lstStyle/>
          <a:p>
            <a:pPr marL="342900" lvl="0" indent="-342900">
              <a:spcAft>
                <a:spcPts val="1800"/>
              </a:spcAft>
              <a:buFont typeface="+mj-lt"/>
              <a:buAutoNum type="arabicPeriod"/>
            </a:pPr>
            <a:r>
              <a:rPr lang="nl-BE" sz="2400" dirty="0">
                <a:solidFill>
                  <a:srgbClr val="212529"/>
                </a:solidFill>
                <a:effectLst/>
                <a:latin typeface="Nunito"/>
                <a:ea typeface="Times New Roman" panose="02020603050405020304" pitchFamily="18" charset="0"/>
                <a:cs typeface="Segoe UI" panose="020B0502040204020203" pitchFamily="34" charset="0"/>
              </a:rPr>
              <a:t>Activatie: </a:t>
            </a:r>
            <a:br>
              <a:rPr lang="nl-BE" sz="2400" dirty="0">
                <a:solidFill>
                  <a:srgbClr val="212529"/>
                </a:solidFill>
                <a:effectLst/>
                <a:latin typeface="Nunito"/>
                <a:ea typeface="Times New Roman" panose="02020603050405020304" pitchFamily="18" charset="0"/>
                <a:cs typeface="Segoe UI" panose="020B0502040204020203" pitchFamily="34" charset="0"/>
              </a:rPr>
            </a:br>
            <a:r>
              <a:rPr lang="nl-BE" sz="2400" b="1" dirty="0">
                <a:solidFill>
                  <a:srgbClr val="212529"/>
                </a:solidFill>
                <a:effectLst/>
                <a:latin typeface="Nunito"/>
                <a:ea typeface="Times New Roman" panose="02020603050405020304" pitchFamily="18" charset="0"/>
                <a:cs typeface="Segoe UI" panose="020B0502040204020203" pitchFamily="34" charset="0"/>
              </a:rPr>
              <a:t>Coördinatieoefeningen</a:t>
            </a:r>
            <a:r>
              <a:rPr lang="nl-BE" sz="2400" dirty="0">
                <a:solidFill>
                  <a:srgbClr val="212529"/>
                </a:solidFill>
                <a:effectLst/>
                <a:latin typeface="Nunito"/>
                <a:ea typeface="Times New Roman" panose="02020603050405020304" pitchFamily="18" charset="0"/>
                <a:cs typeface="Segoe UI" panose="020B0502040204020203" pitchFamily="34" charset="0"/>
              </a:rPr>
              <a:t> zijn bijna net zo belangrijk als technische vaardigheden. Leer je spelers hun </a:t>
            </a:r>
            <a:r>
              <a:rPr lang="nl-BE" sz="2400" b="1" dirty="0">
                <a:solidFill>
                  <a:srgbClr val="212529"/>
                </a:solidFill>
                <a:effectLst/>
                <a:latin typeface="Nunito"/>
                <a:ea typeface="Times New Roman" panose="02020603050405020304" pitchFamily="18" charset="0"/>
                <a:cs typeface="Segoe UI" panose="020B0502040204020203" pitchFamily="34" charset="0"/>
              </a:rPr>
              <a:t>lichaam te beheersen. </a:t>
            </a:r>
            <a:r>
              <a:rPr lang="nl-BE" sz="2400" dirty="0">
                <a:solidFill>
                  <a:srgbClr val="212529"/>
                </a:solidFill>
                <a:effectLst/>
                <a:latin typeface="Nunito"/>
                <a:ea typeface="Times New Roman" panose="02020603050405020304" pitchFamily="18" charset="0"/>
                <a:cs typeface="Segoe UI" panose="020B0502040204020203" pitchFamily="34" charset="0"/>
              </a:rPr>
              <a:t>Leer hen hun lichaam te gebruiken om in de juiste positie te houden wanneer ze een balaanname doen. Hierdoor is hun volgende stap sneller uit te voeren. Vergeet ook niet dat er tal van spelers </a:t>
            </a:r>
            <a:r>
              <a:rPr lang="nl-BE" sz="2400" b="1" dirty="0">
                <a:solidFill>
                  <a:srgbClr val="212529"/>
                </a:solidFill>
                <a:effectLst/>
                <a:latin typeface="Nunito"/>
                <a:ea typeface="Times New Roman" panose="02020603050405020304" pitchFamily="18" charset="0"/>
                <a:cs typeface="Segoe UI" panose="020B0502040204020203" pitchFamily="34" charset="0"/>
              </a:rPr>
              <a:t>technisch</a:t>
            </a:r>
            <a:r>
              <a:rPr lang="nl-BE" sz="2400" dirty="0">
                <a:solidFill>
                  <a:srgbClr val="212529"/>
                </a:solidFill>
                <a:effectLst/>
                <a:latin typeface="Nunito"/>
                <a:ea typeface="Times New Roman" panose="02020603050405020304" pitchFamily="18" charset="0"/>
                <a:cs typeface="Segoe UI" panose="020B0502040204020203" pitchFamily="34" charset="0"/>
              </a:rPr>
              <a:t> niet goed </a:t>
            </a:r>
            <a:r>
              <a:rPr lang="nl-BE" sz="2400" b="1" dirty="0">
                <a:solidFill>
                  <a:srgbClr val="212529"/>
                </a:solidFill>
                <a:effectLst/>
                <a:latin typeface="Nunito"/>
                <a:ea typeface="Times New Roman" panose="02020603050405020304" pitchFamily="18" charset="0"/>
                <a:cs typeface="Segoe UI" panose="020B0502040204020203" pitchFamily="34" charset="0"/>
              </a:rPr>
              <a:t>lopen</a:t>
            </a:r>
            <a:r>
              <a:rPr lang="nl-BE" sz="2400" dirty="0">
                <a:solidFill>
                  <a:srgbClr val="212529"/>
                </a:solidFill>
                <a:effectLst/>
                <a:latin typeface="Nunito"/>
                <a:ea typeface="Times New Roman" panose="02020603050405020304" pitchFamily="18" charset="0"/>
                <a:cs typeface="Segoe UI" panose="020B0502040204020203" pitchFamily="34" charset="0"/>
              </a:rPr>
              <a:t>. Integreer dit in je opwarming.</a:t>
            </a:r>
            <a:endParaRPr lang="nl-BE" sz="2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Afbeelding 4">
            <a:extLst>
              <a:ext uri="{FF2B5EF4-FFF2-40B4-BE49-F238E27FC236}">
                <a16:creationId xmlns:a16="http://schemas.microsoft.com/office/drawing/2014/main" id="{16386DDB-63FE-5740-80B9-6E6C23C8DDE7}"/>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89210" y="12270"/>
            <a:ext cx="936000" cy="1117360"/>
          </a:xfrm>
          <a:prstGeom prst="rect">
            <a:avLst/>
          </a:prstGeom>
          <a:noFill/>
        </p:spPr>
      </p:pic>
      <p:pic>
        <p:nvPicPr>
          <p:cNvPr id="6" name="Afbeelding 5">
            <a:extLst>
              <a:ext uri="{FF2B5EF4-FFF2-40B4-BE49-F238E27FC236}">
                <a16:creationId xmlns:a16="http://schemas.microsoft.com/office/drawing/2014/main" id="{50F2BF0A-D6EE-154E-8E82-4AD96F2CF3D5}"/>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114049" y="97762"/>
            <a:ext cx="936000" cy="1117360"/>
          </a:xfrm>
          <a:prstGeom prst="rect">
            <a:avLst/>
          </a:prstGeom>
          <a:noFill/>
        </p:spPr>
      </p:pic>
    </p:spTree>
    <p:extLst>
      <p:ext uri="{BB962C8B-B14F-4D97-AF65-F5344CB8AC3E}">
        <p14:creationId xmlns:p14="http://schemas.microsoft.com/office/powerpoint/2010/main" val="17321641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085278" y="295686"/>
            <a:ext cx="8017727" cy="5259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a:spcAft>
                <a:spcPts val="500"/>
              </a:spcAft>
            </a:pPr>
            <a:r>
              <a:rPr lang="nl-BE" sz="3200" b="1" dirty="0">
                <a:solidFill>
                  <a:schemeClr val="bg1"/>
                </a:solidFill>
                <a:effectLst/>
                <a:latin typeface="Roboto"/>
                <a:ea typeface="Times New Roman" panose="02020603050405020304" pitchFamily="18" charset="0"/>
                <a:cs typeface="Arial" panose="020B0604020202020204" pitchFamily="34" charset="0"/>
              </a:rPr>
              <a:t>U13 - U15 (formatie)</a:t>
            </a:r>
            <a:endParaRPr lang="nl-BE"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Afbeelding 5">
            <a:extLst>
              <a:ext uri="{FF2B5EF4-FFF2-40B4-BE49-F238E27FC236}">
                <a16:creationId xmlns:a16="http://schemas.microsoft.com/office/drawing/2014/main" id="{2C9E0BBE-2CE7-8C41-8350-434BC0DEC072}"/>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00362" y="0"/>
            <a:ext cx="936000" cy="1117360"/>
          </a:xfrm>
          <a:prstGeom prst="rect">
            <a:avLst/>
          </a:prstGeom>
          <a:noFill/>
        </p:spPr>
      </p:pic>
      <p:pic>
        <p:nvPicPr>
          <p:cNvPr id="8" name="Afbeelding 7">
            <a:extLst>
              <a:ext uri="{FF2B5EF4-FFF2-40B4-BE49-F238E27FC236}">
                <a16:creationId xmlns:a16="http://schemas.microsoft.com/office/drawing/2014/main" id="{24F6DF94-F2DA-EB40-BE07-3ECCD3F78675}"/>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158655" y="0"/>
            <a:ext cx="936000" cy="1117360"/>
          </a:xfrm>
          <a:prstGeom prst="rect">
            <a:avLst/>
          </a:prstGeom>
          <a:noFill/>
        </p:spPr>
      </p:pic>
      <p:sp>
        <p:nvSpPr>
          <p:cNvPr id="9" name="Tekstvak 8">
            <a:extLst>
              <a:ext uri="{FF2B5EF4-FFF2-40B4-BE49-F238E27FC236}">
                <a16:creationId xmlns:a16="http://schemas.microsoft.com/office/drawing/2014/main" id="{CAF7B139-7A8C-4F7F-A9A0-5853F52D6706}"/>
              </a:ext>
            </a:extLst>
          </p:cNvPr>
          <p:cNvSpPr txBox="1"/>
          <p:nvPr/>
        </p:nvSpPr>
        <p:spPr>
          <a:xfrm>
            <a:off x="2085278" y="1279382"/>
            <a:ext cx="8017727" cy="4385816"/>
          </a:xfrm>
          <a:prstGeom prst="rect">
            <a:avLst/>
          </a:prstGeom>
          <a:noFill/>
        </p:spPr>
        <p:txBody>
          <a:bodyPr wrap="square">
            <a:spAutoFit/>
          </a:bodyPr>
          <a:lstStyle/>
          <a:p>
            <a:pPr lvl="0">
              <a:spcAft>
                <a:spcPts val="1800"/>
              </a:spcAft>
            </a:pPr>
            <a:r>
              <a:rPr lang="nl-BE" sz="2400" dirty="0">
                <a:solidFill>
                  <a:srgbClr val="212529"/>
                </a:solidFill>
                <a:effectLst/>
                <a:latin typeface="Nunito"/>
                <a:ea typeface="Times New Roman" panose="02020603050405020304" pitchFamily="18" charset="0"/>
                <a:cs typeface="Segoe UI" panose="020B0502040204020203" pitchFamily="34" charset="0"/>
              </a:rPr>
              <a:t>2.Positiespel: </a:t>
            </a:r>
          </a:p>
          <a:p>
            <a:pPr lvl="0">
              <a:spcAft>
                <a:spcPts val="1800"/>
              </a:spcAft>
            </a:pPr>
            <a:br>
              <a:rPr lang="nl-BE" sz="2400" dirty="0">
                <a:solidFill>
                  <a:srgbClr val="212529"/>
                </a:solidFill>
                <a:effectLst/>
                <a:latin typeface="Nunito"/>
                <a:ea typeface="Times New Roman" panose="02020603050405020304" pitchFamily="18" charset="0"/>
                <a:cs typeface="Segoe UI" panose="020B0502040204020203" pitchFamily="34" charset="0"/>
              </a:rPr>
            </a:br>
            <a:r>
              <a:rPr lang="nl-BE" sz="2400" dirty="0">
                <a:solidFill>
                  <a:srgbClr val="212529"/>
                </a:solidFill>
                <a:effectLst/>
                <a:latin typeface="Nunito"/>
                <a:ea typeface="Times New Roman" panose="02020603050405020304" pitchFamily="18" charset="0"/>
                <a:cs typeface="Segoe UI" panose="020B0502040204020203" pitchFamily="34" charset="0"/>
              </a:rPr>
              <a:t>Het vrijlopen zonder bal is niet altijd even makkelijk voor onze spelers. Wanneer een speler niet vrijloopt, leidt dit vaak tot balverlies daar de speler met bal niet goed weet waarheen hij moet spelen. Leer je team aan dat er zich </a:t>
            </a:r>
            <a:r>
              <a:rPr lang="nl-BE" sz="2400" b="1" dirty="0">
                <a:solidFill>
                  <a:srgbClr val="212529"/>
                </a:solidFill>
                <a:effectLst/>
                <a:latin typeface="Nunito"/>
                <a:ea typeface="Times New Roman" panose="02020603050405020304" pitchFamily="18" charset="0"/>
                <a:cs typeface="Segoe UI" panose="020B0502040204020203" pitchFamily="34" charset="0"/>
              </a:rPr>
              <a:t>een derde speler</a:t>
            </a:r>
            <a:r>
              <a:rPr lang="nl-BE" sz="2400" dirty="0">
                <a:solidFill>
                  <a:srgbClr val="212529"/>
                </a:solidFill>
                <a:effectLst/>
                <a:latin typeface="Nunito"/>
                <a:ea typeface="Times New Roman" panose="02020603050405020304" pitchFamily="18" charset="0"/>
                <a:cs typeface="Segoe UI" panose="020B0502040204020203" pitchFamily="34" charset="0"/>
              </a:rPr>
              <a:t> aanbiedt. Hierdoor gaat de speler in balbezit twee mogelijkheden hebben.  Leer je team tevens </a:t>
            </a:r>
            <a:r>
              <a:rPr lang="nl-BE" sz="2400" b="1" dirty="0">
                <a:solidFill>
                  <a:srgbClr val="212529"/>
                </a:solidFill>
                <a:effectLst/>
                <a:latin typeface="Nunito"/>
                <a:ea typeface="Times New Roman" panose="02020603050405020304" pitchFamily="18" charset="0"/>
                <a:cs typeface="Segoe UI" panose="020B0502040204020203" pitchFamily="34" charset="0"/>
              </a:rPr>
              <a:t>bij balverlies</a:t>
            </a:r>
            <a:r>
              <a:rPr lang="nl-BE" sz="2400" dirty="0">
                <a:solidFill>
                  <a:srgbClr val="212529"/>
                </a:solidFill>
                <a:effectLst/>
                <a:latin typeface="Nunito"/>
                <a:ea typeface="Times New Roman" panose="02020603050405020304" pitchFamily="18" charset="0"/>
                <a:cs typeface="Segoe UI" panose="020B0502040204020203" pitchFamily="34" charset="0"/>
              </a:rPr>
              <a:t> aan tot </a:t>
            </a:r>
            <a:r>
              <a:rPr lang="nl-BE" sz="2400" b="1" dirty="0">
                <a:solidFill>
                  <a:srgbClr val="212529"/>
                </a:solidFill>
                <a:effectLst/>
                <a:latin typeface="Nunito"/>
                <a:ea typeface="Times New Roman" panose="02020603050405020304" pitchFamily="18" charset="0"/>
                <a:cs typeface="Segoe UI" panose="020B0502040204020203" pitchFamily="34" charset="0"/>
              </a:rPr>
              <a:t>waar de tegenstrever mag komen</a:t>
            </a:r>
            <a:r>
              <a:rPr lang="nl-BE" sz="2400" dirty="0">
                <a:solidFill>
                  <a:srgbClr val="212529"/>
                </a:solidFill>
                <a:effectLst/>
                <a:latin typeface="Nunito"/>
                <a:ea typeface="Times New Roman" panose="02020603050405020304" pitchFamily="18" charset="0"/>
                <a:cs typeface="Segoe UI" panose="020B0502040204020203" pitchFamily="34" charset="0"/>
              </a:rPr>
              <a:t>. Vermijdt dat ze in de eigen 16 komen alsook dat ze trappen op doel. Hierdoor verijdel je een doelpoging.</a:t>
            </a:r>
            <a:endParaRPr lang="nl-BE"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731417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22614" y="884840"/>
            <a:ext cx="9241972" cy="5909310"/>
          </a:xfrm>
          <a:prstGeom prst="rect">
            <a:avLst/>
          </a:prstGeom>
          <a:noFill/>
        </p:spPr>
        <p:txBody>
          <a:bodyPr wrap="square" rtlCol="0">
            <a:spAutoFit/>
          </a:bodyPr>
          <a:lstStyle/>
          <a:p>
            <a:pPr lvl="0">
              <a:spcAft>
                <a:spcPts val="1800"/>
              </a:spcAft>
            </a:pPr>
            <a:r>
              <a:rPr lang="nl-BE" sz="2400" dirty="0">
                <a:solidFill>
                  <a:srgbClr val="212529"/>
                </a:solidFill>
                <a:effectLst/>
                <a:latin typeface="Nunito"/>
                <a:ea typeface="Times New Roman" panose="02020603050405020304" pitchFamily="18" charset="0"/>
                <a:cs typeface="Segoe UI" panose="020B0502040204020203" pitchFamily="34" charset="0"/>
              </a:rPr>
              <a:t>3.Techniek: </a:t>
            </a:r>
            <a:br>
              <a:rPr lang="nl-BE" sz="2400" dirty="0">
                <a:solidFill>
                  <a:srgbClr val="212529"/>
                </a:solidFill>
                <a:effectLst/>
                <a:latin typeface="Nunito"/>
                <a:ea typeface="Times New Roman" panose="02020603050405020304" pitchFamily="18" charset="0"/>
                <a:cs typeface="Segoe UI" panose="020B0502040204020203" pitchFamily="34" charset="0"/>
              </a:rPr>
            </a:br>
            <a:r>
              <a:rPr lang="nl-BE" sz="2400" b="1" dirty="0">
                <a:solidFill>
                  <a:srgbClr val="212529"/>
                </a:solidFill>
                <a:effectLst/>
                <a:latin typeface="Nunito"/>
                <a:ea typeface="Times New Roman" panose="02020603050405020304" pitchFamily="18" charset="0"/>
                <a:cs typeface="Segoe UI" panose="020B0502040204020203" pitchFamily="34" charset="0"/>
              </a:rPr>
              <a:t>Je lichaam gebruiken</a:t>
            </a:r>
            <a:r>
              <a:rPr lang="nl-BE" sz="2400" dirty="0">
                <a:solidFill>
                  <a:srgbClr val="212529"/>
                </a:solidFill>
                <a:effectLst/>
                <a:latin typeface="Nunito"/>
                <a:ea typeface="Times New Roman" panose="02020603050405020304" pitchFamily="18" charset="0"/>
                <a:cs typeface="Segoe UI" panose="020B0502040204020203" pitchFamily="34" charset="0"/>
              </a:rPr>
              <a:t> om een bal te beschermen kennen we allemaal. Maar gebruiken we dit correct? Leer je spelers aan dat ze niet enkel een bal maar ook een tegenstrever kunnen afhouden. Dit door bijvoorbeeld hun looplijn af te snijden. Leer ze ook hoe ze hun </a:t>
            </a:r>
            <a:r>
              <a:rPr lang="nl-BE" sz="2400" b="1" dirty="0">
                <a:solidFill>
                  <a:srgbClr val="212529"/>
                </a:solidFill>
                <a:effectLst/>
                <a:latin typeface="Nunito"/>
                <a:ea typeface="Times New Roman" panose="02020603050405020304" pitchFamily="18" charset="0"/>
                <a:cs typeface="Segoe UI" panose="020B0502040204020203" pitchFamily="34" charset="0"/>
              </a:rPr>
              <a:t>armen</a:t>
            </a:r>
            <a:r>
              <a:rPr lang="nl-BE" sz="2400" dirty="0">
                <a:solidFill>
                  <a:srgbClr val="212529"/>
                </a:solidFill>
                <a:effectLst/>
                <a:latin typeface="Nunito"/>
                <a:ea typeface="Times New Roman" panose="02020603050405020304" pitchFamily="18" charset="0"/>
                <a:cs typeface="Segoe UI" panose="020B0502040204020203" pitchFamily="34" charset="0"/>
              </a:rPr>
              <a:t> mogen </a:t>
            </a:r>
            <a:r>
              <a:rPr lang="nl-BE" sz="2400" b="1" dirty="0">
                <a:solidFill>
                  <a:srgbClr val="212529"/>
                </a:solidFill>
                <a:effectLst/>
                <a:latin typeface="Nunito"/>
                <a:ea typeface="Times New Roman" panose="02020603050405020304" pitchFamily="18" charset="0"/>
                <a:cs typeface="Segoe UI" panose="020B0502040204020203" pitchFamily="34" charset="0"/>
              </a:rPr>
              <a:t>gebruiken</a:t>
            </a:r>
            <a:r>
              <a:rPr lang="nl-BE" sz="2400" dirty="0">
                <a:solidFill>
                  <a:srgbClr val="212529"/>
                </a:solidFill>
                <a:effectLst/>
                <a:latin typeface="Nunito"/>
                <a:ea typeface="Times New Roman" panose="02020603050405020304" pitchFamily="18" charset="0"/>
                <a:cs typeface="Segoe UI" panose="020B0502040204020203" pitchFamily="34" charset="0"/>
              </a:rPr>
              <a:t>. Je kan je breed maken zonder een fout te begaan.</a:t>
            </a:r>
            <a:endParaRPr lang="nl-BE" sz="2400" dirty="0">
              <a:effectLst/>
              <a:latin typeface="Calibri" panose="020F0502020204030204" pitchFamily="34" charset="0"/>
              <a:ea typeface="Calibri" panose="020F0502020204030204" pitchFamily="34" charset="0"/>
              <a:cs typeface="Times New Roman" panose="02020603050405020304" pitchFamily="18" charset="0"/>
            </a:endParaRPr>
          </a:p>
          <a:p>
            <a:pPr lvl="0">
              <a:spcAft>
                <a:spcPts val="1800"/>
              </a:spcAft>
            </a:pPr>
            <a:r>
              <a:rPr lang="nl-BE" sz="2400" dirty="0">
                <a:solidFill>
                  <a:srgbClr val="212529"/>
                </a:solidFill>
                <a:effectLst/>
                <a:latin typeface="Nunito"/>
                <a:ea typeface="Times New Roman" panose="02020603050405020304" pitchFamily="18" charset="0"/>
                <a:cs typeface="Segoe UI" panose="020B0502040204020203" pitchFamily="34" charset="0"/>
              </a:rPr>
              <a:t>4.Spelsituatie: </a:t>
            </a:r>
            <a:br>
              <a:rPr lang="nl-BE" sz="2400" dirty="0">
                <a:solidFill>
                  <a:srgbClr val="212529"/>
                </a:solidFill>
                <a:effectLst/>
                <a:latin typeface="Nunito"/>
                <a:ea typeface="Times New Roman" panose="02020603050405020304" pitchFamily="18" charset="0"/>
                <a:cs typeface="Segoe UI" panose="020B0502040204020203" pitchFamily="34" charset="0"/>
              </a:rPr>
            </a:br>
            <a:r>
              <a:rPr lang="nl-BE" sz="2400" dirty="0">
                <a:solidFill>
                  <a:srgbClr val="212529"/>
                </a:solidFill>
                <a:effectLst/>
                <a:latin typeface="Nunito"/>
                <a:ea typeface="Times New Roman" panose="02020603050405020304" pitchFamily="18" charset="0"/>
                <a:cs typeface="Segoe UI" panose="020B0502040204020203" pitchFamily="34" charset="0"/>
              </a:rPr>
              <a:t>Heel veel spelers, op alle niveaus, kijken graag wat hun bal doet wanneer ze een pass gegeven hebben.  Je spelers moeten zeker zijn dat hun pass aankomt en kunnen bij deze handeling </a:t>
            </a:r>
            <a:r>
              <a:rPr lang="nl-BE" sz="2400" b="1" dirty="0">
                <a:solidFill>
                  <a:srgbClr val="212529"/>
                </a:solidFill>
                <a:effectLst/>
                <a:latin typeface="Nunito"/>
                <a:ea typeface="Times New Roman" panose="02020603050405020304" pitchFamily="18" charset="0"/>
                <a:cs typeface="Segoe UI" panose="020B0502040204020203" pitchFamily="34" charset="0"/>
              </a:rPr>
              <a:t>meteen vertrekken</a:t>
            </a:r>
            <a:r>
              <a:rPr lang="nl-BE" sz="2400" dirty="0">
                <a:solidFill>
                  <a:srgbClr val="212529"/>
                </a:solidFill>
                <a:effectLst/>
                <a:latin typeface="Nunito"/>
                <a:ea typeface="Times New Roman" panose="02020603050405020304" pitchFamily="18" charset="0"/>
                <a:cs typeface="Segoe UI" panose="020B0502040204020203" pitchFamily="34" charset="0"/>
              </a:rPr>
              <a:t>. Weer tienden van seconden dat ze winnen. Bij een goede </a:t>
            </a:r>
            <a:r>
              <a:rPr lang="nl-BE" sz="2400" b="1" dirty="0">
                <a:solidFill>
                  <a:srgbClr val="212529"/>
                </a:solidFill>
                <a:effectLst/>
                <a:latin typeface="Nunito"/>
                <a:ea typeface="Times New Roman" panose="02020603050405020304" pitchFamily="18" charset="0"/>
                <a:cs typeface="Segoe UI" panose="020B0502040204020203" pitchFamily="34" charset="0"/>
              </a:rPr>
              <a:t>infiltratie</a:t>
            </a:r>
            <a:r>
              <a:rPr lang="nl-BE" sz="2400" dirty="0">
                <a:solidFill>
                  <a:srgbClr val="212529"/>
                </a:solidFill>
                <a:effectLst/>
                <a:latin typeface="Nunito"/>
                <a:ea typeface="Times New Roman" panose="02020603050405020304" pitchFamily="18" charset="0"/>
                <a:cs typeface="Segoe UI" panose="020B0502040204020203" pitchFamily="34" charset="0"/>
              </a:rPr>
              <a:t> kan je ploeg </a:t>
            </a:r>
            <a:r>
              <a:rPr lang="nl-BE" sz="2400" b="1" dirty="0">
                <a:solidFill>
                  <a:srgbClr val="212529"/>
                </a:solidFill>
                <a:effectLst/>
                <a:latin typeface="Nunito"/>
                <a:ea typeface="Times New Roman" panose="02020603050405020304" pitchFamily="18" charset="0"/>
                <a:cs typeface="Segoe UI" panose="020B0502040204020203" pitchFamily="34" charset="0"/>
              </a:rPr>
              <a:t>snel omschakelen</a:t>
            </a:r>
            <a:r>
              <a:rPr lang="nl-BE" sz="2400" dirty="0">
                <a:solidFill>
                  <a:srgbClr val="212529"/>
                </a:solidFill>
                <a:effectLst/>
                <a:latin typeface="Nunito"/>
                <a:ea typeface="Times New Roman" panose="02020603050405020304" pitchFamily="18" charset="0"/>
                <a:cs typeface="Segoe UI" panose="020B0502040204020203" pitchFamily="34" charset="0"/>
              </a:rPr>
              <a:t>. Deze beginselen kunnen reeds meegegeven worden.</a:t>
            </a:r>
            <a:endParaRPr lang="nl-BE" sz="2400" dirty="0">
              <a:effectLst/>
              <a:latin typeface="Calibri" panose="020F0502020204030204" pitchFamily="34" charset="0"/>
              <a:ea typeface="Calibri" panose="020F0502020204030204" pitchFamily="34" charset="0"/>
              <a:cs typeface="Times New Roman" panose="02020603050405020304" pitchFamily="18" charset="0"/>
            </a:endParaRPr>
          </a:p>
          <a:p>
            <a:pPr marL="3213100" marR="0" lvl="7" indent="0" algn="l" defTabSz="914400" rtl="0" eaLnBrk="1" fontAlgn="auto" latinLnBrk="0" hangingPunct="1">
              <a:lnSpc>
                <a:spcPct val="100000"/>
              </a:lnSpc>
              <a:spcBef>
                <a:spcPts val="0"/>
              </a:spcBef>
              <a:spcAft>
                <a:spcPts val="0"/>
              </a:spcAft>
              <a:buClrTx/>
              <a:buSzTx/>
              <a:buFontTx/>
              <a:buNone/>
              <a:tabLst/>
              <a:defRPr/>
            </a:pPr>
            <a:endParaRPr kumimoji="0" lang="nl-BE" sz="1800" b="0" i="0" u="none" strike="noStrike" kern="1200" cap="none" spc="0" normalizeH="0" baseline="0" noProof="0" dirty="0">
              <a:ln>
                <a:noFill/>
              </a:ln>
              <a:solidFill>
                <a:prstClr val="black"/>
              </a:solidFill>
              <a:effectLst/>
              <a:uLnTx/>
              <a:uFillTx/>
              <a:latin typeface="Calibri Light" pitchFamily="34" charset="0"/>
              <a:ea typeface="+mn-ea"/>
              <a:cs typeface="Century Gothic"/>
            </a:endParaRPr>
          </a:p>
          <a:p>
            <a:pPr marL="12700" marR="0" lvl="0" indent="0" algn="l" defTabSz="914400" rtl="0" eaLnBrk="1" fontAlgn="auto" latinLnBrk="0" hangingPunct="1">
              <a:lnSpc>
                <a:spcPct val="100000"/>
              </a:lnSpc>
              <a:spcBef>
                <a:spcPts val="0"/>
              </a:spcBef>
              <a:spcAft>
                <a:spcPts val="0"/>
              </a:spcAft>
              <a:buClrTx/>
              <a:buSzTx/>
              <a:buFontTx/>
              <a:buNone/>
              <a:tabLst/>
              <a:defRPr/>
            </a:pPr>
            <a:endParaRPr kumimoji="0" lang="nl-BE" sz="1800" b="0" i="0" u="none" strike="noStrike" kern="1200" cap="none" spc="0" normalizeH="0" baseline="0" noProof="0" dirty="0">
              <a:ln>
                <a:noFill/>
              </a:ln>
              <a:solidFill>
                <a:srgbClr val="44546A">
                  <a:lumMod val="75000"/>
                </a:srgbClr>
              </a:solidFill>
              <a:effectLst/>
              <a:uLnTx/>
              <a:uFillTx/>
              <a:latin typeface="Calibri Light" pitchFamily="34" charset="0"/>
              <a:ea typeface="+mn-ea"/>
              <a:cs typeface="Century Gothic"/>
            </a:endParaRPr>
          </a:p>
        </p:txBody>
      </p:sp>
      <p:sp>
        <p:nvSpPr>
          <p:cNvPr id="6" name="Rectangle 5"/>
          <p:cNvSpPr/>
          <p:nvPr/>
        </p:nvSpPr>
        <p:spPr>
          <a:xfrm>
            <a:off x="1919868" y="57460"/>
            <a:ext cx="8352263" cy="5259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a:spcAft>
                <a:spcPts val="500"/>
              </a:spcAft>
            </a:pPr>
            <a:r>
              <a:rPr lang="nl-BE" sz="3200" b="1" dirty="0">
                <a:solidFill>
                  <a:schemeClr val="bg1"/>
                </a:solidFill>
                <a:effectLst/>
                <a:latin typeface="Roboto"/>
                <a:ea typeface="Times New Roman" panose="02020603050405020304" pitchFamily="18" charset="0"/>
                <a:cs typeface="Arial" panose="020B0604020202020204" pitchFamily="34" charset="0"/>
              </a:rPr>
              <a:t>U13 - U15 (formatie)</a:t>
            </a:r>
            <a:endParaRPr lang="nl-BE"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Afbeelding 6">
            <a:extLst>
              <a:ext uri="{FF2B5EF4-FFF2-40B4-BE49-F238E27FC236}">
                <a16:creationId xmlns:a16="http://schemas.microsoft.com/office/drawing/2014/main" id="{716B02A5-6C23-364E-84E4-8022E9CC5B20}"/>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78059" y="2921"/>
            <a:ext cx="936000" cy="1117360"/>
          </a:xfrm>
          <a:prstGeom prst="rect">
            <a:avLst/>
          </a:prstGeom>
          <a:noFill/>
        </p:spPr>
      </p:pic>
      <p:pic>
        <p:nvPicPr>
          <p:cNvPr id="8" name="Afbeelding 7">
            <a:extLst>
              <a:ext uri="{FF2B5EF4-FFF2-40B4-BE49-F238E27FC236}">
                <a16:creationId xmlns:a16="http://schemas.microsoft.com/office/drawing/2014/main" id="{BD8C1ED2-6FBE-634E-911A-16F227579D60}"/>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256000" y="57460"/>
            <a:ext cx="936000" cy="1117360"/>
          </a:xfrm>
          <a:prstGeom prst="rect">
            <a:avLst/>
          </a:prstGeom>
          <a:noFill/>
        </p:spPr>
      </p:pic>
    </p:spTree>
    <p:extLst>
      <p:ext uri="{BB962C8B-B14F-4D97-AF65-F5344CB8AC3E}">
        <p14:creationId xmlns:p14="http://schemas.microsoft.com/office/powerpoint/2010/main" val="28149548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18008" y="1120281"/>
            <a:ext cx="8352263" cy="4524315"/>
          </a:xfrm>
          <a:prstGeom prst="rect">
            <a:avLst/>
          </a:prstGeom>
          <a:noFill/>
        </p:spPr>
        <p:txBody>
          <a:bodyPr wrap="square" rtlCol="0">
            <a:spAutoFit/>
          </a:bodyPr>
          <a:lstStyle/>
          <a:p>
            <a:pPr marL="3213100" marR="0" lvl="7" indent="0" algn="l" defTabSz="914400" rtl="0" eaLnBrk="1" fontAlgn="auto" latinLnBrk="0" hangingPunct="1">
              <a:lnSpc>
                <a:spcPct val="100000"/>
              </a:lnSpc>
              <a:spcBef>
                <a:spcPts val="0"/>
              </a:spcBef>
              <a:spcAft>
                <a:spcPts val="0"/>
              </a:spcAft>
              <a:buClrTx/>
              <a:buSzTx/>
              <a:buFontTx/>
              <a:buNone/>
              <a:tabLst/>
              <a:defRPr/>
            </a:pPr>
            <a:endParaRPr kumimoji="0" lang="nl-BE" sz="1800" b="0" i="0" u="none" strike="noStrike" kern="1200" cap="none" spc="0" normalizeH="0" baseline="0" noProof="0" dirty="0">
              <a:ln>
                <a:noFill/>
              </a:ln>
              <a:solidFill>
                <a:prstClr val="black"/>
              </a:solidFill>
              <a:effectLst/>
              <a:uLnTx/>
              <a:uFillTx/>
              <a:latin typeface="Calibri Light" pitchFamily="34" charset="0"/>
              <a:ea typeface="+mn-ea"/>
              <a:cs typeface="Century Gothic"/>
            </a:endParaRPr>
          </a:p>
          <a:p>
            <a:pPr marL="12700">
              <a:defRPr/>
            </a:pPr>
            <a:r>
              <a:rPr lang="nl-BE" sz="2800" dirty="0">
                <a:solidFill>
                  <a:srgbClr val="212529"/>
                </a:solidFill>
                <a:effectLst/>
                <a:latin typeface="Nunito"/>
                <a:ea typeface="Times New Roman" panose="02020603050405020304" pitchFamily="18" charset="0"/>
                <a:cs typeface="Segoe UI" panose="020B0502040204020203" pitchFamily="34" charset="0"/>
              </a:rPr>
              <a:t>Wedstrijdvorm: </a:t>
            </a:r>
            <a:br>
              <a:rPr lang="nl-BE" sz="2800" dirty="0">
                <a:solidFill>
                  <a:srgbClr val="212529"/>
                </a:solidFill>
                <a:effectLst/>
                <a:latin typeface="Nunito"/>
                <a:ea typeface="Times New Roman" panose="02020603050405020304" pitchFamily="18" charset="0"/>
                <a:cs typeface="Segoe UI" panose="020B0502040204020203" pitchFamily="34" charset="0"/>
              </a:rPr>
            </a:br>
            <a:r>
              <a:rPr lang="nl-BE" sz="2800" dirty="0">
                <a:solidFill>
                  <a:srgbClr val="212529"/>
                </a:solidFill>
                <a:effectLst/>
                <a:latin typeface="Nunito"/>
                <a:ea typeface="Times New Roman" panose="02020603050405020304" pitchFamily="18" charset="0"/>
                <a:cs typeface="Segoe UI" panose="020B0502040204020203" pitchFamily="34" charset="0"/>
              </a:rPr>
              <a:t>Een wedstrijd win je minimaal 1 keer meer te scoren dan je tegenstrever. En je kan niet scoren als je niet op doel trapt. Vaak zien we dat spelers graag met de bal in het doel lopen. Dit is niet nodig. Geef hen mee dat er tal van </a:t>
            </a:r>
            <a:r>
              <a:rPr lang="nl-BE" sz="2800" b="1" dirty="0">
                <a:solidFill>
                  <a:srgbClr val="212529"/>
                </a:solidFill>
                <a:effectLst/>
                <a:latin typeface="Nunito"/>
                <a:ea typeface="Times New Roman" panose="02020603050405020304" pitchFamily="18" charset="0"/>
                <a:cs typeface="Segoe UI" panose="020B0502040204020203" pitchFamily="34" charset="0"/>
              </a:rPr>
              <a:t>invalshoeken</a:t>
            </a:r>
            <a:r>
              <a:rPr lang="nl-BE" sz="2800" dirty="0">
                <a:solidFill>
                  <a:srgbClr val="212529"/>
                </a:solidFill>
                <a:effectLst/>
                <a:latin typeface="Nunito"/>
                <a:ea typeface="Times New Roman" panose="02020603050405020304" pitchFamily="18" charset="0"/>
                <a:cs typeface="Segoe UI" panose="020B0502040204020203" pitchFamily="34" charset="0"/>
              </a:rPr>
              <a:t> zijn om op </a:t>
            </a:r>
            <a:r>
              <a:rPr lang="nl-BE" sz="2800" b="1" dirty="0">
                <a:solidFill>
                  <a:srgbClr val="212529"/>
                </a:solidFill>
                <a:effectLst/>
                <a:latin typeface="Nunito"/>
                <a:ea typeface="Times New Roman" panose="02020603050405020304" pitchFamily="18" charset="0"/>
                <a:cs typeface="Segoe UI" panose="020B0502040204020203" pitchFamily="34" charset="0"/>
              </a:rPr>
              <a:t>doel te trappen</a:t>
            </a:r>
            <a:r>
              <a:rPr lang="nl-BE" sz="2800" dirty="0">
                <a:solidFill>
                  <a:srgbClr val="212529"/>
                </a:solidFill>
                <a:effectLst/>
                <a:latin typeface="Nunito"/>
                <a:ea typeface="Times New Roman" panose="02020603050405020304" pitchFamily="18" charset="0"/>
                <a:cs typeface="Segoe UI" panose="020B0502040204020203" pitchFamily="34" charset="0"/>
              </a:rPr>
              <a:t>. Als tweede item kan je hen aanleren wanneer een ploeg </a:t>
            </a:r>
            <a:r>
              <a:rPr lang="nl-BE" sz="2800" b="1" dirty="0">
                <a:solidFill>
                  <a:srgbClr val="212529"/>
                </a:solidFill>
                <a:effectLst/>
                <a:latin typeface="Nunito"/>
                <a:ea typeface="Times New Roman" panose="02020603050405020304" pitchFamily="18" charset="0"/>
                <a:cs typeface="Segoe UI" panose="020B0502040204020203" pitchFamily="34" charset="0"/>
              </a:rPr>
              <a:t>balbezit</a:t>
            </a:r>
            <a:r>
              <a:rPr lang="nl-BE" sz="2800" dirty="0">
                <a:solidFill>
                  <a:srgbClr val="212529"/>
                </a:solidFill>
                <a:effectLst/>
                <a:latin typeface="Nunito"/>
                <a:ea typeface="Times New Roman" panose="02020603050405020304" pitchFamily="18" charset="0"/>
                <a:cs typeface="Segoe UI" panose="020B0502040204020203" pitchFamily="34" charset="0"/>
              </a:rPr>
              <a:t> moet spelen of wanneer ze </a:t>
            </a:r>
            <a:r>
              <a:rPr lang="nl-BE" sz="2800" b="1" dirty="0">
                <a:solidFill>
                  <a:srgbClr val="212529"/>
                </a:solidFill>
                <a:effectLst/>
                <a:latin typeface="Nunito"/>
                <a:ea typeface="Times New Roman" panose="02020603050405020304" pitchFamily="18" charset="0"/>
                <a:cs typeface="Segoe UI" panose="020B0502040204020203" pitchFamily="34" charset="0"/>
              </a:rPr>
              <a:t>snel</a:t>
            </a:r>
            <a:r>
              <a:rPr lang="nl-BE" sz="2800" dirty="0">
                <a:solidFill>
                  <a:srgbClr val="212529"/>
                </a:solidFill>
                <a:effectLst/>
                <a:latin typeface="Nunito"/>
                <a:ea typeface="Times New Roman" panose="02020603050405020304" pitchFamily="18" charset="0"/>
                <a:cs typeface="Segoe UI" panose="020B0502040204020203" pitchFamily="34" charset="0"/>
              </a:rPr>
              <a:t> mogen </a:t>
            </a:r>
            <a:r>
              <a:rPr lang="nl-BE" sz="2800" b="1" dirty="0">
                <a:solidFill>
                  <a:srgbClr val="212529"/>
                </a:solidFill>
                <a:effectLst/>
                <a:latin typeface="Nunito"/>
                <a:ea typeface="Times New Roman" panose="02020603050405020304" pitchFamily="18" charset="0"/>
                <a:cs typeface="Segoe UI" panose="020B0502040204020203" pitchFamily="34" charset="0"/>
              </a:rPr>
              <a:t>aanvallen</a:t>
            </a:r>
            <a:r>
              <a:rPr lang="nl-BE" sz="2800" dirty="0">
                <a:solidFill>
                  <a:srgbClr val="212529"/>
                </a:solidFill>
                <a:effectLst/>
                <a:latin typeface="Nunito"/>
                <a:ea typeface="Times New Roman" panose="02020603050405020304" pitchFamily="18" charset="0"/>
                <a:cs typeface="Segoe UI" panose="020B0502040204020203" pitchFamily="34" charset="0"/>
              </a:rPr>
              <a:t>. Dit is niet simpel.</a:t>
            </a:r>
            <a:endParaRPr lang="nl-BE" sz="2800" dirty="0">
              <a:effectLst/>
              <a:latin typeface="Calibri" panose="020F0502020204030204" pitchFamily="34" charset="0"/>
              <a:ea typeface="Calibri" panose="020F0502020204030204" pitchFamily="34" charset="0"/>
              <a:cs typeface="Times New Roman" panose="02020603050405020304" pitchFamily="18" charset="0"/>
            </a:endParaRPr>
          </a:p>
          <a:p>
            <a:pPr marL="12700" marR="0" lvl="0" indent="0" algn="l" defTabSz="914400" rtl="0" eaLnBrk="1" fontAlgn="auto" latinLnBrk="0" hangingPunct="1">
              <a:lnSpc>
                <a:spcPct val="100000"/>
              </a:lnSpc>
              <a:spcBef>
                <a:spcPts val="0"/>
              </a:spcBef>
              <a:spcAft>
                <a:spcPts val="0"/>
              </a:spcAft>
              <a:buClrTx/>
              <a:buSzTx/>
              <a:buFontTx/>
              <a:buNone/>
              <a:tabLst/>
              <a:defRPr/>
            </a:pPr>
            <a:endParaRPr kumimoji="0" lang="nl-BE" sz="1800" b="0" i="0" u="none" strike="noStrike" kern="1200" cap="none" spc="0" normalizeH="0" baseline="0" noProof="0" dirty="0">
              <a:ln>
                <a:noFill/>
              </a:ln>
              <a:solidFill>
                <a:srgbClr val="44546A">
                  <a:lumMod val="75000"/>
                </a:srgbClr>
              </a:solidFill>
              <a:effectLst/>
              <a:uLnTx/>
              <a:uFillTx/>
              <a:latin typeface="Calibri Light" pitchFamily="34" charset="0"/>
              <a:ea typeface="+mn-ea"/>
              <a:cs typeface="Century Gothic"/>
            </a:endParaRPr>
          </a:p>
        </p:txBody>
      </p:sp>
      <p:sp>
        <p:nvSpPr>
          <p:cNvPr id="6" name="Rectangle 5"/>
          <p:cNvSpPr/>
          <p:nvPr/>
        </p:nvSpPr>
        <p:spPr>
          <a:xfrm>
            <a:off x="1918009" y="298607"/>
            <a:ext cx="8352263" cy="5259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a:spcAft>
                <a:spcPts val="500"/>
              </a:spcAft>
            </a:pPr>
            <a:r>
              <a:rPr lang="nl-BE" sz="3200" b="1">
                <a:solidFill>
                  <a:schemeClr val="bg1"/>
                </a:solidFill>
                <a:effectLst/>
                <a:latin typeface="Roboto"/>
                <a:ea typeface="Times New Roman" panose="02020603050405020304" pitchFamily="18" charset="0"/>
                <a:cs typeface="Arial" panose="020B0604020202020204" pitchFamily="34" charset="0"/>
              </a:rPr>
              <a:t>U13 - U15 (formatie)</a:t>
            </a:r>
            <a:endParaRPr lang="nl-BE"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Afbeelding 6">
            <a:extLst>
              <a:ext uri="{FF2B5EF4-FFF2-40B4-BE49-F238E27FC236}">
                <a16:creationId xmlns:a16="http://schemas.microsoft.com/office/drawing/2014/main" id="{716B02A5-6C23-364E-84E4-8022E9CC5B20}"/>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78059" y="2921"/>
            <a:ext cx="936000" cy="1117360"/>
          </a:xfrm>
          <a:prstGeom prst="rect">
            <a:avLst/>
          </a:prstGeom>
          <a:noFill/>
        </p:spPr>
      </p:pic>
      <p:pic>
        <p:nvPicPr>
          <p:cNvPr id="8" name="Afbeelding 7">
            <a:extLst>
              <a:ext uri="{FF2B5EF4-FFF2-40B4-BE49-F238E27FC236}">
                <a16:creationId xmlns:a16="http://schemas.microsoft.com/office/drawing/2014/main" id="{BD8C1ED2-6FBE-634E-911A-16F227579D60}"/>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256000" y="57460"/>
            <a:ext cx="936000" cy="1117360"/>
          </a:xfrm>
          <a:prstGeom prst="rect">
            <a:avLst/>
          </a:prstGeom>
          <a:noFill/>
        </p:spPr>
      </p:pic>
    </p:spTree>
    <p:extLst>
      <p:ext uri="{BB962C8B-B14F-4D97-AF65-F5344CB8AC3E}">
        <p14:creationId xmlns:p14="http://schemas.microsoft.com/office/powerpoint/2010/main" val="20711804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959430" y="307956"/>
            <a:ext cx="8263204" cy="5259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3200" dirty="0">
              <a:solidFill>
                <a:schemeClr val="bg1"/>
              </a:solidFill>
            </a:endParaRPr>
          </a:p>
        </p:txBody>
      </p:sp>
      <p:sp>
        <p:nvSpPr>
          <p:cNvPr id="2" name="Rectangle 1"/>
          <p:cNvSpPr/>
          <p:nvPr/>
        </p:nvSpPr>
        <p:spPr>
          <a:xfrm>
            <a:off x="1869706" y="1916833"/>
            <a:ext cx="8352928" cy="646331"/>
          </a:xfrm>
          <a:prstGeom prst="rect">
            <a:avLst/>
          </a:prstGeom>
        </p:spPr>
        <p:txBody>
          <a:bodyPr wrap="square">
            <a:spAutoFit/>
          </a:bodyPr>
          <a:lstStyle/>
          <a:p>
            <a:endParaRPr lang="en-GB" dirty="0"/>
          </a:p>
          <a:p>
            <a:r>
              <a:rPr lang="nl-NL" dirty="0"/>
              <a:t> </a:t>
            </a:r>
            <a:endParaRPr lang="en-GB" dirty="0"/>
          </a:p>
        </p:txBody>
      </p:sp>
      <p:sp>
        <p:nvSpPr>
          <p:cNvPr id="3" name="Rectangle 2"/>
          <p:cNvSpPr/>
          <p:nvPr/>
        </p:nvSpPr>
        <p:spPr>
          <a:xfrm>
            <a:off x="2199581" y="1689775"/>
            <a:ext cx="7704856" cy="369332"/>
          </a:xfrm>
          <a:prstGeom prst="rect">
            <a:avLst/>
          </a:prstGeom>
        </p:spPr>
        <p:txBody>
          <a:bodyPr wrap="square">
            <a:spAutoFit/>
          </a:bodyPr>
          <a:lstStyle/>
          <a:p>
            <a:r>
              <a:rPr lang="nl-NL" dirty="0"/>
              <a:t> </a:t>
            </a:r>
            <a:endParaRPr lang="en-GB" dirty="0"/>
          </a:p>
        </p:txBody>
      </p:sp>
      <p:sp>
        <p:nvSpPr>
          <p:cNvPr id="8" name="Rectangle 7"/>
          <p:cNvSpPr/>
          <p:nvPr/>
        </p:nvSpPr>
        <p:spPr>
          <a:xfrm>
            <a:off x="1959430" y="1332723"/>
            <a:ext cx="8263204" cy="646331"/>
          </a:xfrm>
          <a:prstGeom prst="rect">
            <a:avLst/>
          </a:prstGeom>
        </p:spPr>
        <p:txBody>
          <a:bodyPr wrap="square">
            <a:spAutoFit/>
          </a:bodyPr>
          <a:lstStyle/>
          <a:p>
            <a:pPr marL="285750" indent="-285750">
              <a:buFont typeface="Arial" panose="020B0604020202020204" pitchFamily="34" charset="0"/>
              <a:buChar char="•"/>
            </a:pPr>
            <a:br>
              <a:rPr lang="nl-NL" dirty="0">
                <a:solidFill>
                  <a:srgbClr val="7030A0"/>
                </a:solidFill>
              </a:rPr>
            </a:br>
            <a:endParaRPr lang="en-GB" dirty="0">
              <a:solidFill>
                <a:srgbClr val="7030A0"/>
              </a:solidFill>
            </a:endParaRPr>
          </a:p>
        </p:txBody>
      </p:sp>
      <p:pic>
        <p:nvPicPr>
          <p:cNvPr id="9" name="Afbeelding 8">
            <a:extLst>
              <a:ext uri="{FF2B5EF4-FFF2-40B4-BE49-F238E27FC236}">
                <a16:creationId xmlns:a16="http://schemas.microsoft.com/office/drawing/2014/main" id="{8779508F-F155-6445-B17D-B3EC8845C7A4}"/>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78059" y="12270"/>
            <a:ext cx="936000" cy="1117360"/>
          </a:xfrm>
          <a:prstGeom prst="rect">
            <a:avLst/>
          </a:prstGeom>
          <a:noFill/>
        </p:spPr>
      </p:pic>
      <p:pic>
        <p:nvPicPr>
          <p:cNvPr id="10" name="Afbeelding 9">
            <a:extLst>
              <a:ext uri="{FF2B5EF4-FFF2-40B4-BE49-F238E27FC236}">
                <a16:creationId xmlns:a16="http://schemas.microsoft.com/office/drawing/2014/main" id="{6976D4FA-5E59-0240-A776-296B73D5BC30}"/>
              </a:ext>
            </a:extLst>
          </p:cNvPr>
          <p:cNvPicPr>
            <a:picLocks/>
          </p:cNvPicPr>
          <p:nvPr/>
        </p:nvPicPr>
        <p:blipFill>
          <a:blip r:embed="rId3">
            <a:extLst>
              <a:ext uri="{BEBA8EAE-BF5A-486C-A8C5-ECC9F3942E4B}">
                <a14:imgProps xmlns:a14="http://schemas.microsoft.com/office/drawing/2010/main">
                  <a14:imgLayer>
                    <a14:imgEffect>
                      <a14:saturation sat="114000"/>
                    </a14:imgEffect>
                  </a14:imgLayer>
                </a14:imgProps>
              </a:ext>
            </a:extLst>
          </a:blip>
          <a:stretch>
            <a:fillRect/>
          </a:stretch>
        </p:blipFill>
        <p:spPr>
          <a:xfrm>
            <a:off x="11142299" y="86293"/>
            <a:ext cx="936000" cy="1117360"/>
          </a:xfrm>
          <a:prstGeom prst="rect">
            <a:avLst/>
          </a:prstGeom>
          <a:noFill/>
        </p:spPr>
      </p:pic>
    </p:spTree>
    <p:extLst>
      <p:ext uri="{BB962C8B-B14F-4D97-AF65-F5344CB8AC3E}">
        <p14:creationId xmlns:p14="http://schemas.microsoft.com/office/powerpoint/2010/main" val="11933317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Afbeelding 5">
            <a:extLst>
              <a:ext uri="{FF2B5EF4-FFF2-40B4-BE49-F238E27FC236}">
                <a16:creationId xmlns:a16="http://schemas.microsoft.com/office/drawing/2014/main" id="{56012C13-3AC9-FB45-A83A-DF457EF3EF51}"/>
              </a:ext>
            </a:extLst>
          </p:cNvPr>
          <p:cNvPicPr>
            <a:picLocks/>
          </p:cNvPicPr>
          <p:nvPr/>
        </p:nvPicPr>
        <p:blipFill>
          <a:blip r:embed="rId2">
            <a:extLst>
              <a:ext uri="{BEBA8EAE-BF5A-486C-A8C5-ECC9F3942E4B}">
                <a14:imgProps xmlns:a14="http://schemas.microsoft.com/office/drawing/2010/main">
                  <a14:imgLayer>
                    <a14:imgEffect>
                      <a14:saturation sat="114000"/>
                    </a14:imgEffect>
                  </a14:imgLayer>
                </a14:imgProps>
              </a:ext>
            </a:extLst>
          </a:blip>
          <a:stretch>
            <a:fillRect/>
          </a:stretch>
        </p:blipFill>
        <p:spPr>
          <a:xfrm>
            <a:off x="0" y="0"/>
            <a:ext cx="936000" cy="1117360"/>
          </a:xfrm>
          <a:prstGeom prst="rect">
            <a:avLst/>
          </a:prstGeom>
          <a:noFill/>
        </p:spPr>
      </p:pic>
      <p:pic>
        <p:nvPicPr>
          <p:cNvPr id="8" name="Afbeelding 7">
            <a:extLst>
              <a:ext uri="{FF2B5EF4-FFF2-40B4-BE49-F238E27FC236}">
                <a16:creationId xmlns:a16="http://schemas.microsoft.com/office/drawing/2014/main" id="{04C57A49-0AFB-4E48-BDF0-6DDF557927F5}"/>
              </a:ext>
            </a:extLst>
          </p:cNvPr>
          <p:cNvPicPr>
            <a:picLocks/>
          </p:cNvPicPr>
          <p:nvPr/>
        </p:nvPicPr>
        <p:blipFill>
          <a:blip r:embed="rId2">
            <a:extLst>
              <a:ext uri="{BEBA8EAE-BF5A-486C-A8C5-ECC9F3942E4B}">
                <a14:imgProps xmlns:a14="http://schemas.microsoft.com/office/drawing/2010/main">
                  <a14:imgLayer>
                    <a14:imgEffect>
                      <a14:saturation sat="114000"/>
                    </a14:imgEffect>
                  </a14:imgLayer>
                </a14:imgProps>
              </a:ext>
            </a:extLst>
          </a:blip>
          <a:stretch>
            <a:fillRect/>
          </a:stretch>
        </p:blipFill>
        <p:spPr>
          <a:xfrm>
            <a:off x="11240428" y="0"/>
            <a:ext cx="936000" cy="1117360"/>
          </a:xfrm>
          <a:prstGeom prst="rect">
            <a:avLst/>
          </a:prstGeom>
          <a:noFill/>
        </p:spPr>
      </p:pic>
      <p:pic>
        <p:nvPicPr>
          <p:cNvPr id="10" name="Afbeelding 9">
            <a:extLst>
              <a:ext uri="{FF2B5EF4-FFF2-40B4-BE49-F238E27FC236}">
                <a16:creationId xmlns:a16="http://schemas.microsoft.com/office/drawing/2014/main" id="{5272F561-6814-C744-BCCB-986DE595AF86}"/>
              </a:ext>
            </a:extLst>
          </p:cNvPr>
          <p:cNvPicPr/>
          <p:nvPr/>
        </p:nvPicPr>
        <p:blipFill>
          <a:blip r:embed="rId3">
            <a:extLst>
              <a:ext uri="{28A0092B-C50C-407E-A947-70E740481C1C}">
                <a14:useLocalDpi xmlns:a14="http://schemas.microsoft.com/office/drawing/2010/main" val="0"/>
              </a:ext>
            </a:extLst>
          </a:blip>
          <a:stretch>
            <a:fillRect/>
          </a:stretch>
        </p:blipFill>
        <p:spPr>
          <a:xfrm>
            <a:off x="1938578" y="0"/>
            <a:ext cx="8299269" cy="5513070"/>
          </a:xfrm>
          <a:prstGeom prst="rect">
            <a:avLst/>
          </a:prstGeom>
        </p:spPr>
      </p:pic>
      <p:pic>
        <p:nvPicPr>
          <p:cNvPr id="11" name="Afbeelding 10">
            <a:extLst>
              <a:ext uri="{FF2B5EF4-FFF2-40B4-BE49-F238E27FC236}">
                <a16:creationId xmlns:a16="http://schemas.microsoft.com/office/drawing/2014/main" id="{CA19077A-6974-ED45-B4DC-CE21B8E90CAC}"/>
              </a:ext>
            </a:extLst>
          </p:cNvPr>
          <p:cNvPicPr/>
          <p:nvPr/>
        </p:nvPicPr>
        <p:blipFill>
          <a:blip r:embed="rId4">
            <a:extLst>
              <a:ext uri="{28A0092B-C50C-407E-A947-70E740481C1C}">
                <a14:useLocalDpi xmlns:a14="http://schemas.microsoft.com/office/drawing/2010/main" val="0"/>
              </a:ext>
            </a:extLst>
          </a:blip>
          <a:stretch>
            <a:fillRect/>
          </a:stretch>
        </p:blipFill>
        <p:spPr>
          <a:xfrm>
            <a:off x="2569029" y="5265139"/>
            <a:ext cx="7668818" cy="1535430"/>
          </a:xfrm>
          <a:prstGeom prst="rect">
            <a:avLst/>
          </a:prstGeom>
        </p:spPr>
      </p:pic>
    </p:spTree>
    <p:extLst>
      <p:ext uri="{BB962C8B-B14F-4D97-AF65-F5344CB8AC3E}">
        <p14:creationId xmlns:p14="http://schemas.microsoft.com/office/powerpoint/2010/main" val="957412738"/>
      </p:ext>
    </p:extLst>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2562</TotalTime>
  <Words>3873</Words>
  <Application>Microsoft Office PowerPoint</Application>
  <PresentationFormat>Breedbeeld</PresentationFormat>
  <Paragraphs>307</Paragraphs>
  <Slides>43</Slides>
  <Notes>35</Notes>
  <HiddenSlides>0</HiddenSlides>
  <MMClips>0</MMClips>
  <ScaleCrop>false</ScaleCrop>
  <HeadingPairs>
    <vt:vector size="6" baseType="variant">
      <vt:variant>
        <vt:lpstr>Gebruikte lettertypen</vt:lpstr>
      </vt:variant>
      <vt:variant>
        <vt:i4>7</vt:i4>
      </vt:variant>
      <vt:variant>
        <vt:lpstr>Thema</vt:lpstr>
      </vt:variant>
      <vt:variant>
        <vt:i4>1</vt:i4>
      </vt:variant>
      <vt:variant>
        <vt:lpstr>Diatitels</vt:lpstr>
      </vt:variant>
      <vt:variant>
        <vt:i4>43</vt:i4>
      </vt:variant>
    </vt:vector>
  </HeadingPairs>
  <TitlesOfParts>
    <vt:vector size="51" baseType="lpstr">
      <vt:lpstr>Arial</vt:lpstr>
      <vt:lpstr>Calibri</vt:lpstr>
      <vt:lpstr>Calibri Light</vt:lpstr>
      <vt:lpstr>Nunito</vt:lpstr>
      <vt:lpstr>Roboto</vt:lpstr>
      <vt:lpstr>Symbol</vt:lpstr>
      <vt:lpstr>Wingdings</vt:lpstr>
      <vt:lpstr>Kantoorthema</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Christoph Vandamme</dc:creator>
  <cp:lastModifiedBy>leo callens</cp:lastModifiedBy>
  <cp:revision>164</cp:revision>
  <cp:lastPrinted>2021-01-01T13:32:01Z</cp:lastPrinted>
  <dcterms:created xsi:type="dcterms:W3CDTF">2020-04-03T16:00:50Z</dcterms:created>
  <dcterms:modified xsi:type="dcterms:W3CDTF">2021-03-20T08:38:42Z</dcterms:modified>
</cp:coreProperties>
</file>